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67" r:id="rId4"/>
    <p:sldId id="277" r:id="rId5"/>
    <p:sldId id="276" r:id="rId6"/>
    <p:sldId id="280" r:id="rId7"/>
    <p:sldId id="268" r:id="rId8"/>
    <p:sldId id="269" r:id="rId9"/>
    <p:sldId id="281" r:id="rId10"/>
    <p:sldId id="270" r:id="rId11"/>
    <p:sldId id="273" r:id="rId12"/>
    <p:sldId id="271" r:id="rId13"/>
    <p:sldId id="272" r:id="rId14"/>
    <p:sldId id="282" r:id="rId15"/>
    <p:sldId id="284" r:id="rId16"/>
    <p:sldId id="28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2C950C-BD96-459B-8C94-F6C9A1F2FC6B}" v="50" dt="2026-03-08T20:12:28.7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80740" autoAdjust="0"/>
  </p:normalViewPr>
  <p:slideViewPr>
    <p:cSldViewPr snapToGrid="0">
      <p:cViewPr varScale="1">
        <p:scale>
          <a:sx n="60" d="100"/>
          <a:sy n="60" d="100"/>
        </p:scale>
        <p:origin x="1251" y="26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s Torres" userId="d0083da5-80e0-407a-8e2b-3b7dd858bc0f" providerId="ADAL" clId="{7EEDEFD5-4BCA-4016-BE06-9E58D10BB4F4}"/>
    <pc:docChg chg="undo custSel addSld delSld modSld sldOrd">
      <pc:chgData name="Luis Torres" userId="d0083da5-80e0-407a-8e2b-3b7dd858bc0f" providerId="ADAL" clId="{7EEDEFD5-4BCA-4016-BE06-9E58D10BB4F4}" dt="2026-03-08T20:21:08.031" v="1740" actId="6549"/>
      <pc:docMkLst>
        <pc:docMk/>
      </pc:docMkLst>
      <pc:sldChg chg="modSp mod">
        <pc:chgData name="Luis Torres" userId="d0083da5-80e0-407a-8e2b-3b7dd858bc0f" providerId="ADAL" clId="{7EEDEFD5-4BCA-4016-BE06-9E58D10BB4F4}" dt="2026-03-08T19:41:13.822" v="1055" actId="6549"/>
        <pc:sldMkLst>
          <pc:docMk/>
          <pc:sldMk cId="3365187976" sldId="257"/>
        </pc:sldMkLst>
        <pc:spChg chg="mod">
          <ac:chgData name="Luis Torres" userId="d0083da5-80e0-407a-8e2b-3b7dd858bc0f" providerId="ADAL" clId="{7EEDEFD5-4BCA-4016-BE06-9E58D10BB4F4}" dt="2026-03-08T19:41:13.822" v="1055" actId="6549"/>
          <ac:spMkLst>
            <pc:docMk/>
            <pc:sldMk cId="3365187976" sldId="257"/>
            <ac:spMk id="3" creationId="{41F21F08-1B86-1E9C-CDD6-203547261EE6}"/>
          </ac:spMkLst>
        </pc:spChg>
      </pc:sldChg>
      <pc:sldChg chg="del">
        <pc:chgData name="Luis Torres" userId="d0083da5-80e0-407a-8e2b-3b7dd858bc0f" providerId="ADAL" clId="{7EEDEFD5-4BCA-4016-BE06-9E58D10BB4F4}" dt="2026-03-08T18:59:51.784" v="29" actId="47"/>
        <pc:sldMkLst>
          <pc:docMk/>
          <pc:sldMk cId="704658509" sldId="258"/>
        </pc:sldMkLst>
      </pc:sldChg>
      <pc:sldChg chg="del">
        <pc:chgData name="Luis Torres" userId="d0083da5-80e0-407a-8e2b-3b7dd858bc0f" providerId="ADAL" clId="{7EEDEFD5-4BCA-4016-BE06-9E58D10BB4F4}" dt="2026-03-08T18:59:53.812" v="31" actId="47"/>
        <pc:sldMkLst>
          <pc:docMk/>
          <pc:sldMk cId="2838283789" sldId="259"/>
        </pc:sldMkLst>
      </pc:sldChg>
      <pc:sldChg chg="del">
        <pc:chgData name="Luis Torres" userId="d0083da5-80e0-407a-8e2b-3b7dd858bc0f" providerId="ADAL" clId="{7EEDEFD5-4BCA-4016-BE06-9E58D10BB4F4}" dt="2026-03-08T18:59:54.292" v="32" actId="47"/>
        <pc:sldMkLst>
          <pc:docMk/>
          <pc:sldMk cId="880185825" sldId="260"/>
        </pc:sldMkLst>
      </pc:sldChg>
      <pc:sldChg chg="del">
        <pc:chgData name="Luis Torres" userId="d0083da5-80e0-407a-8e2b-3b7dd858bc0f" providerId="ADAL" clId="{7EEDEFD5-4BCA-4016-BE06-9E58D10BB4F4}" dt="2026-03-08T19:00:02.712" v="34" actId="47"/>
        <pc:sldMkLst>
          <pc:docMk/>
          <pc:sldMk cId="1106897358" sldId="261"/>
        </pc:sldMkLst>
      </pc:sldChg>
      <pc:sldChg chg="del">
        <pc:chgData name="Luis Torres" userId="d0083da5-80e0-407a-8e2b-3b7dd858bc0f" providerId="ADAL" clId="{7EEDEFD5-4BCA-4016-BE06-9E58D10BB4F4}" dt="2026-03-08T18:59:58.595" v="33" actId="47"/>
        <pc:sldMkLst>
          <pc:docMk/>
          <pc:sldMk cId="842843927" sldId="262"/>
        </pc:sldMkLst>
      </pc:sldChg>
      <pc:sldChg chg="del">
        <pc:chgData name="Luis Torres" userId="d0083da5-80e0-407a-8e2b-3b7dd858bc0f" providerId="ADAL" clId="{7EEDEFD5-4BCA-4016-BE06-9E58D10BB4F4}" dt="2026-03-08T18:59:52.593" v="30" actId="47"/>
        <pc:sldMkLst>
          <pc:docMk/>
          <pc:sldMk cId="3079266234" sldId="263"/>
        </pc:sldMkLst>
      </pc:sldChg>
      <pc:sldChg chg="del">
        <pc:chgData name="Luis Torres" userId="d0083da5-80e0-407a-8e2b-3b7dd858bc0f" providerId="ADAL" clId="{7EEDEFD5-4BCA-4016-BE06-9E58D10BB4F4}" dt="2026-03-08T20:02:33.253" v="1295" actId="47"/>
        <pc:sldMkLst>
          <pc:docMk/>
          <pc:sldMk cId="3338304081" sldId="264"/>
        </pc:sldMkLst>
      </pc:sldChg>
      <pc:sldChg chg="del">
        <pc:chgData name="Luis Torres" userId="d0083da5-80e0-407a-8e2b-3b7dd858bc0f" providerId="ADAL" clId="{7EEDEFD5-4BCA-4016-BE06-9E58D10BB4F4}" dt="2026-03-08T20:02:42.350" v="1296" actId="47"/>
        <pc:sldMkLst>
          <pc:docMk/>
          <pc:sldMk cId="444770827" sldId="265"/>
        </pc:sldMkLst>
      </pc:sldChg>
      <pc:sldChg chg="del">
        <pc:chgData name="Luis Torres" userId="d0083da5-80e0-407a-8e2b-3b7dd858bc0f" providerId="ADAL" clId="{7EEDEFD5-4BCA-4016-BE06-9E58D10BB4F4}" dt="2026-03-08T20:02:23.033" v="1294" actId="47"/>
        <pc:sldMkLst>
          <pc:docMk/>
          <pc:sldMk cId="4165647136" sldId="266"/>
        </pc:sldMkLst>
      </pc:sldChg>
      <pc:sldChg chg="addSp modSp new mod">
        <pc:chgData name="Luis Torres" userId="d0083da5-80e0-407a-8e2b-3b7dd858bc0f" providerId="ADAL" clId="{7EEDEFD5-4BCA-4016-BE06-9E58D10BB4F4}" dt="2026-03-08T19:45:25.061" v="1137" actId="20577"/>
        <pc:sldMkLst>
          <pc:docMk/>
          <pc:sldMk cId="1645039532" sldId="267"/>
        </pc:sldMkLst>
        <pc:spChg chg="mod">
          <ac:chgData name="Luis Torres" userId="d0083da5-80e0-407a-8e2b-3b7dd858bc0f" providerId="ADAL" clId="{7EEDEFD5-4BCA-4016-BE06-9E58D10BB4F4}" dt="2026-03-08T19:02:20.025" v="71" actId="20577"/>
          <ac:spMkLst>
            <pc:docMk/>
            <pc:sldMk cId="1645039532" sldId="267"/>
            <ac:spMk id="2" creationId="{EA50E297-08A7-0F8A-AD39-61AD1C5005E1}"/>
          </ac:spMkLst>
        </pc:spChg>
        <pc:spChg chg="mod">
          <ac:chgData name="Luis Torres" userId="d0083da5-80e0-407a-8e2b-3b7dd858bc0f" providerId="ADAL" clId="{7EEDEFD5-4BCA-4016-BE06-9E58D10BB4F4}" dt="2026-03-08T19:45:25.061" v="1137" actId="20577"/>
          <ac:spMkLst>
            <pc:docMk/>
            <pc:sldMk cId="1645039532" sldId="267"/>
            <ac:spMk id="3" creationId="{8C6B2B89-6B90-7EA4-A1D1-7237658DD1F6}"/>
          </ac:spMkLst>
        </pc:spChg>
        <pc:spChg chg="add mod">
          <ac:chgData name="Luis Torres" userId="d0083da5-80e0-407a-8e2b-3b7dd858bc0f" providerId="ADAL" clId="{7EEDEFD5-4BCA-4016-BE06-9E58D10BB4F4}" dt="2026-03-08T19:03:59.767" v="95" actId="1076"/>
          <ac:spMkLst>
            <pc:docMk/>
            <pc:sldMk cId="1645039532" sldId="267"/>
            <ac:spMk id="5" creationId="{7DC0832B-AA12-4B0F-388E-078D39E34166}"/>
          </ac:spMkLst>
        </pc:spChg>
      </pc:sldChg>
      <pc:sldChg chg="addSp modSp new mod">
        <pc:chgData name="Luis Torres" userId="d0083da5-80e0-407a-8e2b-3b7dd858bc0f" providerId="ADAL" clId="{7EEDEFD5-4BCA-4016-BE06-9E58D10BB4F4}" dt="2026-03-08T20:16:04.307" v="1609" actId="6549"/>
        <pc:sldMkLst>
          <pc:docMk/>
          <pc:sldMk cId="2945097641" sldId="268"/>
        </pc:sldMkLst>
        <pc:spChg chg="mod">
          <ac:chgData name="Luis Torres" userId="d0083da5-80e0-407a-8e2b-3b7dd858bc0f" providerId="ADAL" clId="{7EEDEFD5-4BCA-4016-BE06-9E58D10BB4F4}" dt="2026-03-08T20:01:23.038" v="1251"/>
          <ac:spMkLst>
            <pc:docMk/>
            <pc:sldMk cId="2945097641" sldId="268"/>
            <ac:spMk id="2" creationId="{38E3C89C-FAFA-69D6-114E-BC4CD98835C2}"/>
          </ac:spMkLst>
        </pc:spChg>
        <pc:spChg chg="mod">
          <ac:chgData name="Luis Torres" userId="d0083da5-80e0-407a-8e2b-3b7dd858bc0f" providerId="ADAL" clId="{7EEDEFD5-4BCA-4016-BE06-9E58D10BB4F4}" dt="2026-03-08T20:16:04.307" v="1609" actId="6549"/>
          <ac:spMkLst>
            <pc:docMk/>
            <pc:sldMk cId="2945097641" sldId="268"/>
            <ac:spMk id="3" creationId="{C67B0DD1-59C9-DD28-C10C-044465E464E9}"/>
          </ac:spMkLst>
        </pc:spChg>
        <pc:spChg chg="add mod">
          <ac:chgData name="Luis Torres" userId="d0083da5-80e0-407a-8e2b-3b7dd858bc0f" providerId="ADAL" clId="{7EEDEFD5-4BCA-4016-BE06-9E58D10BB4F4}" dt="2026-03-08T19:04:12.607" v="97" actId="403"/>
          <ac:spMkLst>
            <pc:docMk/>
            <pc:sldMk cId="2945097641" sldId="268"/>
            <ac:spMk id="5" creationId="{B0B365F6-96ED-A1BA-705C-F1EF02550C71}"/>
          </ac:spMkLst>
        </pc:spChg>
      </pc:sldChg>
      <pc:sldChg chg="modSp new mod ord">
        <pc:chgData name="Luis Torres" userId="d0083da5-80e0-407a-8e2b-3b7dd858bc0f" providerId="ADAL" clId="{7EEDEFD5-4BCA-4016-BE06-9E58D10BB4F4}" dt="2026-03-08T20:01:25.522" v="1252"/>
        <pc:sldMkLst>
          <pc:docMk/>
          <pc:sldMk cId="3851562147" sldId="269"/>
        </pc:sldMkLst>
        <pc:spChg chg="mod">
          <ac:chgData name="Luis Torres" userId="d0083da5-80e0-407a-8e2b-3b7dd858bc0f" providerId="ADAL" clId="{7EEDEFD5-4BCA-4016-BE06-9E58D10BB4F4}" dt="2026-03-08T20:01:25.522" v="1252"/>
          <ac:spMkLst>
            <pc:docMk/>
            <pc:sldMk cId="3851562147" sldId="269"/>
            <ac:spMk id="2" creationId="{768DCE64-CBB6-AAE6-2F5A-C85FC7F5B985}"/>
          </ac:spMkLst>
        </pc:spChg>
        <pc:spChg chg="mod">
          <ac:chgData name="Luis Torres" userId="d0083da5-80e0-407a-8e2b-3b7dd858bc0f" providerId="ADAL" clId="{7EEDEFD5-4BCA-4016-BE06-9E58D10BB4F4}" dt="2026-03-08T19:06:18.609" v="127" actId="20577"/>
          <ac:spMkLst>
            <pc:docMk/>
            <pc:sldMk cId="3851562147" sldId="269"/>
            <ac:spMk id="3" creationId="{1991E973-4CFF-B614-B260-71BAF22FC336}"/>
          </ac:spMkLst>
        </pc:spChg>
      </pc:sldChg>
      <pc:sldChg chg="addSp modSp new mod">
        <pc:chgData name="Luis Torres" userId="d0083da5-80e0-407a-8e2b-3b7dd858bc0f" providerId="ADAL" clId="{7EEDEFD5-4BCA-4016-BE06-9E58D10BB4F4}" dt="2026-03-08T20:17:39.192" v="1647" actId="6549"/>
        <pc:sldMkLst>
          <pc:docMk/>
          <pc:sldMk cId="3343839604" sldId="270"/>
        </pc:sldMkLst>
        <pc:spChg chg="mod">
          <ac:chgData name="Luis Torres" userId="d0083da5-80e0-407a-8e2b-3b7dd858bc0f" providerId="ADAL" clId="{7EEDEFD5-4BCA-4016-BE06-9E58D10BB4F4}" dt="2026-03-08T20:02:01.700" v="1292" actId="20577"/>
          <ac:spMkLst>
            <pc:docMk/>
            <pc:sldMk cId="3343839604" sldId="270"/>
            <ac:spMk id="2" creationId="{A42D3DFE-35FE-4D6C-F7D2-5C572C80FF59}"/>
          </ac:spMkLst>
        </pc:spChg>
        <pc:spChg chg="mod">
          <ac:chgData name="Luis Torres" userId="d0083da5-80e0-407a-8e2b-3b7dd858bc0f" providerId="ADAL" clId="{7EEDEFD5-4BCA-4016-BE06-9E58D10BB4F4}" dt="2026-03-08T20:17:39.192" v="1647" actId="6549"/>
          <ac:spMkLst>
            <pc:docMk/>
            <pc:sldMk cId="3343839604" sldId="270"/>
            <ac:spMk id="3" creationId="{87527978-F205-4555-F417-09890BBEB6AE}"/>
          </ac:spMkLst>
        </pc:spChg>
        <pc:spChg chg="add mod">
          <ac:chgData name="Luis Torres" userId="d0083da5-80e0-407a-8e2b-3b7dd858bc0f" providerId="ADAL" clId="{7EEDEFD5-4BCA-4016-BE06-9E58D10BB4F4}" dt="2026-03-08T19:07:39.436" v="136" actId="1076"/>
          <ac:spMkLst>
            <pc:docMk/>
            <pc:sldMk cId="3343839604" sldId="270"/>
            <ac:spMk id="5" creationId="{07153344-E326-6A6A-94E4-0F7E4381EC9F}"/>
          </ac:spMkLst>
        </pc:spChg>
      </pc:sldChg>
      <pc:sldChg chg="addSp modSp new mod">
        <pc:chgData name="Luis Torres" userId="d0083da5-80e0-407a-8e2b-3b7dd858bc0f" providerId="ADAL" clId="{7EEDEFD5-4BCA-4016-BE06-9E58D10BB4F4}" dt="2026-03-08T20:20:03.806" v="1724" actId="20577"/>
        <pc:sldMkLst>
          <pc:docMk/>
          <pc:sldMk cId="3859242782" sldId="271"/>
        </pc:sldMkLst>
        <pc:spChg chg="mod">
          <ac:chgData name="Luis Torres" userId="d0083da5-80e0-407a-8e2b-3b7dd858bc0f" providerId="ADAL" clId="{7EEDEFD5-4BCA-4016-BE06-9E58D10BB4F4}" dt="2026-03-08T19:08:22.611" v="145"/>
          <ac:spMkLst>
            <pc:docMk/>
            <pc:sldMk cId="3859242782" sldId="271"/>
            <ac:spMk id="2" creationId="{6D1F8638-06E9-86BE-C243-6245613BE10C}"/>
          </ac:spMkLst>
        </pc:spChg>
        <pc:spChg chg="mod">
          <ac:chgData name="Luis Torres" userId="d0083da5-80e0-407a-8e2b-3b7dd858bc0f" providerId="ADAL" clId="{7EEDEFD5-4BCA-4016-BE06-9E58D10BB4F4}" dt="2026-03-08T20:20:03.806" v="1724" actId="20577"/>
          <ac:spMkLst>
            <pc:docMk/>
            <pc:sldMk cId="3859242782" sldId="271"/>
            <ac:spMk id="3" creationId="{2484FD27-CDD8-0B7A-01AA-5128CD1303F7}"/>
          </ac:spMkLst>
        </pc:spChg>
        <pc:spChg chg="add mod">
          <ac:chgData name="Luis Torres" userId="d0083da5-80e0-407a-8e2b-3b7dd858bc0f" providerId="ADAL" clId="{7EEDEFD5-4BCA-4016-BE06-9E58D10BB4F4}" dt="2026-03-08T19:08:08.444" v="144" actId="1076"/>
          <ac:spMkLst>
            <pc:docMk/>
            <pc:sldMk cId="3859242782" sldId="271"/>
            <ac:spMk id="5" creationId="{90A3D97A-C0AA-4B0D-F268-95D1D445C125}"/>
          </ac:spMkLst>
        </pc:spChg>
      </pc:sldChg>
      <pc:sldChg chg="modSp new mod">
        <pc:chgData name="Luis Torres" userId="d0083da5-80e0-407a-8e2b-3b7dd858bc0f" providerId="ADAL" clId="{7EEDEFD5-4BCA-4016-BE06-9E58D10BB4F4}" dt="2026-03-08T20:07:24.055" v="1434"/>
        <pc:sldMkLst>
          <pc:docMk/>
          <pc:sldMk cId="1750967366" sldId="272"/>
        </pc:sldMkLst>
        <pc:spChg chg="mod">
          <ac:chgData name="Luis Torres" userId="d0083da5-80e0-407a-8e2b-3b7dd858bc0f" providerId="ADAL" clId="{7EEDEFD5-4BCA-4016-BE06-9E58D10BB4F4}" dt="2026-03-08T20:07:24.055" v="1434"/>
          <ac:spMkLst>
            <pc:docMk/>
            <pc:sldMk cId="1750967366" sldId="272"/>
            <ac:spMk id="2" creationId="{179810BC-8102-ED6A-B866-8C89590B5F73}"/>
          </ac:spMkLst>
        </pc:spChg>
        <pc:spChg chg="mod">
          <ac:chgData name="Luis Torres" userId="d0083da5-80e0-407a-8e2b-3b7dd858bc0f" providerId="ADAL" clId="{7EEDEFD5-4BCA-4016-BE06-9E58D10BB4F4}" dt="2026-03-08T20:07:06.640" v="1433" actId="20577"/>
          <ac:spMkLst>
            <pc:docMk/>
            <pc:sldMk cId="1750967366" sldId="272"/>
            <ac:spMk id="3" creationId="{EB228409-BBF1-AF38-85A7-59B8B1AE0FEA}"/>
          </ac:spMkLst>
        </pc:spChg>
      </pc:sldChg>
      <pc:sldChg chg="addSp delSp modSp new mod ord">
        <pc:chgData name="Luis Torres" userId="d0083da5-80e0-407a-8e2b-3b7dd858bc0f" providerId="ADAL" clId="{7EEDEFD5-4BCA-4016-BE06-9E58D10BB4F4}" dt="2026-03-08T20:19:00.204" v="1691" actId="20577"/>
        <pc:sldMkLst>
          <pc:docMk/>
          <pc:sldMk cId="2138830204" sldId="273"/>
        </pc:sldMkLst>
        <pc:spChg chg="mod">
          <ac:chgData name="Luis Torres" userId="d0083da5-80e0-407a-8e2b-3b7dd858bc0f" providerId="ADAL" clId="{7EEDEFD5-4BCA-4016-BE06-9E58D10BB4F4}" dt="2026-03-08T19:24:14.561" v="549" actId="6549"/>
          <ac:spMkLst>
            <pc:docMk/>
            <pc:sldMk cId="2138830204" sldId="273"/>
            <ac:spMk id="2" creationId="{BBA46BB5-5D5B-BF6B-0A30-F02EF9EBC14C}"/>
          </ac:spMkLst>
        </pc:spChg>
        <pc:spChg chg="del mod">
          <ac:chgData name="Luis Torres" userId="d0083da5-80e0-407a-8e2b-3b7dd858bc0f" providerId="ADAL" clId="{7EEDEFD5-4BCA-4016-BE06-9E58D10BB4F4}" dt="2026-03-08T19:18:06.172" v="427" actId="478"/>
          <ac:spMkLst>
            <pc:docMk/>
            <pc:sldMk cId="2138830204" sldId="273"/>
            <ac:spMk id="3" creationId="{97A1D516-7926-EE9E-4537-7979C5BBBA0D}"/>
          </ac:spMkLst>
        </pc:spChg>
        <pc:spChg chg="add del mod">
          <ac:chgData name="Luis Torres" userId="d0083da5-80e0-407a-8e2b-3b7dd858bc0f" providerId="ADAL" clId="{7EEDEFD5-4BCA-4016-BE06-9E58D10BB4F4}" dt="2026-03-08T19:18:08.266" v="428" actId="478"/>
          <ac:spMkLst>
            <pc:docMk/>
            <pc:sldMk cId="2138830204" sldId="273"/>
            <ac:spMk id="6" creationId="{92389C1F-F0E9-FF08-DD26-4DE480E141FE}"/>
          </ac:spMkLst>
        </pc:spChg>
        <pc:graphicFrameChg chg="add mod modGraphic">
          <ac:chgData name="Luis Torres" userId="d0083da5-80e0-407a-8e2b-3b7dd858bc0f" providerId="ADAL" clId="{7EEDEFD5-4BCA-4016-BE06-9E58D10BB4F4}" dt="2026-03-08T20:19:00.204" v="1691" actId="20577"/>
          <ac:graphicFrameMkLst>
            <pc:docMk/>
            <pc:sldMk cId="2138830204" sldId="273"/>
            <ac:graphicFrameMk id="4" creationId="{E57F02FC-43B0-7336-B614-2065AF281CD4}"/>
          </ac:graphicFrameMkLst>
        </pc:graphicFrameChg>
      </pc:sldChg>
      <pc:sldChg chg="addSp delSp modSp new del mod">
        <pc:chgData name="Luis Torres" userId="d0083da5-80e0-407a-8e2b-3b7dd858bc0f" providerId="ADAL" clId="{7EEDEFD5-4BCA-4016-BE06-9E58D10BB4F4}" dt="2026-03-08T20:01:09.827" v="1250" actId="47"/>
        <pc:sldMkLst>
          <pc:docMk/>
          <pc:sldMk cId="3119954606" sldId="274"/>
        </pc:sldMkLst>
        <pc:spChg chg="mod">
          <ac:chgData name="Luis Torres" userId="d0083da5-80e0-407a-8e2b-3b7dd858bc0f" providerId="ADAL" clId="{7EEDEFD5-4BCA-4016-BE06-9E58D10BB4F4}" dt="2026-03-08T19:17:23.258" v="420" actId="20577"/>
          <ac:spMkLst>
            <pc:docMk/>
            <pc:sldMk cId="3119954606" sldId="274"/>
            <ac:spMk id="2" creationId="{472CC558-7160-6725-CF78-DFE95B5E55BB}"/>
          </ac:spMkLst>
        </pc:spChg>
        <pc:spChg chg="add del">
          <ac:chgData name="Luis Torres" userId="d0083da5-80e0-407a-8e2b-3b7dd858bc0f" providerId="ADAL" clId="{7EEDEFD5-4BCA-4016-BE06-9E58D10BB4F4}" dt="2026-03-08T19:16:07.896" v="317"/>
          <ac:spMkLst>
            <pc:docMk/>
            <pc:sldMk cId="3119954606" sldId="274"/>
            <ac:spMk id="3" creationId="{6EEAF797-8619-A601-C203-6EB97B9A5490}"/>
          </ac:spMkLst>
        </pc:spChg>
        <pc:graphicFrameChg chg="add mod modGraphic">
          <ac:chgData name="Luis Torres" userId="d0083da5-80e0-407a-8e2b-3b7dd858bc0f" providerId="ADAL" clId="{7EEDEFD5-4BCA-4016-BE06-9E58D10BB4F4}" dt="2026-03-08T19:16:00.852" v="316"/>
          <ac:graphicFrameMkLst>
            <pc:docMk/>
            <pc:sldMk cId="3119954606" sldId="274"/>
            <ac:graphicFrameMk id="4" creationId="{5F7CA575-7C25-A5D1-022C-EC22C52C3D50}"/>
          </ac:graphicFrameMkLst>
        </pc:graphicFrameChg>
        <pc:graphicFrameChg chg="add mod modGraphic">
          <ac:chgData name="Luis Torres" userId="d0083da5-80e0-407a-8e2b-3b7dd858bc0f" providerId="ADAL" clId="{7EEDEFD5-4BCA-4016-BE06-9E58D10BB4F4}" dt="2026-03-08T19:16:53.153" v="328" actId="20577"/>
          <ac:graphicFrameMkLst>
            <pc:docMk/>
            <pc:sldMk cId="3119954606" sldId="274"/>
            <ac:graphicFrameMk id="5" creationId="{8EBE2025-9FA8-1286-5A6F-90F9E35B57D9}"/>
          </ac:graphicFrameMkLst>
        </pc:graphicFrameChg>
      </pc:sldChg>
      <pc:sldChg chg="modSp new del mod">
        <pc:chgData name="Luis Torres" userId="d0083da5-80e0-407a-8e2b-3b7dd858bc0f" providerId="ADAL" clId="{7EEDEFD5-4BCA-4016-BE06-9E58D10BB4F4}" dt="2026-03-08T20:02:08.506" v="1293" actId="47"/>
        <pc:sldMkLst>
          <pc:docMk/>
          <pc:sldMk cId="276658582" sldId="275"/>
        </pc:sldMkLst>
        <pc:spChg chg="mod">
          <ac:chgData name="Luis Torres" userId="d0083da5-80e0-407a-8e2b-3b7dd858bc0f" providerId="ADAL" clId="{7EEDEFD5-4BCA-4016-BE06-9E58D10BB4F4}" dt="2026-03-08T19:24:31.697" v="608" actId="20577"/>
          <ac:spMkLst>
            <pc:docMk/>
            <pc:sldMk cId="276658582" sldId="275"/>
            <ac:spMk id="2" creationId="{82F00F6F-304E-A206-6887-87E8974B2EFB}"/>
          </ac:spMkLst>
        </pc:spChg>
      </pc:sldChg>
      <pc:sldChg chg="modSp new mod">
        <pc:chgData name="Luis Torres" userId="d0083da5-80e0-407a-8e2b-3b7dd858bc0f" providerId="ADAL" clId="{7EEDEFD5-4BCA-4016-BE06-9E58D10BB4F4}" dt="2026-03-08T20:14:17.363" v="1571" actId="6549"/>
        <pc:sldMkLst>
          <pc:docMk/>
          <pc:sldMk cId="2724715725" sldId="276"/>
        </pc:sldMkLst>
        <pc:spChg chg="mod">
          <ac:chgData name="Luis Torres" userId="d0083da5-80e0-407a-8e2b-3b7dd858bc0f" providerId="ADAL" clId="{7EEDEFD5-4BCA-4016-BE06-9E58D10BB4F4}" dt="2026-03-08T19:28:23.523" v="657" actId="20577"/>
          <ac:spMkLst>
            <pc:docMk/>
            <pc:sldMk cId="2724715725" sldId="276"/>
            <ac:spMk id="2" creationId="{DA6ED01F-6681-6048-84BE-56086D5943F5}"/>
          </ac:spMkLst>
        </pc:spChg>
        <pc:spChg chg="mod">
          <ac:chgData name="Luis Torres" userId="d0083da5-80e0-407a-8e2b-3b7dd858bc0f" providerId="ADAL" clId="{7EEDEFD5-4BCA-4016-BE06-9E58D10BB4F4}" dt="2026-03-08T20:14:17.363" v="1571" actId="6549"/>
          <ac:spMkLst>
            <pc:docMk/>
            <pc:sldMk cId="2724715725" sldId="276"/>
            <ac:spMk id="3" creationId="{C1FC99E8-D4AA-73D3-D008-4590C8E5F5F7}"/>
          </ac:spMkLst>
        </pc:spChg>
      </pc:sldChg>
      <pc:sldChg chg="modSp add mod">
        <pc:chgData name="Luis Torres" userId="d0083da5-80e0-407a-8e2b-3b7dd858bc0f" providerId="ADAL" clId="{7EEDEFD5-4BCA-4016-BE06-9E58D10BB4F4}" dt="2026-03-08T19:46:59.960" v="1150" actId="20577"/>
        <pc:sldMkLst>
          <pc:docMk/>
          <pc:sldMk cId="3382951057" sldId="277"/>
        </pc:sldMkLst>
        <pc:spChg chg="mod">
          <ac:chgData name="Luis Torres" userId="d0083da5-80e0-407a-8e2b-3b7dd858bc0f" providerId="ADAL" clId="{7EEDEFD5-4BCA-4016-BE06-9E58D10BB4F4}" dt="2026-03-08T19:46:59.960" v="1150" actId="20577"/>
          <ac:spMkLst>
            <pc:docMk/>
            <pc:sldMk cId="3382951057" sldId="277"/>
            <ac:spMk id="3" creationId="{184613C8-0F95-B8AE-09FA-AA5571C1E8BA}"/>
          </ac:spMkLst>
        </pc:spChg>
      </pc:sldChg>
      <pc:sldChg chg="modSp new del mod">
        <pc:chgData name="Luis Torres" userId="d0083da5-80e0-407a-8e2b-3b7dd858bc0f" providerId="ADAL" clId="{7EEDEFD5-4BCA-4016-BE06-9E58D10BB4F4}" dt="2026-03-08T19:39:03.933" v="968" actId="47"/>
        <pc:sldMkLst>
          <pc:docMk/>
          <pc:sldMk cId="481570408" sldId="278"/>
        </pc:sldMkLst>
        <pc:spChg chg="mod">
          <ac:chgData name="Luis Torres" userId="d0083da5-80e0-407a-8e2b-3b7dd858bc0f" providerId="ADAL" clId="{7EEDEFD5-4BCA-4016-BE06-9E58D10BB4F4}" dt="2026-03-08T19:34:57.522" v="851"/>
          <ac:spMkLst>
            <pc:docMk/>
            <pc:sldMk cId="481570408" sldId="278"/>
            <ac:spMk id="2" creationId="{E7E1C5AD-6152-6868-EE42-C72EA32BA7F2}"/>
          </ac:spMkLst>
        </pc:spChg>
        <pc:spChg chg="mod">
          <ac:chgData name="Luis Torres" userId="d0083da5-80e0-407a-8e2b-3b7dd858bc0f" providerId="ADAL" clId="{7EEDEFD5-4BCA-4016-BE06-9E58D10BB4F4}" dt="2026-03-08T19:35:19.843" v="862" actId="20577"/>
          <ac:spMkLst>
            <pc:docMk/>
            <pc:sldMk cId="481570408" sldId="278"/>
            <ac:spMk id="3" creationId="{83BDBBC1-0397-7723-5B41-BECD929CFB58}"/>
          </ac:spMkLst>
        </pc:spChg>
      </pc:sldChg>
      <pc:sldChg chg="modSp new del mod">
        <pc:chgData name="Luis Torres" userId="d0083da5-80e0-407a-8e2b-3b7dd858bc0f" providerId="ADAL" clId="{7EEDEFD5-4BCA-4016-BE06-9E58D10BB4F4}" dt="2026-03-08T20:00:53.248" v="1249" actId="47"/>
        <pc:sldMkLst>
          <pc:docMk/>
          <pc:sldMk cId="1582329366" sldId="279"/>
        </pc:sldMkLst>
        <pc:spChg chg="mod">
          <ac:chgData name="Luis Torres" userId="d0083da5-80e0-407a-8e2b-3b7dd858bc0f" providerId="ADAL" clId="{7EEDEFD5-4BCA-4016-BE06-9E58D10BB4F4}" dt="2026-03-08T19:36:47.871" v="865"/>
          <ac:spMkLst>
            <pc:docMk/>
            <pc:sldMk cId="1582329366" sldId="279"/>
            <ac:spMk id="2" creationId="{27FDEA73-299E-B56E-A13A-D1275038551C}"/>
          </ac:spMkLst>
        </pc:spChg>
        <pc:spChg chg="mod">
          <ac:chgData name="Luis Torres" userId="d0083da5-80e0-407a-8e2b-3b7dd858bc0f" providerId="ADAL" clId="{7EEDEFD5-4BCA-4016-BE06-9E58D10BB4F4}" dt="2026-03-08T19:40:39.334" v="1050" actId="20577"/>
          <ac:spMkLst>
            <pc:docMk/>
            <pc:sldMk cId="1582329366" sldId="279"/>
            <ac:spMk id="3" creationId="{FD59923B-C434-6285-3D9D-8B25814A01C4}"/>
          </ac:spMkLst>
        </pc:spChg>
      </pc:sldChg>
      <pc:sldChg chg="addSp modSp new mod ord">
        <pc:chgData name="Luis Torres" userId="d0083da5-80e0-407a-8e2b-3b7dd858bc0f" providerId="ADAL" clId="{7EEDEFD5-4BCA-4016-BE06-9E58D10BB4F4}" dt="2026-03-08T20:14:56.709" v="1588" actId="20577"/>
        <pc:sldMkLst>
          <pc:docMk/>
          <pc:sldMk cId="1865973533" sldId="280"/>
        </pc:sldMkLst>
        <pc:spChg chg="mod">
          <ac:chgData name="Luis Torres" userId="d0083da5-80e0-407a-8e2b-3b7dd858bc0f" providerId="ADAL" clId="{7EEDEFD5-4BCA-4016-BE06-9E58D10BB4F4}" dt="2026-03-08T19:53:11.115" v="1174" actId="20577"/>
          <ac:spMkLst>
            <pc:docMk/>
            <pc:sldMk cId="1865973533" sldId="280"/>
            <ac:spMk id="2" creationId="{79DC2E1A-B554-EA10-709D-BC451B851619}"/>
          </ac:spMkLst>
        </pc:spChg>
        <pc:spChg chg="mod">
          <ac:chgData name="Luis Torres" userId="d0083da5-80e0-407a-8e2b-3b7dd858bc0f" providerId="ADAL" clId="{7EEDEFD5-4BCA-4016-BE06-9E58D10BB4F4}" dt="2026-03-08T20:14:56.709" v="1588" actId="20577"/>
          <ac:spMkLst>
            <pc:docMk/>
            <pc:sldMk cId="1865973533" sldId="280"/>
            <ac:spMk id="3" creationId="{0D96439A-4552-45C2-28E9-B2CBDCDA755A}"/>
          </ac:spMkLst>
        </pc:spChg>
        <pc:spChg chg="add mod">
          <ac:chgData name="Luis Torres" userId="d0083da5-80e0-407a-8e2b-3b7dd858bc0f" providerId="ADAL" clId="{7EEDEFD5-4BCA-4016-BE06-9E58D10BB4F4}" dt="2026-03-08T19:49:26.279" v="1155"/>
          <ac:spMkLst>
            <pc:docMk/>
            <pc:sldMk cId="1865973533" sldId="280"/>
            <ac:spMk id="4" creationId="{DD93EFC2-D9AB-2780-3ED8-F966F2269A26}"/>
          </ac:spMkLst>
        </pc:spChg>
      </pc:sldChg>
      <pc:sldChg chg="addSp delSp modSp new mod">
        <pc:chgData name="Luis Torres" userId="d0083da5-80e0-407a-8e2b-3b7dd858bc0f" providerId="ADAL" clId="{7EEDEFD5-4BCA-4016-BE06-9E58D10BB4F4}" dt="2026-03-08T20:17:04.596" v="1633" actId="20577"/>
        <pc:sldMkLst>
          <pc:docMk/>
          <pc:sldMk cId="809263548" sldId="281"/>
        </pc:sldMkLst>
        <pc:spChg chg="mod">
          <ac:chgData name="Luis Torres" userId="d0083da5-80e0-407a-8e2b-3b7dd858bc0f" providerId="ADAL" clId="{7EEDEFD5-4BCA-4016-BE06-9E58D10BB4F4}" dt="2026-03-08T20:01:38.700" v="1288"/>
          <ac:spMkLst>
            <pc:docMk/>
            <pc:sldMk cId="809263548" sldId="281"/>
            <ac:spMk id="2" creationId="{6FE04989-801A-3F36-BFA3-45A06D3565A0}"/>
          </ac:spMkLst>
        </pc:spChg>
        <pc:spChg chg="add del">
          <ac:chgData name="Luis Torres" userId="d0083da5-80e0-407a-8e2b-3b7dd858bc0f" providerId="ADAL" clId="{7EEDEFD5-4BCA-4016-BE06-9E58D10BB4F4}" dt="2026-03-08T19:55:16.048" v="1191"/>
          <ac:spMkLst>
            <pc:docMk/>
            <pc:sldMk cId="809263548" sldId="281"/>
            <ac:spMk id="3" creationId="{5E0215E4-92D7-409A-BAAB-EAA6A1DADCB9}"/>
          </ac:spMkLst>
        </pc:spChg>
        <pc:graphicFrameChg chg="add mod">
          <ac:chgData name="Luis Torres" userId="d0083da5-80e0-407a-8e2b-3b7dd858bc0f" providerId="ADAL" clId="{7EEDEFD5-4BCA-4016-BE06-9E58D10BB4F4}" dt="2026-03-08T19:55:12.966" v="1190"/>
          <ac:graphicFrameMkLst>
            <pc:docMk/>
            <pc:sldMk cId="809263548" sldId="281"/>
            <ac:graphicFrameMk id="4" creationId="{73CD7FBF-F28F-B8B4-221A-39AB4C8BA6AD}"/>
          </ac:graphicFrameMkLst>
        </pc:graphicFrameChg>
        <pc:graphicFrameChg chg="add mod modGraphic">
          <ac:chgData name="Luis Torres" userId="d0083da5-80e0-407a-8e2b-3b7dd858bc0f" providerId="ADAL" clId="{7EEDEFD5-4BCA-4016-BE06-9E58D10BB4F4}" dt="2026-03-08T20:17:04.596" v="1633" actId="20577"/>
          <ac:graphicFrameMkLst>
            <pc:docMk/>
            <pc:sldMk cId="809263548" sldId="281"/>
            <ac:graphicFrameMk id="5" creationId="{3D9E9976-BF67-A42C-891E-9E8849E4FBEF}"/>
          </ac:graphicFrameMkLst>
        </pc:graphicFrameChg>
      </pc:sldChg>
      <pc:sldChg chg="modSp new mod">
        <pc:chgData name="Luis Torres" userId="d0083da5-80e0-407a-8e2b-3b7dd858bc0f" providerId="ADAL" clId="{7EEDEFD5-4BCA-4016-BE06-9E58D10BB4F4}" dt="2026-03-08T20:21:08.031" v="1740" actId="6549"/>
        <pc:sldMkLst>
          <pc:docMk/>
          <pc:sldMk cId="2465577881" sldId="282"/>
        </pc:sldMkLst>
        <pc:spChg chg="mod">
          <ac:chgData name="Luis Torres" userId="d0083da5-80e0-407a-8e2b-3b7dd858bc0f" providerId="ADAL" clId="{7EEDEFD5-4BCA-4016-BE06-9E58D10BB4F4}" dt="2026-03-08T20:08:41.848" v="1437"/>
          <ac:spMkLst>
            <pc:docMk/>
            <pc:sldMk cId="2465577881" sldId="282"/>
            <ac:spMk id="2" creationId="{CE3AE967-95ED-5AA6-C08E-D3A8B6AB3296}"/>
          </ac:spMkLst>
        </pc:spChg>
        <pc:spChg chg="mod">
          <ac:chgData name="Luis Torres" userId="d0083da5-80e0-407a-8e2b-3b7dd858bc0f" providerId="ADAL" clId="{7EEDEFD5-4BCA-4016-BE06-9E58D10BB4F4}" dt="2026-03-08T20:21:08.031" v="1740" actId="6549"/>
          <ac:spMkLst>
            <pc:docMk/>
            <pc:sldMk cId="2465577881" sldId="282"/>
            <ac:spMk id="3" creationId="{5A7DB1A6-CE06-3C50-E98F-C03E4FAD0261}"/>
          </ac:spMkLst>
        </pc:spChg>
      </pc:sldChg>
      <pc:sldChg chg="add">
        <pc:chgData name="Luis Torres" userId="d0083da5-80e0-407a-8e2b-3b7dd858bc0f" providerId="ADAL" clId="{7EEDEFD5-4BCA-4016-BE06-9E58D10BB4F4}" dt="2026-03-08T20:10:26.077" v="1452"/>
        <pc:sldMkLst>
          <pc:docMk/>
          <pc:sldMk cId="2471014497" sldId="283"/>
        </pc:sldMkLst>
      </pc:sldChg>
      <pc:sldChg chg="modSp new mod modNotesTx">
        <pc:chgData name="Luis Torres" userId="d0083da5-80e0-407a-8e2b-3b7dd858bc0f" providerId="ADAL" clId="{7EEDEFD5-4BCA-4016-BE06-9E58D10BB4F4}" dt="2026-03-08T20:12:31.580" v="1548" actId="12"/>
        <pc:sldMkLst>
          <pc:docMk/>
          <pc:sldMk cId="833509677" sldId="284"/>
        </pc:sldMkLst>
        <pc:spChg chg="mod">
          <ac:chgData name="Luis Torres" userId="d0083da5-80e0-407a-8e2b-3b7dd858bc0f" providerId="ADAL" clId="{7EEDEFD5-4BCA-4016-BE06-9E58D10BB4F4}" dt="2026-03-08T20:12:14.672" v="1546"/>
          <ac:spMkLst>
            <pc:docMk/>
            <pc:sldMk cId="833509677" sldId="284"/>
            <ac:spMk id="3" creationId="{01990324-1B5F-3BF4-2872-2937A2E65D8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918CDD-0AF5-4D5E-BAEE-72A88EC9BD2D}" type="datetimeFigureOut">
              <a:rPr lang="en-GB" smtClean="0"/>
              <a:t>08/03/2026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7BDBAB-BC1A-437E-BBE4-70AC08E66CBA}" type="slidenum">
              <a:rPr lang="en-GB" smtClean="0"/>
              <a:t>‹#›</a:t>
            </a:fld>
            <a:endParaRPr lang="en-GB"/>
          </a:p>
        </p:txBody>
      </p:sp>
    </p:spTree>
    <p:extLst>
      <p:ext uri="{BB962C8B-B14F-4D97-AF65-F5344CB8AC3E}">
        <p14:creationId xmlns:p14="http://schemas.microsoft.com/office/powerpoint/2010/main" val="2391143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How do AI algorithms "naturalize" historical biases and create new, hidden forms of domination in the hiring process?</a:t>
            </a:r>
          </a:p>
          <a:p>
            <a:pPr marL="171450" indent="-171450">
              <a:buFont typeface="Arial" panose="020B0604020202020204" pitchFamily="34" charset="0"/>
              <a:buChar char="•"/>
            </a:pPr>
            <a:r>
              <a:rPr lang="en-GB" dirty="0"/>
              <a:t>Are these programs a form of "managerialism" that places the burden of workplace stress on the individual rather than addressing the structural "destructiveness" of the organizational system?</a:t>
            </a:r>
          </a:p>
          <a:p>
            <a:pPr marL="171450" indent="-171450">
              <a:buFont typeface="Arial" panose="020B0604020202020204" pitchFamily="34" charset="0"/>
              <a:buChar char="•"/>
            </a:pPr>
            <a:r>
              <a:rPr lang="en-GB" dirty="0"/>
              <a:t>Does "work-from-home" lead to an invasion of the private sphere by the "profit imperative," turning the home into a new site of surveillance and unpaid </a:t>
            </a:r>
            <a:r>
              <a:rPr lang="en-GB" dirty="0" err="1"/>
              <a:t>labor</a:t>
            </a:r>
            <a:r>
              <a:rPr lang="en-GB" dirty="0"/>
              <a:t>?</a:t>
            </a:r>
          </a:p>
          <a:p>
            <a:endParaRPr lang="en-GB" dirty="0"/>
          </a:p>
        </p:txBody>
      </p:sp>
      <p:sp>
        <p:nvSpPr>
          <p:cNvPr id="4" name="Slide Number Placeholder 3"/>
          <p:cNvSpPr>
            <a:spLocks noGrp="1"/>
          </p:cNvSpPr>
          <p:nvPr>
            <p:ph type="sldNum" sz="quarter" idx="5"/>
          </p:nvPr>
        </p:nvSpPr>
        <p:spPr/>
        <p:txBody>
          <a:bodyPr/>
          <a:lstStyle/>
          <a:p>
            <a:fld id="{0E7BDBAB-BC1A-437E-BBE4-70AC08E66CBA}" type="slidenum">
              <a:rPr lang="en-GB" smtClean="0"/>
              <a:t>15</a:t>
            </a:fld>
            <a:endParaRPr lang="en-GB"/>
          </a:p>
        </p:txBody>
      </p:sp>
    </p:spTree>
    <p:extLst>
      <p:ext uri="{BB962C8B-B14F-4D97-AF65-F5344CB8AC3E}">
        <p14:creationId xmlns:p14="http://schemas.microsoft.com/office/powerpoint/2010/main" val="3220876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91FD8-228D-45D2-F4DF-3956F6B96F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F5D9984-7DCE-524E-53E1-AD41513E8A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B76364D-8BFD-0A93-D54B-08B7171D2400}"/>
              </a:ext>
            </a:extLst>
          </p:cNvPr>
          <p:cNvSpPr>
            <a:spLocks noGrp="1"/>
          </p:cNvSpPr>
          <p:nvPr>
            <p:ph type="dt" sz="half" idx="10"/>
          </p:nvPr>
        </p:nvSpPr>
        <p:spPr/>
        <p:txBody>
          <a:bodyPr/>
          <a:lstStyle/>
          <a:p>
            <a:fld id="{FF570C8D-A5F8-484D-A42B-6A1C55BA86EA}" type="datetimeFigureOut">
              <a:rPr lang="en-GB" smtClean="0"/>
              <a:t>08/03/2026</a:t>
            </a:fld>
            <a:endParaRPr lang="en-GB"/>
          </a:p>
        </p:txBody>
      </p:sp>
      <p:sp>
        <p:nvSpPr>
          <p:cNvPr id="5" name="Footer Placeholder 4">
            <a:extLst>
              <a:ext uri="{FF2B5EF4-FFF2-40B4-BE49-F238E27FC236}">
                <a16:creationId xmlns:a16="http://schemas.microsoft.com/office/drawing/2014/main" id="{A39BD282-73A9-770C-E7C7-6226C01D6B9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FC212E2-7B13-4835-87CE-2BEA1FD2E618}"/>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3606400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D080D-903E-5561-B736-7A49DD7F571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AF29354-7830-C388-E3B6-5000193691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3815749-D04F-0264-BE57-3719400EF55A}"/>
              </a:ext>
            </a:extLst>
          </p:cNvPr>
          <p:cNvSpPr>
            <a:spLocks noGrp="1"/>
          </p:cNvSpPr>
          <p:nvPr>
            <p:ph type="dt" sz="half" idx="10"/>
          </p:nvPr>
        </p:nvSpPr>
        <p:spPr/>
        <p:txBody>
          <a:bodyPr/>
          <a:lstStyle/>
          <a:p>
            <a:fld id="{FF570C8D-A5F8-484D-A42B-6A1C55BA86EA}" type="datetimeFigureOut">
              <a:rPr lang="en-GB" smtClean="0"/>
              <a:t>08/03/2026</a:t>
            </a:fld>
            <a:endParaRPr lang="en-GB"/>
          </a:p>
        </p:txBody>
      </p:sp>
      <p:sp>
        <p:nvSpPr>
          <p:cNvPr id="5" name="Footer Placeholder 4">
            <a:extLst>
              <a:ext uri="{FF2B5EF4-FFF2-40B4-BE49-F238E27FC236}">
                <a16:creationId xmlns:a16="http://schemas.microsoft.com/office/drawing/2014/main" id="{FBA93A5F-64CE-4D8E-2080-0C0680664C0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8901B68-91A0-3F50-E90E-851057CB74E1}"/>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55060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AACB5-6607-5FE6-9603-09AA9FD79B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A39C150-D282-FA1A-4FC4-E15C71F38D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FFADC2-148B-E644-D7DC-3A489E0202A6}"/>
              </a:ext>
            </a:extLst>
          </p:cNvPr>
          <p:cNvSpPr>
            <a:spLocks noGrp="1"/>
          </p:cNvSpPr>
          <p:nvPr>
            <p:ph type="dt" sz="half" idx="10"/>
          </p:nvPr>
        </p:nvSpPr>
        <p:spPr/>
        <p:txBody>
          <a:bodyPr/>
          <a:lstStyle/>
          <a:p>
            <a:fld id="{FF570C8D-A5F8-484D-A42B-6A1C55BA86EA}" type="datetimeFigureOut">
              <a:rPr lang="en-GB" smtClean="0"/>
              <a:t>08/03/2026</a:t>
            </a:fld>
            <a:endParaRPr lang="en-GB"/>
          </a:p>
        </p:txBody>
      </p:sp>
      <p:sp>
        <p:nvSpPr>
          <p:cNvPr id="5" name="Footer Placeholder 4">
            <a:extLst>
              <a:ext uri="{FF2B5EF4-FFF2-40B4-BE49-F238E27FC236}">
                <a16:creationId xmlns:a16="http://schemas.microsoft.com/office/drawing/2014/main" id="{2AB2CB95-716F-2C11-0447-60985A146D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9356A9C-9A71-5351-46A8-439EB78F7EA1}"/>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1603892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12B90-6474-4523-3BD9-B365F20926E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21FCEA5-4EFA-5258-A624-F6EA767EC1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0AFD77A-9877-5A38-54D8-8D6F153DE2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2C89EE2-F969-B4AA-267F-9076B1D081D0}"/>
              </a:ext>
            </a:extLst>
          </p:cNvPr>
          <p:cNvSpPr>
            <a:spLocks noGrp="1"/>
          </p:cNvSpPr>
          <p:nvPr>
            <p:ph type="dt" sz="half" idx="10"/>
          </p:nvPr>
        </p:nvSpPr>
        <p:spPr/>
        <p:txBody>
          <a:bodyPr/>
          <a:lstStyle/>
          <a:p>
            <a:fld id="{FF570C8D-A5F8-484D-A42B-6A1C55BA86EA}" type="datetimeFigureOut">
              <a:rPr lang="en-GB" smtClean="0"/>
              <a:t>08/03/2026</a:t>
            </a:fld>
            <a:endParaRPr lang="en-GB"/>
          </a:p>
        </p:txBody>
      </p:sp>
      <p:sp>
        <p:nvSpPr>
          <p:cNvPr id="6" name="Footer Placeholder 5">
            <a:extLst>
              <a:ext uri="{FF2B5EF4-FFF2-40B4-BE49-F238E27FC236}">
                <a16:creationId xmlns:a16="http://schemas.microsoft.com/office/drawing/2014/main" id="{E3CF9156-08F4-34DC-F2C8-4CD099F6AD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2C69098-116F-5CE1-D54F-38EA39B06B07}"/>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2674585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5F7C7-2A30-6CFD-3FA5-546BB72DCEB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6176A49-54F9-037F-DC06-8DC7505998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1B7625-C95E-C7F2-513D-D91C9D61F7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B1C4E4A-5FC0-FBDE-A358-EAB8896638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1B2968-D248-0212-9A53-8CC04C08C6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5D02CA5-B7FB-E561-BAFE-2EC139B81DDB}"/>
              </a:ext>
            </a:extLst>
          </p:cNvPr>
          <p:cNvSpPr>
            <a:spLocks noGrp="1"/>
          </p:cNvSpPr>
          <p:nvPr>
            <p:ph type="dt" sz="half" idx="10"/>
          </p:nvPr>
        </p:nvSpPr>
        <p:spPr/>
        <p:txBody>
          <a:bodyPr/>
          <a:lstStyle/>
          <a:p>
            <a:fld id="{FF570C8D-A5F8-484D-A42B-6A1C55BA86EA}" type="datetimeFigureOut">
              <a:rPr lang="en-GB" smtClean="0"/>
              <a:t>08/03/2026</a:t>
            </a:fld>
            <a:endParaRPr lang="en-GB"/>
          </a:p>
        </p:txBody>
      </p:sp>
      <p:sp>
        <p:nvSpPr>
          <p:cNvPr id="8" name="Footer Placeholder 7">
            <a:extLst>
              <a:ext uri="{FF2B5EF4-FFF2-40B4-BE49-F238E27FC236}">
                <a16:creationId xmlns:a16="http://schemas.microsoft.com/office/drawing/2014/main" id="{88D31292-BB77-80E7-D8E4-47FBCCA9605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93BA356-2359-B590-9AED-7E77DE823567}"/>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358771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FBBA1-0793-0D44-AF62-89C0A1D6510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26E3014-F4C7-236C-1F92-08CDD0AD54D1}"/>
              </a:ext>
            </a:extLst>
          </p:cNvPr>
          <p:cNvSpPr>
            <a:spLocks noGrp="1"/>
          </p:cNvSpPr>
          <p:nvPr>
            <p:ph type="dt" sz="half" idx="10"/>
          </p:nvPr>
        </p:nvSpPr>
        <p:spPr/>
        <p:txBody>
          <a:bodyPr/>
          <a:lstStyle/>
          <a:p>
            <a:fld id="{FF570C8D-A5F8-484D-A42B-6A1C55BA86EA}" type="datetimeFigureOut">
              <a:rPr lang="en-GB" smtClean="0"/>
              <a:t>08/03/2026</a:t>
            </a:fld>
            <a:endParaRPr lang="en-GB"/>
          </a:p>
        </p:txBody>
      </p:sp>
      <p:sp>
        <p:nvSpPr>
          <p:cNvPr id="4" name="Footer Placeholder 3">
            <a:extLst>
              <a:ext uri="{FF2B5EF4-FFF2-40B4-BE49-F238E27FC236}">
                <a16:creationId xmlns:a16="http://schemas.microsoft.com/office/drawing/2014/main" id="{21FB4227-AD7E-3844-6235-C14D8F8F643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AF270D9-DCA8-6664-5D0E-7A2122DBAA87}"/>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1210422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57C13C-1060-9D70-621B-8B5D52D1FFDE}"/>
              </a:ext>
            </a:extLst>
          </p:cNvPr>
          <p:cNvSpPr>
            <a:spLocks noGrp="1"/>
          </p:cNvSpPr>
          <p:nvPr>
            <p:ph type="dt" sz="half" idx="10"/>
          </p:nvPr>
        </p:nvSpPr>
        <p:spPr/>
        <p:txBody>
          <a:bodyPr/>
          <a:lstStyle/>
          <a:p>
            <a:fld id="{FF570C8D-A5F8-484D-A42B-6A1C55BA86EA}" type="datetimeFigureOut">
              <a:rPr lang="en-GB" smtClean="0"/>
              <a:t>08/03/2026</a:t>
            </a:fld>
            <a:endParaRPr lang="en-GB"/>
          </a:p>
        </p:txBody>
      </p:sp>
      <p:sp>
        <p:nvSpPr>
          <p:cNvPr id="3" name="Footer Placeholder 2">
            <a:extLst>
              <a:ext uri="{FF2B5EF4-FFF2-40B4-BE49-F238E27FC236}">
                <a16:creationId xmlns:a16="http://schemas.microsoft.com/office/drawing/2014/main" id="{D21A35B8-E85E-89CC-2B6E-56C4166450B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EE77EC8-615B-92AE-426B-8398C0EE7F42}"/>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1266845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1BDC1-C498-6317-7C04-E121C5ACA4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BC32D61-374E-28F2-1A83-BA498F7B5B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F1AFA52-0195-BCB5-10A4-EA175E6382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82C8BE-6D6B-F5B0-759F-C91B3B528391}"/>
              </a:ext>
            </a:extLst>
          </p:cNvPr>
          <p:cNvSpPr>
            <a:spLocks noGrp="1"/>
          </p:cNvSpPr>
          <p:nvPr>
            <p:ph type="dt" sz="half" idx="10"/>
          </p:nvPr>
        </p:nvSpPr>
        <p:spPr/>
        <p:txBody>
          <a:bodyPr/>
          <a:lstStyle/>
          <a:p>
            <a:fld id="{FF570C8D-A5F8-484D-A42B-6A1C55BA86EA}" type="datetimeFigureOut">
              <a:rPr lang="en-GB" smtClean="0"/>
              <a:t>08/03/2026</a:t>
            </a:fld>
            <a:endParaRPr lang="en-GB"/>
          </a:p>
        </p:txBody>
      </p:sp>
      <p:sp>
        <p:nvSpPr>
          <p:cNvPr id="6" name="Footer Placeholder 5">
            <a:extLst>
              <a:ext uri="{FF2B5EF4-FFF2-40B4-BE49-F238E27FC236}">
                <a16:creationId xmlns:a16="http://schemas.microsoft.com/office/drawing/2014/main" id="{22AE5447-FF87-E549-EB0C-19F7EA9BBD6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7CC5345-6456-E40B-FD75-6208CC94155A}"/>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2413157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E81F1-2F15-BAB8-9EB5-6B458B5A75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6BB8A0E-BDD0-CBBB-68A2-5C408F5EEF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DC8996E-6F95-464C-EBAF-16A024BD23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FDA288-FD97-73F1-DCB2-2D60B8FB1448}"/>
              </a:ext>
            </a:extLst>
          </p:cNvPr>
          <p:cNvSpPr>
            <a:spLocks noGrp="1"/>
          </p:cNvSpPr>
          <p:nvPr>
            <p:ph type="dt" sz="half" idx="10"/>
          </p:nvPr>
        </p:nvSpPr>
        <p:spPr/>
        <p:txBody>
          <a:bodyPr/>
          <a:lstStyle/>
          <a:p>
            <a:fld id="{FF570C8D-A5F8-484D-A42B-6A1C55BA86EA}" type="datetimeFigureOut">
              <a:rPr lang="en-GB" smtClean="0"/>
              <a:t>08/03/2026</a:t>
            </a:fld>
            <a:endParaRPr lang="en-GB"/>
          </a:p>
        </p:txBody>
      </p:sp>
      <p:sp>
        <p:nvSpPr>
          <p:cNvPr id="6" name="Footer Placeholder 5">
            <a:extLst>
              <a:ext uri="{FF2B5EF4-FFF2-40B4-BE49-F238E27FC236}">
                <a16:creationId xmlns:a16="http://schemas.microsoft.com/office/drawing/2014/main" id="{7D535728-39C4-9679-BE33-89C7E65D6AA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33D9600-0A19-1B1A-E405-4146B7724CD5}"/>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4139093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5B810-DE01-22B9-75DE-CA0BD74ED61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D0F69AA-3225-8599-AB49-04C7F0DE5B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019FCE3-2054-6110-9C85-B2BA9F71C807}"/>
              </a:ext>
            </a:extLst>
          </p:cNvPr>
          <p:cNvSpPr>
            <a:spLocks noGrp="1"/>
          </p:cNvSpPr>
          <p:nvPr>
            <p:ph type="dt" sz="half" idx="10"/>
          </p:nvPr>
        </p:nvSpPr>
        <p:spPr/>
        <p:txBody>
          <a:bodyPr/>
          <a:lstStyle/>
          <a:p>
            <a:fld id="{FF570C8D-A5F8-484D-A42B-6A1C55BA86EA}" type="datetimeFigureOut">
              <a:rPr lang="en-GB" smtClean="0"/>
              <a:t>08/03/2026</a:t>
            </a:fld>
            <a:endParaRPr lang="en-GB"/>
          </a:p>
        </p:txBody>
      </p:sp>
      <p:sp>
        <p:nvSpPr>
          <p:cNvPr id="5" name="Footer Placeholder 4">
            <a:extLst>
              <a:ext uri="{FF2B5EF4-FFF2-40B4-BE49-F238E27FC236}">
                <a16:creationId xmlns:a16="http://schemas.microsoft.com/office/drawing/2014/main" id="{B9CBB98F-B55F-CDE4-9BAF-A0C67C76F0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1322341-F796-24C3-E10B-638373679E2B}"/>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916806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7DB971-8145-793A-9684-EF02A56F81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1E4901C-B164-8A10-8E0D-11629364EC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14A34E6-592E-AE46-5CBD-D3DD938F47AB}"/>
              </a:ext>
            </a:extLst>
          </p:cNvPr>
          <p:cNvSpPr>
            <a:spLocks noGrp="1"/>
          </p:cNvSpPr>
          <p:nvPr>
            <p:ph type="dt" sz="half" idx="10"/>
          </p:nvPr>
        </p:nvSpPr>
        <p:spPr/>
        <p:txBody>
          <a:bodyPr/>
          <a:lstStyle/>
          <a:p>
            <a:fld id="{FF570C8D-A5F8-484D-A42B-6A1C55BA86EA}" type="datetimeFigureOut">
              <a:rPr lang="en-GB" smtClean="0"/>
              <a:t>08/03/2026</a:t>
            </a:fld>
            <a:endParaRPr lang="en-GB"/>
          </a:p>
        </p:txBody>
      </p:sp>
      <p:sp>
        <p:nvSpPr>
          <p:cNvPr id="5" name="Footer Placeholder 4">
            <a:extLst>
              <a:ext uri="{FF2B5EF4-FFF2-40B4-BE49-F238E27FC236}">
                <a16:creationId xmlns:a16="http://schemas.microsoft.com/office/drawing/2014/main" id="{3222E37D-2CCB-CDFA-72BF-CB92E355B34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A286B89-F112-6384-C909-24FC1DC5C9B0}"/>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3475584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4DF7FE-61AB-001F-D2D8-E0EEB34084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953C15A-3066-8DFC-5812-80DB4E3446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4C6B1E9-932F-07D7-228A-0FA1E1DEE8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570C8D-A5F8-484D-A42B-6A1C55BA86EA}" type="datetimeFigureOut">
              <a:rPr lang="en-GB" smtClean="0"/>
              <a:t>08/03/2026</a:t>
            </a:fld>
            <a:endParaRPr lang="en-GB"/>
          </a:p>
        </p:txBody>
      </p:sp>
      <p:sp>
        <p:nvSpPr>
          <p:cNvPr id="5" name="Footer Placeholder 4">
            <a:extLst>
              <a:ext uri="{FF2B5EF4-FFF2-40B4-BE49-F238E27FC236}">
                <a16:creationId xmlns:a16="http://schemas.microsoft.com/office/drawing/2014/main" id="{8F468190-275F-B3AD-29A9-46EA62FDD6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74036061-BFA9-C2E4-33E8-CECFF3CBDC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AD33C2-9678-45FF-A777-7DEE0AD52BD2}" type="slidenum">
              <a:rPr lang="en-GB" smtClean="0"/>
              <a:t>‹#›</a:t>
            </a:fld>
            <a:endParaRPr lang="en-GB"/>
          </a:p>
        </p:txBody>
      </p:sp>
    </p:spTree>
    <p:extLst>
      <p:ext uri="{BB962C8B-B14F-4D97-AF65-F5344CB8AC3E}">
        <p14:creationId xmlns:p14="http://schemas.microsoft.com/office/powerpoint/2010/main" val="3629829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F294B-7DC9-49B1-2A8C-FC44ECD21FE3}"/>
              </a:ext>
            </a:extLst>
          </p:cNvPr>
          <p:cNvSpPr>
            <a:spLocks noGrp="1"/>
          </p:cNvSpPr>
          <p:nvPr>
            <p:ph type="ctrTitle"/>
          </p:nvPr>
        </p:nvSpPr>
        <p:spPr/>
        <p:txBody>
          <a:bodyPr/>
          <a:lstStyle/>
          <a:p>
            <a:r>
              <a:rPr lang="en-GB" dirty="0"/>
              <a:t>Management</a:t>
            </a:r>
          </a:p>
        </p:txBody>
      </p:sp>
      <p:sp>
        <p:nvSpPr>
          <p:cNvPr id="3" name="Subtitle 2">
            <a:extLst>
              <a:ext uri="{FF2B5EF4-FFF2-40B4-BE49-F238E27FC236}">
                <a16:creationId xmlns:a16="http://schemas.microsoft.com/office/drawing/2014/main" id="{382A2E26-50C4-43CA-6A9E-094AE3EFB997}"/>
              </a:ext>
            </a:extLst>
          </p:cNvPr>
          <p:cNvSpPr>
            <a:spLocks noGrp="1"/>
          </p:cNvSpPr>
          <p:nvPr>
            <p:ph type="subTitle" idx="1"/>
          </p:nvPr>
        </p:nvSpPr>
        <p:spPr/>
        <p:txBody>
          <a:bodyPr/>
          <a:lstStyle/>
          <a:p>
            <a:r>
              <a:rPr lang="en-GB" dirty="0"/>
              <a:t>PhD in Business Economics </a:t>
            </a:r>
          </a:p>
          <a:p>
            <a:endParaRPr lang="en-GB" dirty="0"/>
          </a:p>
          <a:p>
            <a:r>
              <a:rPr lang="en-GB" dirty="0"/>
              <a:t>Luis D. Torres, PhD.</a:t>
            </a:r>
          </a:p>
        </p:txBody>
      </p:sp>
    </p:spTree>
    <p:extLst>
      <p:ext uri="{BB962C8B-B14F-4D97-AF65-F5344CB8AC3E}">
        <p14:creationId xmlns:p14="http://schemas.microsoft.com/office/powerpoint/2010/main" val="3893749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8BD0-9BB8-F5E7-BAF4-7957651F78B3}"/>
              </a:ext>
            </a:extLst>
          </p:cNvPr>
          <p:cNvSpPr>
            <a:spLocks noGrp="1"/>
          </p:cNvSpPr>
          <p:nvPr>
            <p:ph type="title"/>
          </p:nvPr>
        </p:nvSpPr>
        <p:spPr/>
        <p:txBody>
          <a:bodyPr/>
          <a:lstStyle/>
          <a:p>
            <a:r>
              <a:rPr lang="en-GB" dirty="0"/>
              <a:t>Agenda</a:t>
            </a:r>
          </a:p>
        </p:txBody>
      </p:sp>
      <p:sp>
        <p:nvSpPr>
          <p:cNvPr id="3" name="Content Placeholder 2">
            <a:extLst>
              <a:ext uri="{FF2B5EF4-FFF2-40B4-BE49-F238E27FC236}">
                <a16:creationId xmlns:a16="http://schemas.microsoft.com/office/drawing/2014/main" id="{41F21F08-1B86-1E9C-CDD6-203547261EE6}"/>
              </a:ext>
            </a:extLst>
          </p:cNvPr>
          <p:cNvSpPr>
            <a:spLocks noGrp="1"/>
          </p:cNvSpPr>
          <p:nvPr>
            <p:ph idx="1"/>
          </p:nvPr>
        </p:nvSpPr>
        <p:spPr/>
        <p:txBody>
          <a:bodyPr/>
          <a:lstStyle/>
          <a:p>
            <a:r>
              <a:rPr lang="en-GB" dirty="0"/>
              <a:t>Unit 2: Modern and Contemporary Theories</a:t>
            </a:r>
          </a:p>
          <a:p>
            <a:pPr lvl="1"/>
            <a:r>
              <a:rPr lang="en-GB" dirty="0"/>
              <a:t>Stakeholder theory</a:t>
            </a:r>
          </a:p>
          <a:p>
            <a:pPr lvl="1"/>
            <a:r>
              <a:rPr lang="en-GB" dirty="0"/>
              <a:t>Institutional and neo institutional theory</a:t>
            </a:r>
          </a:p>
          <a:p>
            <a:pPr lvl="1"/>
            <a:r>
              <a:rPr lang="en-GB" dirty="0"/>
              <a:t>Critical theory and postmodernism</a:t>
            </a:r>
          </a:p>
          <a:p>
            <a:endParaRPr lang="en-GB" dirty="0"/>
          </a:p>
          <a:p>
            <a:endParaRPr lang="en-GB" dirty="0"/>
          </a:p>
        </p:txBody>
      </p:sp>
    </p:spTree>
    <p:extLst>
      <p:ext uri="{BB962C8B-B14F-4D97-AF65-F5344CB8AC3E}">
        <p14:creationId xmlns:p14="http://schemas.microsoft.com/office/powerpoint/2010/main" val="3365187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0E297-08A7-0F8A-AD39-61AD1C5005E1}"/>
              </a:ext>
            </a:extLst>
          </p:cNvPr>
          <p:cNvSpPr>
            <a:spLocks noGrp="1"/>
          </p:cNvSpPr>
          <p:nvPr>
            <p:ph type="title"/>
          </p:nvPr>
        </p:nvSpPr>
        <p:spPr/>
        <p:txBody>
          <a:bodyPr/>
          <a:lstStyle/>
          <a:p>
            <a:r>
              <a:rPr lang="en-GB" dirty="0"/>
              <a:t>The Purpose and Stakeholders</a:t>
            </a:r>
          </a:p>
        </p:txBody>
      </p:sp>
      <p:sp>
        <p:nvSpPr>
          <p:cNvPr id="3" name="Content Placeholder 2">
            <a:extLst>
              <a:ext uri="{FF2B5EF4-FFF2-40B4-BE49-F238E27FC236}">
                <a16:creationId xmlns:a16="http://schemas.microsoft.com/office/drawing/2014/main" id="{8C6B2B89-6B90-7EA4-A1D1-7237658DD1F6}"/>
              </a:ext>
            </a:extLst>
          </p:cNvPr>
          <p:cNvSpPr>
            <a:spLocks noGrp="1"/>
          </p:cNvSpPr>
          <p:nvPr>
            <p:ph idx="1"/>
          </p:nvPr>
        </p:nvSpPr>
        <p:spPr/>
        <p:txBody>
          <a:bodyPr>
            <a:normAutofit fontScale="85000" lnSpcReduction="20000"/>
          </a:bodyPr>
          <a:lstStyle/>
          <a:p>
            <a:pPr>
              <a:lnSpc>
                <a:spcPct val="110000"/>
              </a:lnSpc>
              <a:spcAft>
                <a:spcPts val="1200"/>
              </a:spcAft>
            </a:pPr>
            <a:r>
              <a:rPr lang="en-GB" dirty="0"/>
              <a:t>Input-Output vs Stakeholder model</a:t>
            </a:r>
          </a:p>
          <a:p>
            <a:pPr>
              <a:lnSpc>
                <a:spcPct val="110000"/>
              </a:lnSpc>
              <a:spcAft>
                <a:spcPts val="1200"/>
              </a:spcAft>
            </a:pPr>
            <a:r>
              <a:rPr lang="en-GB" dirty="0"/>
              <a:t>Propositions:</a:t>
            </a:r>
          </a:p>
          <a:p>
            <a:pPr lvl="1">
              <a:lnSpc>
                <a:spcPct val="110000"/>
              </a:lnSpc>
              <a:spcAft>
                <a:spcPts val="1200"/>
              </a:spcAft>
            </a:pPr>
            <a:r>
              <a:rPr lang="en-GB" dirty="0"/>
              <a:t>Thesis 1 (Descriptive): The theory describes what the corporation is.</a:t>
            </a:r>
          </a:p>
          <a:p>
            <a:pPr lvl="1">
              <a:lnSpc>
                <a:spcPct val="110000"/>
              </a:lnSpc>
              <a:spcAft>
                <a:spcPts val="1200"/>
              </a:spcAft>
            </a:pPr>
            <a:r>
              <a:rPr lang="en-GB" dirty="0"/>
              <a:t>Thesis 2 (Instrumental): It establishes a framework to examine connections between stakeholder management and corporate performance goals, such as profitability and growth.</a:t>
            </a:r>
          </a:p>
          <a:p>
            <a:pPr lvl="1">
              <a:lnSpc>
                <a:spcPct val="110000"/>
              </a:lnSpc>
              <a:spcAft>
                <a:spcPts val="1200"/>
              </a:spcAft>
            </a:pPr>
            <a:r>
              <a:rPr lang="en-GB" dirty="0"/>
              <a:t>Thesis 3 (Normative): It asserts that stakeholders are groups with legitimate interests in corporate activity and that these interests have intrinsic value.</a:t>
            </a:r>
          </a:p>
          <a:p>
            <a:pPr lvl="1">
              <a:lnSpc>
                <a:spcPct val="110000"/>
              </a:lnSpc>
              <a:spcAft>
                <a:spcPts val="1200"/>
              </a:spcAft>
            </a:pPr>
            <a:r>
              <a:rPr lang="en-GB" dirty="0"/>
              <a:t>Thesis 4 (Managerial): The theory requires managers to give simultaneous attention to the legitimate interests of all appropriate stakeholders.</a:t>
            </a:r>
          </a:p>
        </p:txBody>
      </p:sp>
      <p:sp>
        <p:nvSpPr>
          <p:cNvPr id="5" name="TextBox 4">
            <a:extLst>
              <a:ext uri="{FF2B5EF4-FFF2-40B4-BE49-F238E27FC236}">
                <a16:creationId xmlns:a16="http://schemas.microsoft.com/office/drawing/2014/main" id="{7DC0832B-AA12-4B0F-388E-078D39E34166}"/>
              </a:ext>
            </a:extLst>
          </p:cNvPr>
          <p:cNvSpPr txBox="1"/>
          <p:nvPr/>
        </p:nvSpPr>
        <p:spPr>
          <a:xfrm>
            <a:off x="9475303" y="6424855"/>
            <a:ext cx="2431775" cy="307777"/>
          </a:xfrm>
          <a:prstGeom prst="rect">
            <a:avLst/>
          </a:prstGeom>
          <a:noFill/>
        </p:spPr>
        <p:txBody>
          <a:bodyPr wrap="square">
            <a:spAutoFit/>
          </a:bodyPr>
          <a:lstStyle/>
          <a:p>
            <a:r>
              <a:rPr lang="en-GB" sz="1400" dirty="0"/>
              <a:t>Donaldson &amp; Preston (1995)</a:t>
            </a:r>
          </a:p>
        </p:txBody>
      </p:sp>
    </p:spTree>
    <p:extLst>
      <p:ext uri="{BB962C8B-B14F-4D97-AF65-F5344CB8AC3E}">
        <p14:creationId xmlns:p14="http://schemas.microsoft.com/office/powerpoint/2010/main" val="1645039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1F3FF-19C1-6854-7E9C-EA173AA8C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8D730C-30C1-5A9C-0CF4-0219E70AB717}"/>
              </a:ext>
            </a:extLst>
          </p:cNvPr>
          <p:cNvSpPr>
            <a:spLocks noGrp="1"/>
          </p:cNvSpPr>
          <p:nvPr>
            <p:ph type="title"/>
          </p:nvPr>
        </p:nvSpPr>
        <p:spPr/>
        <p:txBody>
          <a:bodyPr/>
          <a:lstStyle/>
          <a:p>
            <a:r>
              <a:rPr lang="en-GB" dirty="0"/>
              <a:t>The Purpose and Stakeholders</a:t>
            </a:r>
          </a:p>
        </p:txBody>
      </p:sp>
      <p:sp>
        <p:nvSpPr>
          <p:cNvPr id="3" name="Content Placeholder 2">
            <a:extLst>
              <a:ext uri="{FF2B5EF4-FFF2-40B4-BE49-F238E27FC236}">
                <a16:creationId xmlns:a16="http://schemas.microsoft.com/office/drawing/2014/main" id="{184613C8-0F95-B8AE-09FA-AA5571C1E8BA}"/>
              </a:ext>
            </a:extLst>
          </p:cNvPr>
          <p:cNvSpPr>
            <a:spLocks noGrp="1"/>
          </p:cNvSpPr>
          <p:nvPr>
            <p:ph idx="1"/>
          </p:nvPr>
        </p:nvSpPr>
        <p:spPr/>
        <p:txBody>
          <a:bodyPr/>
          <a:lstStyle/>
          <a:p>
            <a:r>
              <a:rPr lang="en-GB" dirty="0"/>
              <a:t>Pick a company</a:t>
            </a:r>
          </a:p>
          <a:p>
            <a:r>
              <a:rPr lang="en-GB" dirty="0"/>
              <a:t>List their top 3 stakeholders (descriptive)</a:t>
            </a:r>
          </a:p>
          <a:p>
            <a:r>
              <a:rPr lang="en-GB" dirty="0"/>
              <a:t>How does keeping them happy help the bottom line? (instrumental)</a:t>
            </a:r>
          </a:p>
          <a:p>
            <a:r>
              <a:rPr lang="en-GB" dirty="0"/>
              <a:t>If the firm went bankrupt tomorrow, who deserves to be paid first based on moral merit rather than just legal contract? (normative)</a:t>
            </a:r>
          </a:p>
        </p:txBody>
      </p:sp>
      <p:sp>
        <p:nvSpPr>
          <p:cNvPr id="5" name="TextBox 4">
            <a:extLst>
              <a:ext uri="{FF2B5EF4-FFF2-40B4-BE49-F238E27FC236}">
                <a16:creationId xmlns:a16="http://schemas.microsoft.com/office/drawing/2014/main" id="{FEDB5221-8367-7C66-7B48-69FED2B356B5}"/>
              </a:ext>
            </a:extLst>
          </p:cNvPr>
          <p:cNvSpPr txBox="1"/>
          <p:nvPr/>
        </p:nvSpPr>
        <p:spPr>
          <a:xfrm>
            <a:off x="9475303" y="6424855"/>
            <a:ext cx="2431775" cy="307777"/>
          </a:xfrm>
          <a:prstGeom prst="rect">
            <a:avLst/>
          </a:prstGeom>
          <a:noFill/>
        </p:spPr>
        <p:txBody>
          <a:bodyPr wrap="square">
            <a:spAutoFit/>
          </a:bodyPr>
          <a:lstStyle/>
          <a:p>
            <a:r>
              <a:rPr lang="en-GB" sz="1400" dirty="0"/>
              <a:t>Donaldson &amp; Preston (1995)</a:t>
            </a:r>
          </a:p>
        </p:txBody>
      </p:sp>
    </p:spTree>
    <p:extLst>
      <p:ext uri="{BB962C8B-B14F-4D97-AF65-F5344CB8AC3E}">
        <p14:creationId xmlns:p14="http://schemas.microsoft.com/office/powerpoint/2010/main" val="3382951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ED01F-6681-6048-84BE-56086D5943F5}"/>
              </a:ext>
            </a:extLst>
          </p:cNvPr>
          <p:cNvSpPr>
            <a:spLocks noGrp="1"/>
          </p:cNvSpPr>
          <p:nvPr>
            <p:ph type="title"/>
          </p:nvPr>
        </p:nvSpPr>
        <p:spPr/>
        <p:txBody>
          <a:bodyPr/>
          <a:lstStyle/>
          <a:p>
            <a:r>
              <a:rPr lang="en-GB" dirty="0"/>
              <a:t>Examples of research questions</a:t>
            </a:r>
          </a:p>
        </p:txBody>
      </p:sp>
      <p:sp>
        <p:nvSpPr>
          <p:cNvPr id="3" name="Content Placeholder 2">
            <a:extLst>
              <a:ext uri="{FF2B5EF4-FFF2-40B4-BE49-F238E27FC236}">
                <a16:creationId xmlns:a16="http://schemas.microsoft.com/office/drawing/2014/main" id="{C1FC99E8-D4AA-73D3-D008-4590C8E5F5F7}"/>
              </a:ext>
            </a:extLst>
          </p:cNvPr>
          <p:cNvSpPr>
            <a:spLocks noGrp="1"/>
          </p:cNvSpPr>
          <p:nvPr>
            <p:ph idx="1"/>
          </p:nvPr>
        </p:nvSpPr>
        <p:spPr/>
        <p:txBody>
          <a:bodyPr>
            <a:normAutofit/>
          </a:bodyPr>
          <a:lstStyle/>
          <a:p>
            <a:pPr>
              <a:lnSpc>
                <a:spcPct val="100000"/>
              </a:lnSpc>
            </a:pPr>
            <a:r>
              <a:rPr lang="en-GB" sz="2000" dirty="0"/>
              <a:t>How do entrepreneurs behave and perceive their world?</a:t>
            </a:r>
          </a:p>
          <a:p>
            <a:pPr>
              <a:lnSpc>
                <a:spcPct val="100000"/>
              </a:lnSpc>
            </a:pPr>
            <a:r>
              <a:rPr lang="en-GB" sz="2000" dirty="0"/>
              <a:t>How does the descriptive map of a family-owned startup differ from a VC-backed startup? Who is excluded from the family firm’s constellation of interests?</a:t>
            </a:r>
          </a:p>
          <a:p>
            <a:pPr>
              <a:lnSpc>
                <a:spcPct val="100000"/>
              </a:lnSpc>
            </a:pPr>
            <a:r>
              <a:rPr lang="en-GB" sz="2000" dirty="0"/>
              <a:t>How do institutional pressures for profit erode the normative stakeholder commitments of a founding team over time?</a:t>
            </a:r>
          </a:p>
          <a:p>
            <a:pPr>
              <a:lnSpc>
                <a:spcPct val="100000"/>
              </a:lnSpc>
            </a:pPr>
            <a:r>
              <a:rPr lang="en-GB" sz="2000" dirty="0"/>
              <a:t>In the highly competitive war for talent, do startups that offer stakeholder governance (e.g., employee board seats or profit sharing) have lower turnover rates and higher innovation output than those that don’t?</a:t>
            </a:r>
          </a:p>
          <a:p>
            <a:pPr>
              <a:lnSpc>
                <a:spcPct val="100000"/>
              </a:lnSpc>
            </a:pPr>
            <a:r>
              <a:rPr lang="en-GB" sz="2000" dirty="0"/>
              <a:t>How do social entrepreneurs resolve the normative conflict when the interests of a marginalized community  directly clash with the financial survival of the firm?</a:t>
            </a:r>
          </a:p>
        </p:txBody>
      </p:sp>
    </p:spTree>
    <p:extLst>
      <p:ext uri="{BB962C8B-B14F-4D97-AF65-F5344CB8AC3E}">
        <p14:creationId xmlns:p14="http://schemas.microsoft.com/office/powerpoint/2010/main" val="2724715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C2E1A-B554-EA10-709D-BC451B851619}"/>
              </a:ext>
            </a:extLst>
          </p:cNvPr>
          <p:cNvSpPr>
            <a:spLocks noGrp="1"/>
          </p:cNvSpPr>
          <p:nvPr>
            <p:ph type="title"/>
          </p:nvPr>
        </p:nvSpPr>
        <p:spPr/>
        <p:txBody>
          <a:bodyPr/>
          <a:lstStyle/>
          <a:p>
            <a:pPr>
              <a:lnSpc>
                <a:spcPct val="110000"/>
              </a:lnSpc>
              <a:spcAft>
                <a:spcPts val="600"/>
              </a:spcAft>
            </a:pPr>
            <a:r>
              <a:rPr lang="en-GB" dirty="0"/>
              <a:t>Institutionalization</a:t>
            </a:r>
          </a:p>
        </p:txBody>
      </p:sp>
      <p:sp>
        <p:nvSpPr>
          <p:cNvPr id="3" name="Content Placeholder 2">
            <a:extLst>
              <a:ext uri="{FF2B5EF4-FFF2-40B4-BE49-F238E27FC236}">
                <a16:creationId xmlns:a16="http://schemas.microsoft.com/office/drawing/2014/main" id="{0D96439A-4552-45C2-28E9-B2CBDCDA755A}"/>
              </a:ext>
            </a:extLst>
          </p:cNvPr>
          <p:cNvSpPr>
            <a:spLocks noGrp="1"/>
          </p:cNvSpPr>
          <p:nvPr>
            <p:ph idx="1"/>
          </p:nvPr>
        </p:nvSpPr>
        <p:spPr/>
        <p:txBody>
          <a:bodyPr>
            <a:normAutofit fontScale="85000" lnSpcReduction="10000"/>
          </a:bodyPr>
          <a:lstStyle/>
          <a:p>
            <a:pPr>
              <a:lnSpc>
                <a:spcPct val="110000"/>
              </a:lnSpc>
              <a:spcAft>
                <a:spcPts val="600"/>
              </a:spcAft>
            </a:pPr>
            <a:r>
              <a:rPr lang="en-GB" dirty="0"/>
              <a:t>Selznick’s work focuses on the process by which a technical organisation is transformed into a social institution, a process he calls institutionalization</a:t>
            </a:r>
          </a:p>
          <a:p>
            <a:pPr>
              <a:lnSpc>
                <a:spcPct val="110000"/>
              </a:lnSpc>
              <a:spcAft>
                <a:spcPts val="600"/>
              </a:spcAft>
            </a:pPr>
            <a:r>
              <a:rPr lang="en-GB" dirty="0"/>
              <a:t>Institutionalization: The emergence of orderly, stable, and socially integrating patterns out of loosely organised or narrowly technical activities. Its most significant aspect is the infusion with value beyond the technical requirements of the task.</a:t>
            </a:r>
          </a:p>
          <a:p>
            <a:pPr>
              <a:lnSpc>
                <a:spcPct val="110000"/>
              </a:lnSpc>
              <a:spcAft>
                <a:spcPts val="600"/>
              </a:spcAft>
            </a:pPr>
            <a:r>
              <a:rPr lang="en-GB" dirty="0"/>
              <a:t>Institutionalization leads to the formation of an organisation's character (its distinctive way of responding to internal and external environments). This character can lead to a distinctive competence or, conversely, a built-in incapacity.</a:t>
            </a:r>
          </a:p>
        </p:txBody>
      </p:sp>
      <p:sp>
        <p:nvSpPr>
          <p:cNvPr id="4" name="TextBox 3">
            <a:extLst>
              <a:ext uri="{FF2B5EF4-FFF2-40B4-BE49-F238E27FC236}">
                <a16:creationId xmlns:a16="http://schemas.microsoft.com/office/drawing/2014/main" id="{DD93EFC2-D9AB-2780-3ED8-F966F2269A26}"/>
              </a:ext>
            </a:extLst>
          </p:cNvPr>
          <p:cNvSpPr txBox="1"/>
          <p:nvPr/>
        </p:nvSpPr>
        <p:spPr>
          <a:xfrm>
            <a:off x="7513983" y="6492875"/>
            <a:ext cx="4459357" cy="307777"/>
          </a:xfrm>
          <a:prstGeom prst="rect">
            <a:avLst/>
          </a:prstGeom>
          <a:noFill/>
        </p:spPr>
        <p:txBody>
          <a:bodyPr wrap="square">
            <a:spAutoFit/>
          </a:bodyPr>
          <a:lstStyle/>
          <a:p>
            <a:r>
              <a:rPr lang="en-GB" sz="1400" dirty="0"/>
              <a:t>DiMaggio &amp; Powell (1983) alongside Selznick (1996)</a:t>
            </a:r>
          </a:p>
        </p:txBody>
      </p:sp>
    </p:spTree>
    <p:extLst>
      <p:ext uri="{BB962C8B-B14F-4D97-AF65-F5344CB8AC3E}">
        <p14:creationId xmlns:p14="http://schemas.microsoft.com/office/powerpoint/2010/main" val="1865973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3C89C-FAFA-69D6-114E-BC4CD98835C2}"/>
              </a:ext>
            </a:extLst>
          </p:cNvPr>
          <p:cNvSpPr>
            <a:spLocks noGrp="1"/>
          </p:cNvSpPr>
          <p:nvPr>
            <p:ph type="title"/>
          </p:nvPr>
        </p:nvSpPr>
        <p:spPr/>
        <p:txBody>
          <a:bodyPr/>
          <a:lstStyle/>
          <a:p>
            <a:r>
              <a:rPr lang="en-GB" dirty="0"/>
              <a:t>Isomorphism</a:t>
            </a:r>
          </a:p>
        </p:txBody>
      </p:sp>
      <p:sp>
        <p:nvSpPr>
          <p:cNvPr id="3" name="Content Placeholder 2">
            <a:extLst>
              <a:ext uri="{FF2B5EF4-FFF2-40B4-BE49-F238E27FC236}">
                <a16:creationId xmlns:a16="http://schemas.microsoft.com/office/drawing/2014/main" id="{C67B0DD1-59C9-DD28-C10C-044465E464E9}"/>
              </a:ext>
            </a:extLst>
          </p:cNvPr>
          <p:cNvSpPr>
            <a:spLocks noGrp="1"/>
          </p:cNvSpPr>
          <p:nvPr>
            <p:ph idx="1"/>
          </p:nvPr>
        </p:nvSpPr>
        <p:spPr/>
        <p:txBody>
          <a:bodyPr>
            <a:normAutofit/>
          </a:bodyPr>
          <a:lstStyle/>
          <a:p>
            <a:pPr>
              <a:lnSpc>
                <a:spcPct val="120000"/>
              </a:lnSpc>
              <a:spcBef>
                <a:spcPts val="0"/>
              </a:spcBef>
              <a:spcAft>
                <a:spcPts val="1200"/>
              </a:spcAft>
            </a:pPr>
            <a:r>
              <a:rPr lang="en-GB" sz="2000" dirty="0"/>
              <a:t>DiMaggio and Powell shifted the focus from the individual organisation's character to the organisational field, asking why organisations in the same sector become so strikingly similar</a:t>
            </a:r>
          </a:p>
          <a:p>
            <a:pPr>
              <a:lnSpc>
                <a:spcPct val="120000"/>
              </a:lnSpc>
              <a:spcBef>
                <a:spcPts val="0"/>
              </a:spcBef>
              <a:spcAft>
                <a:spcPts val="1200"/>
              </a:spcAft>
            </a:pPr>
            <a:r>
              <a:rPr lang="en-GB" sz="2000" dirty="0"/>
              <a:t>Institutional Isomorphism: A constraining process that forces one unit in a population to resemble other units that face the same environmental conditions .</a:t>
            </a:r>
          </a:p>
          <a:p>
            <a:pPr>
              <a:lnSpc>
                <a:spcPct val="120000"/>
              </a:lnSpc>
              <a:spcBef>
                <a:spcPts val="0"/>
              </a:spcBef>
              <a:spcAft>
                <a:spcPts val="1200"/>
              </a:spcAft>
            </a:pPr>
            <a:r>
              <a:rPr lang="en-GB" sz="2000" dirty="0"/>
              <a:t>The Three Isomorphism Mechanisms:</a:t>
            </a:r>
          </a:p>
          <a:p>
            <a:pPr lvl="1">
              <a:lnSpc>
                <a:spcPct val="120000"/>
              </a:lnSpc>
              <a:spcBef>
                <a:spcPts val="0"/>
              </a:spcBef>
              <a:spcAft>
                <a:spcPts val="1200"/>
              </a:spcAft>
            </a:pPr>
            <a:r>
              <a:rPr lang="en-GB" sz="1600" dirty="0"/>
              <a:t>Coercive: Pressures from the state or other powerful organisations (e.g., ESG mandates).</a:t>
            </a:r>
          </a:p>
          <a:p>
            <a:pPr lvl="1">
              <a:lnSpc>
                <a:spcPct val="120000"/>
              </a:lnSpc>
              <a:spcBef>
                <a:spcPts val="0"/>
              </a:spcBef>
              <a:spcAft>
                <a:spcPts val="1200"/>
              </a:spcAft>
            </a:pPr>
            <a:r>
              <a:rPr lang="en-GB" sz="1600" dirty="0"/>
              <a:t>Mimetic: Copying others to deal with uncertainty (e.g., everyone launching an "AI Lab" because they don't know what else to do).</a:t>
            </a:r>
          </a:p>
          <a:p>
            <a:pPr lvl="1">
              <a:lnSpc>
                <a:spcPct val="120000"/>
              </a:lnSpc>
              <a:spcBef>
                <a:spcPts val="0"/>
              </a:spcBef>
              <a:spcAft>
                <a:spcPts val="1200"/>
              </a:spcAft>
            </a:pPr>
            <a:r>
              <a:rPr lang="en-GB" sz="1600" dirty="0"/>
              <a:t>Normative: Professional standards and networks (e.g., what all MBAs or all HR professionals are taught to do).</a:t>
            </a:r>
          </a:p>
        </p:txBody>
      </p:sp>
      <p:sp>
        <p:nvSpPr>
          <p:cNvPr id="5" name="TextBox 4">
            <a:extLst>
              <a:ext uri="{FF2B5EF4-FFF2-40B4-BE49-F238E27FC236}">
                <a16:creationId xmlns:a16="http://schemas.microsoft.com/office/drawing/2014/main" id="{B0B365F6-96ED-A1BA-705C-F1EF02550C71}"/>
              </a:ext>
            </a:extLst>
          </p:cNvPr>
          <p:cNvSpPr txBox="1"/>
          <p:nvPr/>
        </p:nvSpPr>
        <p:spPr>
          <a:xfrm>
            <a:off x="7513983" y="6492875"/>
            <a:ext cx="4459357" cy="307777"/>
          </a:xfrm>
          <a:prstGeom prst="rect">
            <a:avLst/>
          </a:prstGeom>
          <a:noFill/>
        </p:spPr>
        <p:txBody>
          <a:bodyPr wrap="square">
            <a:spAutoFit/>
          </a:bodyPr>
          <a:lstStyle/>
          <a:p>
            <a:r>
              <a:rPr lang="en-GB" sz="1400" dirty="0"/>
              <a:t>DiMaggio &amp; Powell (1983) alongside Selznick (1996)</a:t>
            </a:r>
          </a:p>
        </p:txBody>
      </p:sp>
    </p:spTree>
    <p:extLst>
      <p:ext uri="{BB962C8B-B14F-4D97-AF65-F5344CB8AC3E}">
        <p14:creationId xmlns:p14="http://schemas.microsoft.com/office/powerpoint/2010/main" val="2945097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DCE64-CBB6-AAE6-2F5A-C85FC7F5B985}"/>
              </a:ext>
            </a:extLst>
          </p:cNvPr>
          <p:cNvSpPr>
            <a:spLocks noGrp="1"/>
          </p:cNvSpPr>
          <p:nvPr>
            <p:ph type="title"/>
          </p:nvPr>
        </p:nvSpPr>
        <p:spPr/>
        <p:txBody>
          <a:bodyPr/>
          <a:lstStyle/>
          <a:p>
            <a:r>
              <a:rPr lang="en-GB" dirty="0"/>
              <a:t>Isomorphism</a:t>
            </a:r>
          </a:p>
        </p:txBody>
      </p:sp>
      <p:sp>
        <p:nvSpPr>
          <p:cNvPr id="3" name="Content Placeholder 2">
            <a:extLst>
              <a:ext uri="{FF2B5EF4-FFF2-40B4-BE49-F238E27FC236}">
                <a16:creationId xmlns:a16="http://schemas.microsoft.com/office/drawing/2014/main" id="{1991E973-4CFF-B614-B260-71BAF22FC336}"/>
              </a:ext>
            </a:extLst>
          </p:cNvPr>
          <p:cNvSpPr>
            <a:spLocks noGrp="1"/>
          </p:cNvSpPr>
          <p:nvPr>
            <p:ph idx="1"/>
          </p:nvPr>
        </p:nvSpPr>
        <p:spPr/>
        <p:txBody>
          <a:bodyPr/>
          <a:lstStyle/>
          <a:p>
            <a:r>
              <a:rPr lang="en-GB" dirty="0"/>
              <a:t>Identify an industry where everyone looks the same.</a:t>
            </a:r>
          </a:p>
          <a:p>
            <a:r>
              <a:rPr lang="en-GB" dirty="0"/>
              <a:t>Is this because it's efficient, or is it one of the three isomorphisms?</a:t>
            </a:r>
          </a:p>
        </p:txBody>
      </p:sp>
    </p:spTree>
    <p:extLst>
      <p:ext uri="{BB962C8B-B14F-4D97-AF65-F5344CB8AC3E}">
        <p14:creationId xmlns:p14="http://schemas.microsoft.com/office/powerpoint/2010/main" val="3851562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04989-801A-3F36-BFA3-45A06D3565A0}"/>
              </a:ext>
            </a:extLst>
          </p:cNvPr>
          <p:cNvSpPr>
            <a:spLocks noGrp="1"/>
          </p:cNvSpPr>
          <p:nvPr>
            <p:ph type="title"/>
          </p:nvPr>
        </p:nvSpPr>
        <p:spPr/>
        <p:txBody>
          <a:bodyPr/>
          <a:lstStyle/>
          <a:p>
            <a:r>
              <a:rPr lang="en-GB" dirty="0"/>
              <a:t>Institutionalisation and Isomorphism</a:t>
            </a:r>
          </a:p>
        </p:txBody>
      </p:sp>
      <p:graphicFrame>
        <p:nvGraphicFramePr>
          <p:cNvPr id="5" name="Content Placeholder 4">
            <a:extLst>
              <a:ext uri="{FF2B5EF4-FFF2-40B4-BE49-F238E27FC236}">
                <a16:creationId xmlns:a16="http://schemas.microsoft.com/office/drawing/2014/main" id="{3D9E9976-BF67-A42C-891E-9E8849E4FBEF}"/>
              </a:ext>
            </a:extLst>
          </p:cNvPr>
          <p:cNvGraphicFramePr>
            <a:graphicFrameLocks noGrp="1"/>
          </p:cNvGraphicFramePr>
          <p:nvPr>
            <p:ph idx="1"/>
            <p:extLst>
              <p:ext uri="{D42A27DB-BD31-4B8C-83A1-F6EECF244321}">
                <p14:modId xmlns:p14="http://schemas.microsoft.com/office/powerpoint/2010/main" val="1819106508"/>
              </p:ext>
            </p:extLst>
          </p:nvPr>
        </p:nvGraphicFramePr>
        <p:xfrm>
          <a:off x="1128049" y="1912095"/>
          <a:ext cx="9623151" cy="4580780"/>
        </p:xfrm>
        <a:graphic>
          <a:graphicData uri="http://schemas.openxmlformats.org/drawingml/2006/table">
            <a:tbl>
              <a:tblPr>
                <a:tableStyleId>{5940675A-B579-460E-94D1-54222C63F5DA}</a:tableStyleId>
              </a:tblPr>
              <a:tblGrid>
                <a:gridCol w="3009981">
                  <a:extLst>
                    <a:ext uri="{9D8B030D-6E8A-4147-A177-3AD203B41FA5}">
                      <a16:colId xmlns:a16="http://schemas.microsoft.com/office/drawing/2014/main" val="2595800315"/>
                    </a:ext>
                  </a:extLst>
                </a:gridCol>
                <a:gridCol w="3009981">
                  <a:extLst>
                    <a:ext uri="{9D8B030D-6E8A-4147-A177-3AD203B41FA5}">
                      <a16:colId xmlns:a16="http://schemas.microsoft.com/office/drawing/2014/main" val="2634120946"/>
                    </a:ext>
                  </a:extLst>
                </a:gridCol>
                <a:gridCol w="3603189">
                  <a:extLst>
                    <a:ext uri="{9D8B030D-6E8A-4147-A177-3AD203B41FA5}">
                      <a16:colId xmlns:a16="http://schemas.microsoft.com/office/drawing/2014/main" val="1649275375"/>
                    </a:ext>
                  </a:extLst>
                </a:gridCol>
              </a:tblGrid>
              <a:tr h="641543">
                <a:tc>
                  <a:txBody>
                    <a:bodyPr/>
                    <a:lstStyle/>
                    <a:p>
                      <a:pPr rtl="0">
                        <a:buNone/>
                      </a:pPr>
                      <a:r>
                        <a:rPr lang="en-GB" sz="1600" b="1" dirty="0">
                          <a:solidFill>
                            <a:srgbClr val="1F1F1F"/>
                          </a:solidFill>
                          <a:effectLst/>
                        </a:rPr>
                        <a:t>Feature</a:t>
                      </a:r>
                      <a:endParaRPr lang="en-GB" sz="1600" dirty="0">
                        <a:solidFill>
                          <a:srgbClr val="1F1F1F"/>
                        </a:solidFill>
                        <a:effectLst/>
                        <a:latin typeface="Google Sans Text"/>
                      </a:endParaRPr>
                    </a:p>
                  </a:txBody>
                  <a:tcPr marL="83680" marR="52300" marT="69733" marB="69733" anchor="ctr">
                    <a:solidFill>
                      <a:schemeClr val="tx2">
                        <a:lumMod val="25000"/>
                        <a:lumOff val="75000"/>
                      </a:schemeClr>
                    </a:solidFill>
                  </a:tcPr>
                </a:tc>
                <a:tc>
                  <a:txBody>
                    <a:bodyPr/>
                    <a:lstStyle/>
                    <a:p>
                      <a:pPr rtl="0">
                        <a:buNone/>
                      </a:pPr>
                      <a:r>
                        <a:rPr lang="en-GB" sz="1600" b="1" dirty="0">
                          <a:solidFill>
                            <a:srgbClr val="1F1F1F"/>
                          </a:solidFill>
                          <a:effectLst/>
                        </a:rPr>
                        <a:t>Old Institutionalism (Selznick)</a:t>
                      </a:r>
                      <a:endParaRPr lang="en-GB" sz="1600" dirty="0">
                        <a:solidFill>
                          <a:srgbClr val="1F1F1F"/>
                        </a:solidFill>
                        <a:effectLst/>
                        <a:latin typeface="Google Sans Text"/>
                      </a:endParaRPr>
                    </a:p>
                  </a:txBody>
                  <a:tcPr marL="83680" marR="52300" marT="69733" marB="69733" anchor="ctr">
                    <a:solidFill>
                      <a:schemeClr val="tx2">
                        <a:lumMod val="25000"/>
                        <a:lumOff val="75000"/>
                      </a:schemeClr>
                    </a:solidFill>
                  </a:tcPr>
                </a:tc>
                <a:tc>
                  <a:txBody>
                    <a:bodyPr/>
                    <a:lstStyle/>
                    <a:p>
                      <a:pPr rtl="0">
                        <a:buNone/>
                      </a:pPr>
                      <a:r>
                        <a:rPr lang="en-GB" sz="1600" b="1" dirty="0">
                          <a:solidFill>
                            <a:srgbClr val="1F1F1F"/>
                          </a:solidFill>
                          <a:effectLst/>
                        </a:rPr>
                        <a:t>New Institutionalism (DiMaggio &amp; Powell)</a:t>
                      </a:r>
                      <a:endParaRPr lang="en-GB" sz="1600" dirty="0">
                        <a:solidFill>
                          <a:srgbClr val="1F1F1F"/>
                        </a:solidFill>
                        <a:effectLst/>
                        <a:latin typeface="Google Sans Text"/>
                      </a:endParaRPr>
                    </a:p>
                  </a:txBody>
                  <a:tcPr marL="83680" marR="83680" marT="69733" marB="69733" anchor="ctr">
                    <a:solidFill>
                      <a:schemeClr val="tx2">
                        <a:lumMod val="25000"/>
                        <a:lumOff val="75000"/>
                      </a:schemeClr>
                    </a:solidFill>
                  </a:tcPr>
                </a:tc>
                <a:extLst>
                  <a:ext uri="{0D108BD9-81ED-4DB2-BD59-A6C34878D82A}">
                    <a16:rowId xmlns:a16="http://schemas.microsoft.com/office/drawing/2014/main" val="566637960"/>
                  </a:ext>
                </a:extLst>
              </a:tr>
              <a:tr h="390505">
                <a:tc>
                  <a:txBody>
                    <a:bodyPr/>
                    <a:lstStyle/>
                    <a:p>
                      <a:pPr rtl="0">
                        <a:buNone/>
                      </a:pPr>
                      <a:r>
                        <a:rPr lang="en-GB" sz="1600" b="1">
                          <a:solidFill>
                            <a:srgbClr val="1F1F1F"/>
                          </a:solidFill>
                          <a:effectLst/>
                        </a:rPr>
                        <a:t>Level of Analysis</a:t>
                      </a:r>
                      <a:endParaRPr lang="en-GB" sz="1600">
                        <a:solidFill>
                          <a:srgbClr val="1F1F1F"/>
                        </a:solidFill>
                        <a:effectLst/>
                        <a:latin typeface="Google Sans Text"/>
                      </a:endParaRPr>
                    </a:p>
                  </a:txBody>
                  <a:tcPr marL="83680" marR="52300" marT="69733" marB="69733" anchor="ctr"/>
                </a:tc>
                <a:tc>
                  <a:txBody>
                    <a:bodyPr/>
                    <a:lstStyle/>
                    <a:p>
                      <a:pPr rtl="0">
                        <a:buNone/>
                      </a:pPr>
                      <a:r>
                        <a:rPr lang="en-GB" sz="1600" dirty="0">
                          <a:solidFill>
                            <a:srgbClr val="1F1F1F"/>
                          </a:solidFill>
                          <a:effectLst/>
                        </a:rPr>
                        <a:t>The specific organisation .</a:t>
                      </a:r>
                      <a:endParaRPr lang="en-GB" sz="1600" dirty="0">
                        <a:solidFill>
                          <a:srgbClr val="1F1F1F"/>
                        </a:solidFill>
                        <a:effectLst/>
                        <a:latin typeface="Google Sans Text"/>
                      </a:endParaRPr>
                    </a:p>
                  </a:txBody>
                  <a:tcPr marL="83680" marR="52300" marT="69733" marB="69733" anchor="ctr"/>
                </a:tc>
                <a:tc>
                  <a:txBody>
                    <a:bodyPr/>
                    <a:lstStyle/>
                    <a:p>
                      <a:pPr rtl="0">
                        <a:buNone/>
                      </a:pPr>
                      <a:r>
                        <a:rPr lang="en-GB" sz="1600" dirty="0">
                          <a:solidFill>
                            <a:srgbClr val="1F1F1F"/>
                          </a:solidFill>
                          <a:effectLst/>
                        </a:rPr>
                        <a:t>The organisational field.</a:t>
                      </a:r>
                      <a:endParaRPr lang="en-GB" sz="1600" dirty="0">
                        <a:solidFill>
                          <a:srgbClr val="1F1F1F"/>
                        </a:solidFill>
                        <a:effectLst/>
                        <a:latin typeface="Google Sans Text"/>
                      </a:endParaRPr>
                    </a:p>
                  </a:txBody>
                  <a:tcPr marL="83680" marR="83680" marT="69733" marB="69733" anchor="ctr"/>
                </a:tc>
                <a:extLst>
                  <a:ext uri="{0D108BD9-81ED-4DB2-BD59-A6C34878D82A}">
                    <a16:rowId xmlns:a16="http://schemas.microsoft.com/office/drawing/2014/main" val="1713365007"/>
                  </a:ext>
                </a:extLst>
              </a:tr>
              <a:tr h="1143621">
                <a:tc>
                  <a:txBody>
                    <a:bodyPr/>
                    <a:lstStyle/>
                    <a:p>
                      <a:pPr rtl="0">
                        <a:buNone/>
                      </a:pPr>
                      <a:r>
                        <a:rPr lang="en-GB" sz="1600" b="1">
                          <a:solidFill>
                            <a:srgbClr val="1F1F1F"/>
                          </a:solidFill>
                          <a:effectLst/>
                        </a:rPr>
                        <a:t>Core Mechanism</a:t>
                      </a:r>
                      <a:endParaRPr lang="en-GB" sz="1600">
                        <a:solidFill>
                          <a:srgbClr val="1F1F1F"/>
                        </a:solidFill>
                        <a:effectLst/>
                        <a:latin typeface="Google Sans Text"/>
                      </a:endParaRPr>
                    </a:p>
                  </a:txBody>
                  <a:tcPr marL="83680" marR="52300" marT="69733" marB="69733" anchor="ctr"/>
                </a:tc>
                <a:tc>
                  <a:txBody>
                    <a:bodyPr/>
                    <a:lstStyle/>
                    <a:p>
                      <a:pPr rtl="0">
                        <a:buNone/>
                      </a:pPr>
                      <a:r>
                        <a:rPr lang="en-GB" sz="1600" b="1" dirty="0">
                          <a:solidFill>
                            <a:srgbClr val="1F1F1F"/>
                          </a:solidFill>
                          <a:effectLst/>
                        </a:rPr>
                        <a:t>Infusion with value:</a:t>
                      </a:r>
                      <a:r>
                        <a:rPr lang="en-GB" sz="1600" dirty="0">
                          <a:solidFill>
                            <a:srgbClr val="1F1F1F"/>
                          </a:solidFill>
                          <a:effectLst/>
                        </a:rPr>
                        <a:t> Organisations gain character through internal and external adaptation.</a:t>
                      </a:r>
                      <a:endParaRPr lang="en-GB" sz="1600" dirty="0">
                        <a:solidFill>
                          <a:srgbClr val="1F1F1F"/>
                        </a:solidFill>
                        <a:effectLst/>
                        <a:latin typeface="Google Sans Text"/>
                      </a:endParaRPr>
                    </a:p>
                  </a:txBody>
                  <a:tcPr marL="83680" marR="52300" marT="69733" marB="69733" anchor="ctr"/>
                </a:tc>
                <a:tc>
                  <a:txBody>
                    <a:bodyPr/>
                    <a:lstStyle/>
                    <a:p>
                      <a:pPr rtl="0">
                        <a:buNone/>
                      </a:pPr>
                      <a:r>
                        <a:rPr lang="en-GB" sz="1600" b="1" dirty="0">
                          <a:solidFill>
                            <a:srgbClr val="1F1F1F"/>
                          </a:solidFill>
                          <a:effectLst/>
                        </a:rPr>
                        <a:t>Isomorphism:</a:t>
                      </a:r>
                      <a:r>
                        <a:rPr lang="en-GB" sz="1600" dirty="0">
                          <a:solidFill>
                            <a:srgbClr val="1F1F1F"/>
                          </a:solidFill>
                          <a:effectLst/>
                        </a:rPr>
                        <a:t> Organisations seek legitimacy by copying others or following scripts.</a:t>
                      </a:r>
                      <a:endParaRPr lang="en-GB" sz="1600" dirty="0">
                        <a:solidFill>
                          <a:srgbClr val="1F1F1F"/>
                        </a:solidFill>
                        <a:effectLst/>
                        <a:latin typeface="Google Sans Text"/>
                      </a:endParaRPr>
                    </a:p>
                  </a:txBody>
                  <a:tcPr marL="83680" marR="83680" marT="69733" marB="69733" anchor="ctr"/>
                </a:tc>
                <a:extLst>
                  <a:ext uri="{0D108BD9-81ED-4DB2-BD59-A6C34878D82A}">
                    <a16:rowId xmlns:a16="http://schemas.microsoft.com/office/drawing/2014/main" val="180676095"/>
                  </a:ext>
                </a:extLst>
              </a:tr>
              <a:tr h="892582">
                <a:tc>
                  <a:txBody>
                    <a:bodyPr/>
                    <a:lstStyle/>
                    <a:p>
                      <a:pPr rtl="0">
                        <a:buNone/>
                      </a:pPr>
                      <a:r>
                        <a:rPr lang="en-GB" sz="1600" b="1">
                          <a:solidFill>
                            <a:srgbClr val="1F1F1F"/>
                          </a:solidFill>
                          <a:effectLst/>
                        </a:rPr>
                        <a:t>Key Variable</a:t>
                      </a:r>
                      <a:endParaRPr lang="en-GB" sz="1600">
                        <a:solidFill>
                          <a:srgbClr val="1F1F1F"/>
                        </a:solidFill>
                        <a:effectLst/>
                        <a:latin typeface="Google Sans Text"/>
                      </a:endParaRPr>
                    </a:p>
                  </a:txBody>
                  <a:tcPr marL="83680" marR="52300" marT="69733" marB="69733" anchor="ctr"/>
                </a:tc>
                <a:tc>
                  <a:txBody>
                    <a:bodyPr/>
                    <a:lstStyle/>
                    <a:p>
                      <a:pPr rtl="0">
                        <a:buNone/>
                      </a:pPr>
                      <a:r>
                        <a:rPr lang="en-GB" sz="1600" b="1">
                          <a:solidFill>
                            <a:srgbClr val="1F1F1F"/>
                          </a:solidFill>
                          <a:effectLst/>
                        </a:rPr>
                        <a:t>Values and Norms:</a:t>
                      </a:r>
                      <a:r>
                        <a:rPr lang="en-GB" sz="1600">
                          <a:solidFill>
                            <a:srgbClr val="1F1F1F"/>
                          </a:solidFill>
                          <a:effectLst/>
                        </a:rPr>
                        <a:t> Deeply held commitments and social entanglements.</a:t>
                      </a:r>
                      <a:endParaRPr lang="en-GB" sz="1600">
                        <a:solidFill>
                          <a:srgbClr val="1F1F1F"/>
                        </a:solidFill>
                        <a:effectLst/>
                        <a:latin typeface="Google Sans Text"/>
                      </a:endParaRPr>
                    </a:p>
                  </a:txBody>
                  <a:tcPr marL="83680" marR="52300" marT="69733" marB="69733" anchor="ctr"/>
                </a:tc>
                <a:tc>
                  <a:txBody>
                    <a:bodyPr/>
                    <a:lstStyle/>
                    <a:p>
                      <a:pPr rtl="0">
                        <a:buNone/>
                      </a:pPr>
                      <a:r>
                        <a:rPr lang="en-GB" sz="1600" b="1">
                          <a:solidFill>
                            <a:srgbClr val="1F1F1F"/>
                          </a:solidFill>
                          <a:effectLst/>
                        </a:rPr>
                        <a:t>Cognition and Legitimacy:</a:t>
                      </a:r>
                      <a:r>
                        <a:rPr lang="en-GB" sz="1600">
                          <a:solidFill>
                            <a:srgbClr val="1F1F1F"/>
                          </a:solidFill>
                          <a:effectLst/>
                        </a:rPr>
                        <a:t> Taken-for-granted scripts, classifications, and rituals.</a:t>
                      </a:r>
                      <a:endParaRPr lang="en-GB" sz="1600">
                        <a:solidFill>
                          <a:srgbClr val="1F1F1F"/>
                        </a:solidFill>
                        <a:effectLst/>
                        <a:latin typeface="Google Sans Text"/>
                      </a:endParaRPr>
                    </a:p>
                  </a:txBody>
                  <a:tcPr marL="83680" marR="83680" marT="69733" marB="69733" anchor="ctr"/>
                </a:tc>
                <a:extLst>
                  <a:ext uri="{0D108BD9-81ED-4DB2-BD59-A6C34878D82A}">
                    <a16:rowId xmlns:a16="http://schemas.microsoft.com/office/drawing/2014/main" val="3870713176"/>
                  </a:ext>
                </a:extLst>
              </a:tr>
              <a:tr h="641543">
                <a:tc>
                  <a:txBody>
                    <a:bodyPr/>
                    <a:lstStyle/>
                    <a:p>
                      <a:pPr rtl="0">
                        <a:buNone/>
                      </a:pPr>
                      <a:r>
                        <a:rPr lang="en-GB" sz="1600" b="1">
                          <a:solidFill>
                            <a:srgbClr val="1F1F1F"/>
                          </a:solidFill>
                          <a:effectLst/>
                        </a:rPr>
                        <a:t>View of Change</a:t>
                      </a:r>
                      <a:endParaRPr lang="en-GB" sz="1600">
                        <a:solidFill>
                          <a:srgbClr val="1F1F1F"/>
                        </a:solidFill>
                        <a:effectLst/>
                        <a:latin typeface="Google Sans Text"/>
                      </a:endParaRPr>
                    </a:p>
                  </a:txBody>
                  <a:tcPr marL="83680" marR="52300" marT="69733" marB="69733" anchor="ctr"/>
                </a:tc>
                <a:tc>
                  <a:txBody>
                    <a:bodyPr/>
                    <a:lstStyle/>
                    <a:p>
                      <a:pPr rtl="0">
                        <a:buNone/>
                      </a:pPr>
                      <a:r>
                        <a:rPr lang="en-GB" sz="1600" dirty="0">
                          <a:solidFill>
                            <a:srgbClr val="1F1F1F"/>
                          </a:solidFill>
                          <a:effectLst/>
                        </a:rPr>
                        <a:t>Emergent from actual social tensions, needs, and troubles.</a:t>
                      </a:r>
                      <a:endParaRPr lang="en-GB" sz="1600" dirty="0">
                        <a:solidFill>
                          <a:srgbClr val="1F1F1F"/>
                        </a:solidFill>
                        <a:effectLst/>
                        <a:latin typeface="Google Sans Text"/>
                      </a:endParaRPr>
                    </a:p>
                  </a:txBody>
                  <a:tcPr marL="83680" marR="52300" marT="69733" marB="69733" anchor="ctr"/>
                </a:tc>
                <a:tc>
                  <a:txBody>
                    <a:bodyPr/>
                    <a:lstStyle/>
                    <a:p>
                      <a:pPr rtl="0">
                        <a:buNone/>
                      </a:pPr>
                      <a:r>
                        <a:rPr lang="en-GB" sz="1600">
                          <a:solidFill>
                            <a:srgbClr val="1F1F1F"/>
                          </a:solidFill>
                          <a:effectLst/>
                        </a:rPr>
                        <a:t>Often ceremonial, driven by the need to appear legitimate rather than efficiency.</a:t>
                      </a:r>
                      <a:endParaRPr lang="en-GB" sz="1600">
                        <a:solidFill>
                          <a:srgbClr val="1F1F1F"/>
                        </a:solidFill>
                        <a:effectLst/>
                        <a:latin typeface="Google Sans Text"/>
                      </a:endParaRPr>
                    </a:p>
                  </a:txBody>
                  <a:tcPr marL="83680" marR="83680" marT="69733" marB="69733" anchor="ctr"/>
                </a:tc>
                <a:extLst>
                  <a:ext uri="{0D108BD9-81ED-4DB2-BD59-A6C34878D82A}">
                    <a16:rowId xmlns:a16="http://schemas.microsoft.com/office/drawing/2014/main" val="1588059779"/>
                  </a:ext>
                </a:extLst>
              </a:tr>
              <a:tr h="641543">
                <a:tc>
                  <a:txBody>
                    <a:bodyPr/>
                    <a:lstStyle/>
                    <a:p>
                      <a:pPr rtl="0">
                        <a:buNone/>
                      </a:pPr>
                      <a:r>
                        <a:rPr lang="en-GB" sz="1600" b="1">
                          <a:solidFill>
                            <a:srgbClr val="1F1F1F"/>
                          </a:solidFill>
                          <a:effectLst/>
                        </a:rPr>
                        <a:t>Outcome</a:t>
                      </a:r>
                      <a:endParaRPr lang="en-GB" sz="1600">
                        <a:solidFill>
                          <a:srgbClr val="1F1F1F"/>
                        </a:solidFill>
                        <a:effectLst/>
                        <a:latin typeface="Google Sans Text"/>
                      </a:endParaRPr>
                    </a:p>
                  </a:txBody>
                  <a:tcPr marL="83680" marR="52300" marT="69733" marB="69733" anchor="ctr"/>
                </a:tc>
                <a:tc>
                  <a:txBody>
                    <a:bodyPr/>
                    <a:lstStyle/>
                    <a:p>
                      <a:pPr rtl="0">
                        <a:buNone/>
                      </a:pPr>
                      <a:r>
                        <a:rPr lang="en-GB" sz="1600" dirty="0">
                          <a:solidFill>
                            <a:srgbClr val="1F1F1F"/>
                          </a:solidFill>
                          <a:effectLst/>
                        </a:rPr>
                        <a:t>Distinctiveness, character, and competence.</a:t>
                      </a:r>
                      <a:endParaRPr lang="en-GB" sz="1600" dirty="0">
                        <a:solidFill>
                          <a:srgbClr val="1F1F1F"/>
                        </a:solidFill>
                        <a:effectLst/>
                        <a:latin typeface="Google Sans Text"/>
                      </a:endParaRPr>
                    </a:p>
                  </a:txBody>
                  <a:tcPr marL="83680" marR="52300" marT="69733" marB="69733" anchor="ctr"/>
                </a:tc>
                <a:tc>
                  <a:txBody>
                    <a:bodyPr/>
                    <a:lstStyle/>
                    <a:p>
                      <a:pPr rtl="0">
                        <a:buNone/>
                      </a:pPr>
                      <a:r>
                        <a:rPr lang="en-GB" sz="1600" dirty="0">
                          <a:solidFill>
                            <a:srgbClr val="1F1F1F"/>
                          </a:solidFill>
                          <a:effectLst/>
                        </a:rPr>
                        <a:t>Homogeneity and lack of innovation (The Iron Cage).</a:t>
                      </a:r>
                      <a:endParaRPr lang="en-GB" sz="1600" dirty="0">
                        <a:solidFill>
                          <a:srgbClr val="1F1F1F"/>
                        </a:solidFill>
                        <a:effectLst/>
                        <a:latin typeface="Google Sans Text"/>
                      </a:endParaRPr>
                    </a:p>
                  </a:txBody>
                  <a:tcPr marL="83680" marR="83680" marT="69733" marB="69733" anchor="ctr"/>
                </a:tc>
                <a:extLst>
                  <a:ext uri="{0D108BD9-81ED-4DB2-BD59-A6C34878D82A}">
                    <a16:rowId xmlns:a16="http://schemas.microsoft.com/office/drawing/2014/main" val="3302061422"/>
                  </a:ext>
                </a:extLst>
              </a:tr>
            </a:tbl>
          </a:graphicData>
        </a:graphic>
      </p:graphicFrame>
    </p:spTree>
    <p:extLst>
      <p:ext uri="{BB962C8B-B14F-4D97-AF65-F5344CB8AC3E}">
        <p14:creationId xmlns:p14="http://schemas.microsoft.com/office/powerpoint/2010/main" val="809263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D3DFE-35FE-4D6C-F7D2-5C572C80FF59}"/>
              </a:ext>
            </a:extLst>
          </p:cNvPr>
          <p:cNvSpPr>
            <a:spLocks noGrp="1"/>
          </p:cNvSpPr>
          <p:nvPr>
            <p:ph type="title"/>
          </p:nvPr>
        </p:nvSpPr>
        <p:spPr/>
        <p:txBody>
          <a:bodyPr/>
          <a:lstStyle/>
          <a:p>
            <a:r>
              <a:rPr lang="en-GB" dirty="0"/>
              <a:t>A unified framework</a:t>
            </a:r>
          </a:p>
        </p:txBody>
      </p:sp>
      <p:sp>
        <p:nvSpPr>
          <p:cNvPr id="3" name="Content Placeholder 2">
            <a:extLst>
              <a:ext uri="{FF2B5EF4-FFF2-40B4-BE49-F238E27FC236}">
                <a16:creationId xmlns:a16="http://schemas.microsoft.com/office/drawing/2014/main" id="{87527978-F205-4555-F417-09890BBEB6AE}"/>
              </a:ext>
            </a:extLst>
          </p:cNvPr>
          <p:cNvSpPr>
            <a:spLocks noGrp="1"/>
          </p:cNvSpPr>
          <p:nvPr>
            <p:ph idx="1"/>
          </p:nvPr>
        </p:nvSpPr>
        <p:spPr/>
        <p:txBody>
          <a:bodyPr>
            <a:normAutofit fontScale="62500" lnSpcReduction="20000"/>
          </a:bodyPr>
          <a:lstStyle/>
          <a:p>
            <a:pPr>
              <a:lnSpc>
                <a:spcPct val="110000"/>
              </a:lnSpc>
              <a:spcBef>
                <a:spcPts val="0"/>
              </a:spcBef>
              <a:spcAft>
                <a:spcPts val="1200"/>
              </a:spcAft>
            </a:pPr>
            <a:r>
              <a:rPr lang="en-GB" dirty="0"/>
              <a:t>Scott (2010) provides a unified framework that organises these diverse ideas into a comprehensive research toolkit</a:t>
            </a:r>
          </a:p>
          <a:p>
            <a:pPr>
              <a:lnSpc>
                <a:spcPct val="110000"/>
              </a:lnSpc>
              <a:spcBef>
                <a:spcPts val="0"/>
              </a:spcBef>
              <a:spcAft>
                <a:spcPts val="1200"/>
              </a:spcAft>
            </a:pPr>
            <a:r>
              <a:rPr lang="en-GB" dirty="0"/>
              <a:t>While the earlier papers are often used to explain why organisations stay the same, Scott (2010) proposes to study institutional change.</a:t>
            </a:r>
          </a:p>
          <a:p>
            <a:pPr>
              <a:lnSpc>
                <a:spcPct val="110000"/>
              </a:lnSpc>
              <a:spcBef>
                <a:spcPts val="0"/>
              </a:spcBef>
              <a:spcAft>
                <a:spcPts val="1200"/>
              </a:spcAft>
            </a:pPr>
            <a:r>
              <a:rPr lang="en-GB" dirty="0"/>
              <a:t>Scott expands the Organisational Field concept introduced by DiMaggio &amp; Powell. He moves beyond just similar organisations to include intermediaries (like consultants or lawyers), social movements, and transnational bodies .</a:t>
            </a:r>
          </a:p>
          <a:p>
            <a:pPr>
              <a:lnSpc>
                <a:spcPct val="110000"/>
              </a:lnSpc>
              <a:spcBef>
                <a:spcPts val="0"/>
              </a:spcBef>
              <a:spcAft>
                <a:spcPts val="1200"/>
              </a:spcAft>
            </a:pPr>
            <a:r>
              <a:rPr lang="en-GB" dirty="0"/>
              <a:t>Three different bases for social order:</a:t>
            </a:r>
          </a:p>
          <a:p>
            <a:pPr lvl="1">
              <a:lnSpc>
                <a:spcPct val="110000"/>
              </a:lnSpc>
              <a:spcBef>
                <a:spcPts val="0"/>
              </a:spcBef>
              <a:spcAft>
                <a:spcPts val="1200"/>
              </a:spcAft>
            </a:pPr>
            <a:r>
              <a:rPr lang="en-GB" b="1" dirty="0"/>
              <a:t>The regulative pillar</a:t>
            </a:r>
            <a:r>
              <a:rPr lang="en-GB" dirty="0"/>
              <a:t>: Focuses on explicit, formalised elements like rules, laws, and sanctions. It assumes actors are rational calculators who respond to incentives and surveillance.</a:t>
            </a:r>
          </a:p>
          <a:p>
            <a:pPr lvl="1">
              <a:lnSpc>
                <a:spcPct val="110000"/>
              </a:lnSpc>
              <a:spcBef>
                <a:spcPts val="0"/>
              </a:spcBef>
              <a:spcAft>
                <a:spcPts val="1200"/>
              </a:spcAft>
            </a:pPr>
            <a:r>
              <a:rPr lang="en-GB" b="1" dirty="0"/>
              <a:t>The normative pillar</a:t>
            </a:r>
            <a:r>
              <a:rPr lang="en-GB" dirty="0"/>
              <a:t>: Emphasizes social embeddedness and moral obligations. Rather than rational calculation, actors follow a logic of appropriateness (doing what is expected of someone in their specific role or identity).</a:t>
            </a:r>
          </a:p>
          <a:p>
            <a:pPr lvl="1">
              <a:lnSpc>
                <a:spcPct val="110000"/>
              </a:lnSpc>
              <a:spcBef>
                <a:spcPts val="0"/>
              </a:spcBef>
              <a:spcAft>
                <a:spcPts val="1200"/>
              </a:spcAft>
            </a:pPr>
            <a:r>
              <a:rPr lang="en-GB" b="1" dirty="0"/>
              <a:t>The cultural-cognitive pillar</a:t>
            </a:r>
            <a:r>
              <a:rPr lang="en-GB" dirty="0"/>
              <a:t>: Focuses on the shared symbolic representations and deeply entrenched assumptions that provide the templates for how we perceive and frame reality.</a:t>
            </a:r>
          </a:p>
        </p:txBody>
      </p:sp>
      <p:sp>
        <p:nvSpPr>
          <p:cNvPr id="5" name="TextBox 4">
            <a:extLst>
              <a:ext uri="{FF2B5EF4-FFF2-40B4-BE49-F238E27FC236}">
                <a16:creationId xmlns:a16="http://schemas.microsoft.com/office/drawing/2014/main" id="{07153344-E326-6A6A-94E4-0F7E4381EC9F}"/>
              </a:ext>
            </a:extLst>
          </p:cNvPr>
          <p:cNvSpPr txBox="1"/>
          <p:nvPr/>
        </p:nvSpPr>
        <p:spPr>
          <a:xfrm>
            <a:off x="10296939" y="6417917"/>
            <a:ext cx="1351722" cy="307777"/>
          </a:xfrm>
          <a:prstGeom prst="rect">
            <a:avLst/>
          </a:prstGeom>
          <a:noFill/>
        </p:spPr>
        <p:txBody>
          <a:bodyPr wrap="square">
            <a:spAutoFit/>
          </a:bodyPr>
          <a:lstStyle/>
          <a:p>
            <a:r>
              <a:rPr lang="en-GB" sz="1400" dirty="0"/>
              <a:t>Scott (2010)</a:t>
            </a:r>
          </a:p>
        </p:txBody>
      </p:sp>
    </p:spTree>
    <p:extLst>
      <p:ext uri="{BB962C8B-B14F-4D97-AF65-F5344CB8AC3E}">
        <p14:creationId xmlns:p14="http://schemas.microsoft.com/office/powerpoint/2010/main" val="3343839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46BB5-5D5B-BF6B-0A30-F02EF9EBC14C}"/>
              </a:ext>
            </a:extLst>
          </p:cNvPr>
          <p:cNvSpPr>
            <a:spLocks noGrp="1"/>
          </p:cNvSpPr>
          <p:nvPr>
            <p:ph type="title"/>
          </p:nvPr>
        </p:nvSpPr>
        <p:spPr/>
        <p:txBody>
          <a:bodyPr>
            <a:normAutofit/>
          </a:bodyPr>
          <a:lstStyle/>
          <a:p>
            <a:r>
              <a:rPr lang="en-GB" sz="3600" dirty="0"/>
              <a:t>Research ideas based on institutional theory</a:t>
            </a:r>
          </a:p>
        </p:txBody>
      </p:sp>
      <p:graphicFrame>
        <p:nvGraphicFramePr>
          <p:cNvPr id="4" name="Table 3">
            <a:extLst>
              <a:ext uri="{FF2B5EF4-FFF2-40B4-BE49-F238E27FC236}">
                <a16:creationId xmlns:a16="http://schemas.microsoft.com/office/drawing/2014/main" id="{E57F02FC-43B0-7336-B614-2065AF281CD4}"/>
              </a:ext>
            </a:extLst>
          </p:cNvPr>
          <p:cNvGraphicFramePr>
            <a:graphicFrameLocks noGrp="1"/>
          </p:cNvGraphicFramePr>
          <p:nvPr>
            <p:extLst>
              <p:ext uri="{D42A27DB-BD31-4B8C-83A1-F6EECF244321}">
                <p14:modId xmlns:p14="http://schemas.microsoft.com/office/powerpoint/2010/main" val="4159959028"/>
              </p:ext>
            </p:extLst>
          </p:nvPr>
        </p:nvGraphicFramePr>
        <p:xfrm>
          <a:off x="357809" y="1751469"/>
          <a:ext cx="11476382" cy="4820920"/>
        </p:xfrm>
        <a:graphic>
          <a:graphicData uri="http://schemas.openxmlformats.org/drawingml/2006/table">
            <a:tbl>
              <a:tblPr firstRow="1" bandRow="1">
                <a:tableStyleId>{5940675A-B579-460E-94D1-54222C63F5DA}</a:tableStyleId>
              </a:tblPr>
              <a:tblGrid>
                <a:gridCol w="6977197">
                  <a:extLst>
                    <a:ext uri="{9D8B030D-6E8A-4147-A177-3AD203B41FA5}">
                      <a16:colId xmlns:a16="http://schemas.microsoft.com/office/drawing/2014/main" val="3298005263"/>
                    </a:ext>
                  </a:extLst>
                </a:gridCol>
                <a:gridCol w="4499185">
                  <a:extLst>
                    <a:ext uri="{9D8B030D-6E8A-4147-A177-3AD203B41FA5}">
                      <a16:colId xmlns:a16="http://schemas.microsoft.com/office/drawing/2014/main" val="2739787714"/>
                    </a:ext>
                  </a:extLst>
                </a:gridCol>
              </a:tblGrid>
              <a:tr h="370840">
                <a:tc>
                  <a:txBody>
                    <a:bodyPr/>
                    <a:lstStyle/>
                    <a:p>
                      <a:r>
                        <a:rPr lang="en-GB" sz="1600" b="1" dirty="0"/>
                        <a:t>Research question</a:t>
                      </a:r>
                    </a:p>
                  </a:txBody>
                  <a:tcPr>
                    <a:solidFill>
                      <a:schemeClr val="tx2">
                        <a:lumMod val="25000"/>
                        <a:lumOff val="75000"/>
                      </a:schemeClr>
                    </a:solidFill>
                  </a:tcPr>
                </a:tc>
                <a:tc>
                  <a:txBody>
                    <a:bodyPr/>
                    <a:lstStyle/>
                    <a:p>
                      <a:r>
                        <a:rPr lang="en-GB" sz="1600" b="1" dirty="0"/>
                        <a:t>Topic</a:t>
                      </a:r>
                    </a:p>
                  </a:txBody>
                  <a:tcPr>
                    <a:solidFill>
                      <a:schemeClr val="tx2">
                        <a:lumMod val="25000"/>
                        <a:lumOff val="75000"/>
                      </a:schemeClr>
                    </a:solidFill>
                  </a:tcPr>
                </a:tc>
                <a:extLst>
                  <a:ext uri="{0D108BD9-81ED-4DB2-BD59-A6C34878D82A}">
                    <a16:rowId xmlns:a16="http://schemas.microsoft.com/office/drawing/2014/main" val="48319684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Why are firms in a certain sector all adopting a trendy practice even though there is no evidence it works?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The Mimetic Adoption of Holacracy in Tech Startups: Legitimacy vs. Efficiency</a:t>
                      </a:r>
                    </a:p>
                  </a:txBody>
                  <a:tcPr/>
                </a:tc>
                <a:extLst>
                  <a:ext uri="{0D108BD9-81ED-4DB2-BD59-A6C34878D82A}">
                    <a16:rowId xmlns:a16="http://schemas.microsoft.com/office/drawing/2014/main" val="27345439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How do professional associations (like the Bar or Medical Boards) force organisations to act in ways that prioritise professional ego over client needs?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Normative Pressures in Modern Law Firms: How Professional Identity Shapes Organisational Structure.</a:t>
                      </a:r>
                    </a:p>
                  </a:txBody>
                  <a:tcPr/>
                </a:tc>
                <a:extLst>
                  <a:ext uri="{0D108BD9-81ED-4DB2-BD59-A6C34878D82A}">
                    <a16:rowId xmlns:a16="http://schemas.microsoft.com/office/drawing/2014/main" val="169536169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In a field where everyone is the same, how does a "deviant" organization survive?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The Cost of Non-Conformity: How B-Corps Resist Coercive Isomorphism in the Financial Sector.</a:t>
                      </a:r>
                    </a:p>
                  </a:txBody>
                  <a:tcPr/>
                </a:tc>
                <a:extLst>
                  <a:ext uri="{0D108BD9-81ED-4DB2-BD59-A6C34878D82A}">
                    <a16:rowId xmlns:a16="http://schemas.microsoft.com/office/drawing/2014/main" val="199056861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Organisations often adopt policies just for show but don't actually follow them. Where is the biggest gap between talk and action?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Greenwashing as Mimetic Isomorphism: A Study of Symbolic Sustainability Policies in the Airline Industry.</a:t>
                      </a:r>
                    </a:p>
                  </a:txBody>
                  <a:tcPr/>
                </a:tc>
                <a:extLst>
                  <a:ext uri="{0D108BD9-81ED-4DB2-BD59-A6C34878D82A}">
                    <a16:rowId xmlns:a16="http://schemas.microsoft.com/office/drawing/2014/main" val="325595304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How do startups in stigmatised industries (e.g., cannabis, gambling, adult tech) use mimetic isomorphism to appear professional and trustworthy to investors?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Optimal Distinctiveness in New Ventures</a:t>
                      </a:r>
                    </a:p>
                  </a:txBody>
                  <a:tcPr/>
                </a:tc>
                <a:extLst>
                  <a:ext uri="{0D108BD9-81ED-4DB2-BD59-A6C34878D82A}">
                    <a16:rowId xmlns:a16="http://schemas.microsoft.com/office/drawing/2014/main" val="6083285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How did early institutional entrepreneurs in the Electric Vehicle (EV) space shift the cultural-cognitive pillar from cars are gas-powered to cars are tech gadgets?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Creation of New Organisational Fields</a:t>
                      </a:r>
                    </a:p>
                  </a:txBody>
                  <a:tcPr/>
                </a:tc>
                <a:extLst>
                  <a:ext uri="{0D108BD9-81ED-4DB2-BD59-A6C34878D82A}">
                    <a16:rowId xmlns:a16="http://schemas.microsoft.com/office/drawing/2014/main" val="2672864273"/>
                  </a:ext>
                </a:extLst>
              </a:tr>
            </a:tbl>
          </a:graphicData>
        </a:graphic>
      </p:graphicFrame>
    </p:spTree>
    <p:extLst>
      <p:ext uri="{BB962C8B-B14F-4D97-AF65-F5344CB8AC3E}">
        <p14:creationId xmlns:p14="http://schemas.microsoft.com/office/powerpoint/2010/main" val="2138830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F8638-06E9-86BE-C243-6245613BE10C}"/>
              </a:ext>
            </a:extLst>
          </p:cNvPr>
          <p:cNvSpPr>
            <a:spLocks noGrp="1"/>
          </p:cNvSpPr>
          <p:nvPr>
            <p:ph type="title"/>
          </p:nvPr>
        </p:nvSpPr>
        <p:spPr/>
        <p:txBody>
          <a:bodyPr/>
          <a:lstStyle/>
          <a:p>
            <a:r>
              <a:rPr lang="en-GB" dirty="0"/>
              <a:t>The Critical Reflexive Wrap-up</a:t>
            </a:r>
          </a:p>
        </p:txBody>
      </p:sp>
      <p:sp>
        <p:nvSpPr>
          <p:cNvPr id="3" name="Content Placeholder 2">
            <a:extLst>
              <a:ext uri="{FF2B5EF4-FFF2-40B4-BE49-F238E27FC236}">
                <a16:creationId xmlns:a16="http://schemas.microsoft.com/office/drawing/2014/main" id="{2484FD27-CDD8-0B7A-01AA-5128CD1303F7}"/>
              </a:ext>
            </a:extLst>
          </p:cNvPr>
          <p:cNvSpPr>
            <a:spLocks noGrp="1"/>
          </p:cNvSpPr>
          <p:nvPr>
            <p:ph idx="1"/>
          </p:nvPr>
        </p:nvSpPr>
        <p:spPr/>
        <p:txBody>
          <a:bodyPr>
            <a:normAutofit lnSpcReduction="10000"/>
          </a:bodyPr>
          <a:lstStyle/>
          <a:p>
            <a:pPr>
              <a:lnSpc>
                <a:spcPct val="110000"/>
              </a:lnSpc>
            </a:pPr>
            <a:r>
              <a:rPr lang="en-GB" sz="2000" dirty="0"/>
              <a:t>Critical Management Studies (CMS) is defined by a deep scepticism regarding the moral defensibility and the social and ecological sustainability of prevailing organisational forms</a:t>
            </a:r>
          </a:p>
          <a:p>
            <a:pPr>
              <a:lnSpc>
                <a:spcPct val="110000"/>
              </a:lnSpc>
            </a:pPr>
            <a:r>
              <a:rPr lang="en-GB" sz="2000" dirty="0"/>
              <a:t>Its motivating concern is not the failure of individual managers, but the social injustice and environmental destructiveness inherent in the broader social and economic systems that firms serve.</a:t>
            </a:r>
          </a:p>
          <a:p>
            <a:pPr>
              <a:lnSpc>
                <a:spcPct val="110000"/>
              </a:lnSpc>
            </a:pPr>
            <a:r>
              <a:rPr lang="en-GB" sz="2000" dirty="0"/>
              <a:t>Pillars:</a:t>
            </a:r>
          </a:p>
          <a:p>
            <a:pPr lvl="1">
              <a:lnSpc>
                <a:spcPct val="110000"/>
              </a:lnSpc>
            </a:pPr>
            <a:r>
              <a:rPr lang="en-GB" sz="1600" dirty="0"/>
              <a:t>De-naturalization: CMS challenges the idea that current organisational arrangements (like hierarchy or the profit motive) are natural or inevitable.</a:t>
            </a:r>
          </a:p>
          <a:p>
            <a:pPr lvl="1">
              <a:lnSpc>
                <a:spcPct val="110000"/>
              </a:lnSpc>
            </a:pPr>
            <a:r>
              <a:rPr lang="en-GB" sz="1600" dirty="0"/>
              <a:t>Reflexivity: This requires researchers to acknowledge that knowledge is not neutral. Scholars must be self-aware of their own social positions, biases, and the way their research might reinforce existing power structures.</a:t>
            </a:r>
          </a:p>
          <a:p>
            <a:pPr lvl="1">
              <a:lnSpc>
                <a:spcPct val="110000"/>
              </a:lnSpc>
            </a:pPr>
            <a:r>
              <a:rPr lang="en-GB" sz="1600" dirty="0"/>
              <a:t>Anti-Performative Intent: Mainstream management is performative. It seeks to maximise output from given inputs (profit, efficiency). CMS is anti-performative in that it refuses to subordinate all other values (like justice or well-being) to the single goal of instrumental efficiency.</a:t>
            </a:r>
          </a:p>
        </p:txBody>
      </p:sp>
      <p:sp>
        <p:nvSpPr>
          <p:cNvPr id="5" name="TextBox 4">
            <a:extLst>
              <a:ext uri="{FF2B5EF4-FFF2-40B4-BE49-F238E27FC236}">
                <a16:creationId xmlns:a16="http://schemas.microsoft.com/office/drawing/2014/main" id="{90A3D97A-C0AA-4B0D-F268-95D1D445C125}"/>
              </a:ext>
            </a:extLst>
          </p:cNvPr>
          <p:cNvSpPr txBox="1"/>
          <p:nvPr/>
        </p:nvSpPr>
        <p:spPr>
          <a:xfrm>
            <a:off x="10078279" y="6411291"/>
            <a:ext cx="1742660" cy="307561"/>
          </a:xfrm>
          <a:prstGeom prst="rect">
            <a:avLst/>
          </a:prstGeom>
          <a:noFill/>
        </p:spPr>
        <p:txBody>
          <a:bodyPr wrap="square">
            <a:spAutoFit/>
          </a:bodyPr>
          <a:lstStyle/>
          <a:p>
            <a:r>
              <a:rPr lang="en-GB" sz="1400" dirty="0"/>
              <a:t>Adler et al. (2007)</a:t>
            </a:r>
          </a:p>
        </p:txBody>
      </p:sp>
    </p:spTree>
    <p:extLst>
      <p:ext uri="{BB962C8B-B14F-4D97-AF65-F5344CB8AC3E}">
        <p14:creationId xmlns:p14="http://schemas.microsoft.com/office/powerpoint/2010/main" val="3859242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810BC-8102-ED6A-B866-8C89590B5F73}"/>
              </a:ext>
            </a:extLst>
          </p:cNvPr>
          <p:cNvSpPr>
            <a:spLocks noGrp="1"/>
          </p:cNvSpPr>
          <p:nvPr>
            <p:ph type="title"/>
          </p:nvPr>
        </p:nvSpPr>
        <p:spPr/>
        <p:txBody>
          <a:bodyPr/>
          <a:lstStyle/>
          <a:p>
            <a:r>
              <a:rPr lang="en-GB" dirty="0"/>
              <a:t>The Critical Reflexive Wrap-up</a:t>
            </a:r>
          </a:p>
        </p:txBody>
      </p:sp>
      <p:sp>
        <p:nvSpPr>
          <p:cNvPr id="3" name="Content Placeholder 2">
            <a:extLst>
              <a:ext uri="{FF2B5EF4-FFF2-40B4-BE49-F238E27FC236}">
                <a16:creationId xmlns:a16="http://schemas.microsoft.com/office/drawing/2014/main" id="{EB228409-BBF1-AF38-85A7-59B8B1AE0FEA}"/>
              </a:ext>
            </a:extLst>
          </p:cNvPr>
          <p:cNvSpPr>
            <a:spLocks noGrp="1"/>
          </p:cNvSpPr>
          <p:nvPr>
            <p:ph idx="1"/>
          </p:nvPr>
        </p:nvSpPr>
        <p:spPr/>
        <p:txBody>
          <a:bodyPr/>
          <a:lstStyle/>
          <a:p>
            <a:pPr>
              <a:lnSpc>
                <a:spcPct val="100000"/>
              </a:lnSpc>
              <a:spcAft>
                <a:spcPts val="1200"/>
              </a:spcAft>
            </a:pPr>
            <a:r>
              <a:rPr lang="en-GB" dirty="0"/>
              <a:t>This approach help us to question and look for research gaps by asking:</a:t>
            </a:r>
          </a:p>
          <a:p>
            <a:pPr lvl="1">
              <a:lnSpc>
                <a:spcPct val="100000"/>
              </a:lnSpc>
              <a:spcAft>
                <a:spcPts val="1200"/>
              </a:spcAft>
            </a:pPr>
            <a:r>
              <a:rPr lang="en-GB" dirty="0"/>
              <a:t>Who is being ignored? Whose standpoint is missing from the current literature on your topic?</a:t>
            </a:r>
          </a:p>
          <a:p>
            <a:pPr lvl="1">
              <a:lnSpc>
                <a:spcPct val="100000"/>
              </a:lnSpc>
              <a:spcAft>
                <a:spcPts val="1200"/>
              </a:spcAft>
            </a:pPr>
            <a:r>
              <a:rPr lang="en-GB" dirty="0"/>
              <a:t>What is being taken for granted? Is there an organizational practice being treated as "natural" that is actually a historical product of power?</a:t>
            </a:r>
          </a:p>
          <a:p>
            <a:pPr lvl="1">
              <a:lnSpc>
                <a:spcPct val="100000"/>
              </a:lnSpc>
              <a:spcAft>
                <a:spcPts val="1200"/>
              </a:spcAft>
            </a:pPr>
            <a:r>
              <a:rPr lang="en-GB" dirty="0"/>
              <a:t>To what end? Is the goal of the current research purely to increase performance, or does it consider social and ecological justice?</a:t>
            </a:r>
          </a:p>
        </p:txBody>
      </p:sp>
    </p:spTree>
    <p:extLst>
      <p:ext uri="{BB962C8B-B14F-4D97-AF65-F5344CB8AC3E}">
        <p14:creationId xmlns:p14="http://schemas.microsoft.com/office/powerpoint/2010/main" val="1750967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AE967-95ED-5AA6-C08E-D3A8B6AB3296}"/>
              </a:ext>
            </a:extLst>
          </p:cNvPr>
          <p:cNvSpPr>
            <a:spLocks noGrp="1"/>
          </p:cNvSpPr>
          <p:nvPr>
            <p:ph type="title"/>
          </p:nvPr>
        </p:nvSpPr>
        <p:spPr/>
        <p:txBody>
          <a:bodyPr/>
          <a:lstStyle/>
          <a:p>
            <a:r>
              <a:rPr lang="en-GB" dirty="0"/>
              <a:t>The Critical Reflexive Wrap-up</a:t>
            </a:r>
          </a:p>
        </p:txBody>
      </p:sp>
      <p:sp>
        <p:nvSpPr>
          <p:cNvPr id="3" name="Content Placeholder 2">
            <a:extLst>
              <a:ext uri="{FF2B5EF4-FFF2-40B4-BE49-F238E27FC236}">
                <a16:creationId xmlns:a16="http://schemas.microsoft.com/office/drawing/2014/main" id="{5A7DB1A6-CE06-3C50-E98F-C03E4FAD0261}"/>
              </a:ext>
            </a:extLst>
          </p:cNvPr>
          <p:cNvSpPr>
            <a:spLocks noGrp="1"/>
          </p:cNvSpPr>
          <p:nvPr>
            <p:ph idx="1"/>
          </p:nvPr>
        </p:nvSpPr>
        <p:spPr/>
        <p:txBody>
          <a:bodyPr>
            <a:normAutofit fontScale="62500" lnSpcReduction="20000"/>
          </a:bodyPr>
          <a:lstStyle/>
          <a:p>
            <a:pPr>
              <a:lnSpc>
                <a:spcPct val="120000"/>
              </a:lnSpc>
              <a:spcAft>
                <a:spcPts val="600"/>
              </a:spcAft>
            </a:pPr>
            <a:r>
              <a:rPr lang="en-GB" dirty="0"/>
              <a:t>Research into the Gig Economy (e.g., Uber, Amazon Mechanical Turk) often uses this lens to show how algorithmic management uses surveillance to control workers while claiming to provide flexibility.</a:t>
            </a:r>
          </a:p>
          <a:p>
            <a:pPr>
              <a:lnSpc>
                <a:spcPct val="120000"/>
              </a:lnSpc>
              <a:spcAft>
                <a:spcPts val="600"/>
              </a:spcAft>
            </a:pPr>
            <a:r>
              <a:rPr lang="en-GB" dirty="0"/>
              <a:t>Research critiquing ESG (Environmental, Social, and Governance) Reporting as symbolic management or greenwashing. Scholars investigate how firms use accounting metrics to appear sustainable while continuing environmentally destructive practices.</a:t>
            </a:r>
          </a:p>
          <a:p>
            <a:pPr>
              <a:lnSpc>
                <a:spcPct val="120000"/>
              </a:lnSpc>
              <a:spcAft>
                <a:spcPts val="600"/>
              </a:spcAft>
            </a:pPr>
            <a:r>
              <a:rPr lang="en-GB" dirty="0"/>
              <a:t>A critical ethnography of a free-store or a worker-owned cooperative to understand how non-capitalist exchange relations can exist and function.</a:t>
            </a:r>
          </a:p>
          <a:p>
            <a:pPr>
              <a:lnSpc>
                <a:spcPct val="120000"/>
              </a:lnSpc>
              <a:spcAft>
                <a:spcPts val="600"/>
              </a:spcAft>
            </a:pPr>
            <a:r>
              <a:rPr lang="en-GB" dirty="0"/>
              <a:t>How do neoliberal regimes impose different gradations of citizenship and vulnerability on specific groups of workers based on race, gender, and ethnicity?</a:t>
            </a:r>
          </a:p>
          <a:p>
            <a:pPr>
              <a:lnSpc>
                <a:spcPct val="120000"/>
              </a:lnSpc>
              <a:spcAft>
                <a:spcPts val="600"/>
              </a:spcAft>
            </a:pPr>
            <a:r>
              <a:rPr lang="en-GB" dirty="0"/>
              <a:t>Scholars critique how the export of U.S. management education was part of a Cold War project to spread capitalist ideology. They argue that teaching often aims to create good employees rather than knowledgeable citizens.</a:t>
            </a:r>
          </a:p>
        </p:txBody>
      </p:sp>
    </p:spTree>
    <p:extLst>
      <p:ext uri="{BB962C8B-B14F-4D97-AF65-F5344CB8AC3E}">
        <p14:creationId xmlns:p14="http://schemas.microsoft.com/office/powerpoint/2010/main" val="2465577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7DE0E-3218-9E29-F0E0-553EF9515400}"/>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01990324-1B5F-3BF4-2872-2937A2E65D80}"/>
              </a:ext>
            </a:extLst>
          </p:cNvPr>
          <p:cNvSpPr>
            <a:spLocks noGrp="1"/>
          </p:cNvSpPr>
          <p:nvPr>
            <p:ph idx="1"/>
          </p:nvPr>
        </p:nvSpPr>
        <p:spPr/>
        <p:txBody>
          <a:bodyPr/>
          <a:lstStyle/>
          <a:p>
            <a:r>
              <a:rPr lang="en-GB" dirty="0"/>
              <a:t>How would you use critical management studies to explore:</a:t>
            </a:r>
          </a:p>
          <a:p>
            <a:pPr lvl="1"/>
            <a:r>
              <a:rPr lang="en-GB" dirty="0"/>
              <a:t>The use of AI for Recruitment</a:t>
            </a:r>
          </a:p>
          <a:p>
            <a:pPr lvl="1"/>
            <a:r>
              <a:rPr lang="en-GB" dirty="0"/>
              <a:t>Employee Well-being Programs</a:t>
            </a:r>
          </a:p>
          <a:p>
            <a:pPr lvl="1"/>
            <a:r>
              <a:rPr lang="en-GB" dirty="0"/>
              <a:t>Remote Work/Telecommuting</a:t>
            </a:r>
          </a:p>
          <a:p>
            <a:endParaRPr lang="en-GB" dirty="0"/>
          </a:p>
        </p:txBody>
      </p:sp>
    </p:spTree>
    <p:extLst>
      <p:ext uri="{BB962C8B-B14F-4D97-AF65-F5344CB8AC3E}">
        <p14:creationId xmlns:p14="http://schemas.microsoft.com/office/powerpoint/2010/main" val="833509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96EA1-2805-88A7-FC20-0FD7754E97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817183-E287-A416-1BFD-10D35D741D7E}"/>
              </a:ext>
            </a:extLst>
          </p:cNvPr>
          <p:cNvSpPr>
            <a:spLocks noGrp="1"/>
          </p:cNvSpPr>
          <p:nvPr>
            <p:ph type="ctrTitle"/>
          </p:nvPr>
        </p:nvSpPr>
        <p:spPr/>
        <p:txBody>
          <a:bodyPr/>
          <a:lstStyle/>
          <a:p>
            <a:r>
              <a:rPr lang="en-GB" dirty="0"/>
              <a:t>Management</a:t>
            </a:r>
          </a:p>
        </p:txBody>
      </p:sp>
      <p:sp>
        <p:nvSpPr>
          <p:cNvPr id="3" name="Subtitle 2">
            <a:extLst>
              <a:ext uri="{FF2B5EF4-FFF2-40B4-BE49-F238E27FC236}">
                <a16:creationId xmlns:a16="http://schemas.microsoft.com/office/drawing/2014/main" id="{653F560C-79F8-8FFA-FE1E-1F3704744C0C}"/>
              </a:ext>
            </a:extLst>
          </p:cNvPr>
          <p:cNvSpPr>
            <a:spLocks noGrp="1"/>
          </p:cNvSpPr>
          <p:nvPr>
            <p:ph type="subTitle" idx="1"/>
          </p:nvPr>
        </p:nvSpPr>
        <p:spPr/>
        <p:txBody>
          <a:bodyPr/>
          <a:lstStyle/>
          <a:p>
            <a:r>
              <a:rPr lang="en-GB" dirty="0"/>
              <a:t>PhD in Business Economics </a:t>
            </a:r>
          </a:p>
          <a:p>
            <a:endParaRPr lang="en-GB" dirty="0"/>
          </a:p>
          <a:p>
            <a:r>
              <a:rPr lang="en-GB" dirty="0"/>
              <a:t>Luis D. Torres, PhD.</a:t>
            </a:r>
          </a:p>
        </p:txBody>
      </p:sp>
    </p:spTree>
    <p:extLst>
      <p:ext uri="{BB962C8B-B14F-4D97-AF65-F5344CB8AC3E}">
        <p14:creationId xmlns:p14="http://schemas.microsoft.com/office/powerpoint/2010/main" val="24710144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1660</Words>
  <Application>Microsoft Office PowerPoint</Application>
  <PresentationFormat>Widescreen</PresentationFormat>
  <Paragraphs>119</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Google Sans Text</vt:lpstr>
      <vt:lpstr>Office Theme</vt:lpstr>
      <vt:lpstr>Management</vt:lpstr>
      <vt:lpstr>Agenda</vt:lpstr>
      <vt:lpstr>The Purpose and Stakeholders</vt:lpstr>
      <vt:lpstr>The Purpose and Stakeholders</vt:lpstr>
      <vt:lpstr>Examples of research questions</vt:lpstr>
      <vt:lpstr>Institutionalization</vt:lpstr>
      <vt:lpstr>Isomorphism</vt:lpstr>
      <vt:lpstr>Isomorphism</vt:lpstr>
      <vt:lpstr>Institutionalisation and Isomorphism</vt:lpstr>
      <vt:lpstr>A unified framework</vt:lpstr>
      <vt:lpstr>Research ideas based on institutional theory</vt:lpstr>
      <vt:lpstr>The Critical Reflexive Wrap-up</vt:lpstr>
      <vt:lpstr>The Critical Reflexive Wrap-up</vt:lpstr>
      <vt:lpstr>The Critical Reflexive Wrap-up</vt:lpstr>
      <vt:lpstr>PowerPoint Presentation</vt:lpstr>
      <vt:lpstr>Management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Dario Torres</dc:creator>
  <cp:lastModifiedBy>Luis Torres-Retamal (staff)</cp:lastModifiedBy>
  <cp:revision>1</cp:revision>
  <dcterms:created xsi:type="dcterms:W3CDTF">2025-03-31T12:25:35Z</dcterms:created>
  <dcterms:modified xsi:type="dcterms:W3CDTF">2026-03-08T20:21:14Z</dcterms:modified>
</cp:coreProperties>
</file>