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00" r:id="rId4"/>
    <p:sldId id="378" r:id="rId5"/>
    <p:sldId id="370" r:id="rId6"/>
    <p:sldId id="261" r:id="rId7"/>
    <p:sldId id="299" r:id="rId8"/>
    <p:sldId id="371" r:id="rId9"/>
    <p:sldId id="380" r:id="rId10"/>
    <p:sldId id="381" r:id="rId11"/>
    <p:sldId id="301" r:id="rId12"/>
    <p:sldId id="385" r:id="rId13"/>
    <p:sldId id="372" r:id="rId14"/>
    <p:sldId id="37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3447" autoAdjust="0"/>
  </p:normalViewPr>
  <p:slideViewPr>
    <p:cSldViewPr snapToGrid="0">
      <p:cViewPr varScale="1">
        <p:scale>
          <a:sx n="85" d="100"/>
          <a:sy n="85" d="100"/>
        </p:scale>
        <p:origin x="2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Torres" userId="d0083da5-80e0-407a-8e2b-3b7dd858bc0f" providerId="ADAL" clId="{7EEDEFD5-4BCA-4016-BE06-9E58D10BB4F4}"/>
    <pc:docChg chg="delSld modSld">
      <pc:chgData name="Luis Torres" userId="d0083da5-80e0-407a-8e2b-3b7dd858bc0f" providerId="ADAL" clId="{7EEDEFD5-4BCA-4016-BE06-9E58D10BB4F4}" dt="2026-04-22T10:33:19.269" v="11" actId="47"/>
      <pc:docMkLst>
        <pc:docMk/>
      </pc:docMkLst>
      <pc:sldChg chg="modSp mod">
        <pc:chgData name="Luis Torres" userId="d0083da5-80e0-407a-8e2b-3b7dd858bc0f" providerId="ADAL" clId="{7EEDEFD5-4BCA-4016-BE06-9E58D10BB4F4}" dt="2026-04-07T07:50:36.559" v="10" actId="6549"/>
        <pc:sldMkLst>
          <pc:docMk/>
          <pc:sldMk cId="3365187976" sldId="257"/>
        </pc:sldMkLst>
        <pc:spChg chg="mod">
          <ac:chgData name="Luis Torres" userId="d0083da5-80e0-407a-8e2b-3b7dd858bc0f" providerId="ADAL" clId="{7EEDEFD5-4BCA-4016-BE06-9E58D10BB4F4}" dt="2026-04-07T07:50:36.559" v="10" actId="6549"/>
          <ac:spMkLst>
            <pc:docMk/>
            <pc:sldMk cId="3365187976" sldId="257"/>
            <ac:spMk id="3" creationId="{41F21F08-1B86-1E9C-CDD6-203547261EE6}"/>
          </ac:spMkLst>
        </pc:spChg>
      </pc:sldChg>
      <pc:sldChg chg="del">
        <pc:chgData name="Luis Torres" userId="d0083da5-80e0-407a-8e2b-3b7dd858bc0f" providerId="ADAL" clId="{7EEDEFD5-4BCA-4016-BE06-9E58D10BB4F4}" dt="2026-04-22T10:33:19.269" v="11" actId="47"/>
        <pc:sldMkLst>
          <pc:docMk/>
          <pc:sldMk cId="1148886734" sldId="3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CACB6-9C86-4BA1-85BB-B10CC0DFB97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869A2A-7382-4F13-81C1-6F0F55AB88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77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69A2A-7382-4F13-81C1-6F0F55AB88B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054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1FD8-228D-45D2-F4DF-3956F6B96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D9984-7DCE-524E-53E1-AD41513E8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6364D-8BFD-0A93-D54B-08B7171D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BD282-73A9-770C-E7C7-6226C01D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212E2-7B13-4835-87CE-2BEA1FD2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40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080D-903E-5561-B736-7A49DD7F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29354-7830-C388-E3B6-500019369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15749-D04F-0264-BE57-3719400E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93A5F-64CE-4D8E-2080-0C068066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01B68-91A0-3F50-E90E-851057CB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6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AACB5-6607-5FE6-9603-09AA9FD7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9C150-D282-FA1A-4FC4-E15C71F38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FADC2-148B-E644-D7DC-3A489E020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CB95-716F-2C11-0447-60985A14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56A9C-9A71-5351-46A8-439EB78F7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89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2B90-6474-4523-3BD9-B365F209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CEA5-4EFA-5258-A624-F6EA767EC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FD77A-9877-5A38-54D8-8D6F153DE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89EE2-F969-B4AA-267F-9076B1D0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F9156-08F4-34DC-F2C8-4CD099F6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69098-116F-5CE1-D54F-38EA39B0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58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F7C7-2A30-6CFD-3FA5-546BB72D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76A49-54F9-037F-DC06-8DC750599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7625-C95E-C7F2-513D-D91C9D61F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C4E4A-5FC0-FBDE-A358-EAB88966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B2968-D248-0212-9A53-8CC04C08C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02CA5-B7FB-E561-BAFE-2EC139B8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31292-BB77-80E7-D8E4-47FBCCA96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3BA356-2359-B590-9AED-7E77DE82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7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BBA1-0793-0D44-AF62-89C0A1D6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E3014-F4C7-236C-1F92-08CDD0AD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B4227-AD7E-3844-6235-C14D8F8F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270D9-DCA8-6664-5D0E-7A2122DB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42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7C13C-1060-9D70-621B-8B5D52D1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A35B8-E85E-89CC-2B6E-56C416645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77EC8-615B-92AE-426B-8398C0EE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84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BDC1-C498-6317-7C04-E121C5ACA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32D61-374E-28F2-1A83-BA498F7B5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AFA52-0195-BCB5-10A4-EA175E638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2C8BE-6D6B-F5B0-759F-C91B3B52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E5447-FF87-E549-EB0C-19F7EA9B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C5345-6456-E40B-FD75-6208CC94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15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81F1-2F15-BAB8-9EB5-6B458B5A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B8A0E-BDD0-CBBB-68A2-5C408F5EE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8996E-6F95-464C-EBAF-16A024BD2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DA288-FD97-73F1-DCB2-2D60B8FB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35728-39C4-9679-BE33-89C7E65D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D9600-0A19-1B1A-E405-4146B772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09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B810-DE01-22B9-75DE-CA0BD74E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F69AA-3225-8599-AB49-04C7F0DE5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9FCE3-2054-6110-9C85-B2BA9F71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BB98F-B55F-CDE4-9BAF-A0C67C76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22341-F796-24C3-E10B-63837367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80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DB971-8145-793A-9684-EF02A56F8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4901C-B164-8A10-8E0D-11629364E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A34E6-592E-AE46-5CBD-D3DD938F4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2E37D-2CCB-CDFA-72BF-CB92E355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86B89-F112-6384-C909-24FC1DC5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58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DF7FE-61AB-001F-D2D8-E0EEB340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3C15A-3066-8DFC-5812-80DB4E344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6B1E9-932F-07D7-228A-0FA1E1DEE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70C8D-A5F8-484D-A42B-6A1C55BA86EA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68190-275F-B3AD-29A9-46EA62FDD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36061-BFA9-C2E4-33E8-CECFF3CBD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82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tor.org/stable/20159741?seq=1" TargetMode="External"/><Relationship Id="rId2" Type="http://schemas.openxmlformats.org/officeDocument/2006/relationships/hyperlink" Target="https://journals.aom.org/doi/full/10.5465/amj.2021.400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stor.org/stable/43698670?seq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294B-7DC9-49B1-2A8C-FC44ECD21F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2A2E26-50C4-43CA-6A9E-094AE3EFB9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PhD in Business Economics </a:t>
            </a:r>
          </a:p>
          <a:p>
            <a:endParaRPr lang="en-GB" dirty="0"/>
          </a:p>
          <a:p>
            <a:r>
              <a:rPr lang="en-GB" dirty="0"/>
              <a:t>Luis D. Torres, PhD.</a:t>
            </a:r>
          </a:p>
        </p:txBody>
      </p:sp>
    </p:spTree>
    <p:extLst>
      <p:ext uri="{BB962C8B-B14F-4D97-AF65-F5344CB8AC3E}">
        <p14:creationId xmlns:p14="http://schemas.microsoft.com/office/powerpoint/2010/main" val="389374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8BD0-9BB8-F5E7-BAF4-7957651F7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21F08-1B86-1E9C-CDD6-203547261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Bonus: Building a publishing strategy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518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1E0A6ED-4805-4C74-A06D-2478EA155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8" y="971489"/>
            <a:ext cx="12082983" cy="522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B887D-6D19-4686-B28B-AF3E8A34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3" y="365126"/>
            <a:ext cx="10653823" cy="1325563"/>
          </a:xfrm>
        </p:spPr>
        <p:txBody>
          <a:bodyPr>
            <a:normAutofit/>
          </a:bodyPr>
          <a:lstStyle/>
          <a:p>
            <a:r>
              <a:rPr lang="en-US" sz="3600" dirty="0"/>
              <a:t>What are the chances of publication in top journals?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2D5BE-CB2B-4E3B-8E72-E387C047D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237" y="1871330"/>
            <a:ext cx="10164726" cy="44588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Desk rejects = 70%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Acceptance rates = 5% (or lower)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Revise and resubmit is probably the best you can hope for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Reasons for rejection: fit with journal; nature of contribution; </a:t>
            </a:r>
            <a:r>
              <a:rPr lang="en-US" sz="2000" dirty="0" err="1"/>
              <a:t>rigour</a:t>
            </a:r>
            <a:r>
              <a:rPr lang="en-US" sz="2000" dirty="0"/>
              <a:t> of methods; novelty of contribution; theoretically weak …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Revise and resubmit – all of the above …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In the final analysis the main reasons for rejection are: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Lack of contribution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Failure to develop theoretical contribution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Fatal flaws in methodology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Deficiencies in the analysis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Lacks interest</a:t>
            </a:r>
          </a:p>
        </p:txBody>
      </p:sp>
    </p:spTree>
    <p:extLst>
      <p:ext uri="{BB962C8B-B14F-4D97-AF65-F5344CB8AC3E}">
        <p14:creationId xmlns:p14="http://schemas.microsoft.com/office/powerpoint/2010/main" val="260468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00A0C1-9541-48A9-AC18-00D9741E5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64" y="548640"/>
            <a:ext cx="3221664" cy="5431536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You need to stimulate interest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90B5DF-C58D-4418-9933-E8B108B9A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716" y="1063255"/>
            <a:ext cx="7332921" cy="4920371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Why is this topic and your contribution worth considering for journal space?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What does it add to current debates?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What does it add beyond replication of existing research?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If it is a methodological paper, does it make a significant methodological contribution?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If it is a theory paper, what does it add to the conversation in this field of study?</a:t>
            </a:r>
          </a:p>
          <a:p>
            <a:pPr>
              <a:lnSpc>
                <a:spcPct val="100000"/>
              </a:lnSpc>
            </a:pPr>
            <a:r>
              <a:rPr lang="en-US" sz="2000" dirty="0" err="1"/>
              <a:t>Emphasise</a:t>
            </a:r>
            <a:r>
              <a:rPr lang="en-US" sz="2000" dirty="0"/>
              <a:t> strength of contribution and weaknesses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When you start reviewing you will see that many papers are not very stimulating!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51941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3877"/>
            <a:ext cx="3285460" cy="4930246"/>
          </a:xfrm>
        </p:spPr>
        <p:txBody>
          <a:bodyPr>
            <a:normAutofit/>
          </a:bodyPr>
          <a:lstStyle/>
          <a:p>
            <a:pPr algn="r"/>
            <a:r>
              <a:rPr lang="en-GB" sz="4000" dirty="0"/>
              <a:t>The key element is contribution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7572" y="963877"/>
            <a:ext cx="7237228" cy="4930246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Contribution = </a:t>
            </a:r>
            <a:r>
              <a:rPr lang="en-GB" sz="2400" i="1" dirty="0"/>
              <a:t>Rigour + Relevance</a:t>
            </a: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Contribution to scholarship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Contribution to  practice</a:t>
            </a:r>
          </a:p>
          <a:p>
            <a:pPr>
              <a:lnSpc>
                <a:spcPct val="100000"/>
              </a:lnSpc>
            </a:pPr>
            <a:r>
              <a:rPr lang="en-GB" sz="2400" u="sng" dirty="0"/>
              <a:t>Impact is growing in importance. </a:t>
            </a:r>
            <a:r>
              <a:rPr lang="en-GB" sz="2400" i="1" dirty="0"/>
              <a:t>We will study this next class.</a:t>
            </a:r>
          </a:p>
        </p:txBody>
      </p:sp>
    </p:spTree>
    <p:extLst>
      <p:ext uri="{BB962C8B-B14F-4D97-AF65-F5344CB8AC3E}">
        <p14:creationId xmlns:p14="http://schemas.microsoft.com/office/powerpoint/2010/main" val="3439155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423" y="548640"/>
            <a:ext cx="3551275" cy="5431536"/>
          </a:xfrm>
        </p:spPr>
        <p:txBody>
          <a:bodyPr>
            <a:normAutofit/>
          </a:bodyPr>
          <a:lstStyle/>
          <a:p>
            <a:pPr algn="r"/>
            <a:r>
              <a:rPr lang="en-GB" sz="4000" dirty="0"/>
              <a:t>Assessing your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6549" y="548640"/>
            <a:ext cx="7134446" cy="5560828"/>
          </a:xfrm>
        </p:spPr>
        <p:txBody>
          <a:bodyPr anchor="ctr"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Focus your area of interest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Study the history of the conversations in your area of interest (literature review)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Select 3-5 exemplary contributions to that debate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Who are the main scholars in the area? What are their most important journal papers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How is what you propose relevant to these papers?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What do you want to add to the conversation?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will other scholars be interested in what you want to add?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will journal editors want to publish you?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You need to justify your research in relation to the state of knowledge in your field, as represented in key journals by key authors.</a:t>
            </a:r>
          </a:p>
        </p:txBody>
      </p:sp>
    </p:spTree>
    <p:extLst>
      <p:ext uri="{BB962C8B-B14F-4D97-AF65-F5344CB8AC3E}">
        <p14:creationId xmlns:p14="http://schemas.microsoft.com/office/powerpoint/2010/main" val="396976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59D8-AC72-43EE-9BA9-6E254726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629" y="548640"/>
            <a:ext cx="3604436" cy="5431536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How high should you aim?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B803B-2AA9-4F9F-A561-995BF6E63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079" y="548640"/>
            <a:ext cx="6801292" cy="5777732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Where to send it? Management, economics etc.? General or focused journals e.g. CSR paper – send to AMR or JBE?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Make sure your submission aligns with journal editorial policy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Cite papers from the journal to demonstrate your engagement with lines of inquiry relevant to the journal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If appropriate, choose relevant editor with appropriate interests, and referee(s)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Proofread your paper to </a:t>
            </a:r>
            <a:r>
              <a:rPr lang="en-US" sz="2000" dirty="0" err="1"/>
              <a:t>optimise</a:t>
            </a:r>
            <a:r>
              <a:rPr lang="en-US" sz="2000" dirty="0"/>
              <a:t> professional presentation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Share/present the paper before submission to get feedback on strengths &amp; weaknesses</a:t>
            </a:r>
          </a:p>
        </p:txBody>
      </p:sp>
    </p:spTree>
    <p:extLst>
      <p:ext uri="{BB962C8B-B14F-4D97-AF65-F5344CB8AC3E}">
        <p14:creationId xmlns:p14="http://schemas.microsoft.com/office/powerpoint/2010/main" val="1846797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E7709-6CF1-4986-84B7-653DE9F20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75" y="205639"/>
            <a:ext cx="7886700" cy="1049004"/>
          </a:xfrm>
        </p:spPr>
        <p:txBody>
          <a:bodyPr>
            <a:normAutofit/>
          </a:bodyPr>
          <a:lstStyle/>
          <a:p>
            <a:r>
              <a:rPr lang="en-US" sz="4000" dirty="0"/>
              <a:t>Submitting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D9DCC-6CAC-464A-B7B2-E89769D81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87" y="1716732"/>
            <a:ext cx="10866476" cy="4609639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Framing the paper is crucial - Explain your contribution &amp; added value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Explain theoretical and empirical contribution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Do not </a:t>
            </a:r>
            <a:r>
              <a:rPr lang="en-US" sz="1800" dirty="0" err="1"/>
              <a:t>mischaracterise</a:t>
            </a:r>
            <a:r>
              <a:rPr lang="en-US" sz="1800" dirty="0"/>
              <a:t> the literature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Drawing a model might help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Link your hypotheses to your theory and delimit variables you are dealing with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Ensure methods and measures are fully explained and appropriate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Ensure your data is robust and adequate for the journal (e.g. interview numbers, sampling, sample size …)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Conduct detailed discussion of the findings, implications and limitations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Give the paper a lift at the end – emphasize contribution, don’t finish on limitations, but don’t over-claim (appropriate humility!)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So…Say what you are going to say, Say it, Say what you have said, Discuss the significance of what you have said</a:t>
            </a:r>
          </a:p>
        </p:txBody>
      </p:sp>
    </p:spTree>
    <p:extLst>
      <p:ext uri="{BB962C8B-B14F-4D97-AF65-F5344CB8AC3E}">
        <p14:creationId xmlns:p14="http://schemas.microsoft.com/office/powerpoint/2010/main" val="4193980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D0FA-D9AB-4694-ABF0-660BD928C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846" y="311963"/>
            <a:ext cx="10213014" cy="1325563"/>
          </a:xfrm>
        </p:spPr>
        <p:txBody>
          <a:bodyPr>
            <a:normAutofit/>
          </a:bodyPr>
          <a:lstStyle/>
          <a:p>
            <a:r>
              <a:rPr lang="en-US" dirty="0"/>
              <a:t>Cultivate patience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0524F-DEB5-4167-99FC-66C44BD73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814" y="1935126"/>
            <a:ext cx="10898372" cy="444823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Initial decision – 4-6 months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Resubmission – 3-6 months (depending on the decision) – top journals can require hug amounts of work (conceptual, theoretical, data gathering) – you might receive 10-15 pages of reviewers’ comments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If R&amp;R then you have passed the threshold test but eventual publication is far from guaranteed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You may need 2 or even 3 revisions. It can take years!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Acceptance! – Publication in 6-12 months (electronic publication sooner)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Most papers get rejected – even by top scholars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If you’re not getting rejected, you are not aiming high enough</a:t>
            </a:r>
          </a:p>
        </p:txBody>
      </p:sp>
    </p:spTree>
    <p:extLst>
      <p:ext uri="{BB962C8B-B14F-4D97-AF65-F5344CB8AC3E}">
        <p14:creationId xmlns:p14="http://schemas.microsoft.com/office/powerpoint/2010/main" val="1354318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027E12-7541-CC14-1D07-FEE2D6C7AD28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10758820" cy="836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Publication in top journals is tough!</a:t>
            </a:r>
          </a:p>
        </p:txBody>
      </p:sp>
      <p:pic>
        <p:nvPicPr>
          <p:cNvPr id="5" name="Picture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E0F1FD87-D230-8A08-2276-53FA039FB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916" y="1640369"/>
            <a:ext cx="7453422" cy="470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48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97F6B-CDF4-4C1F-ACBF-2949121B3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423" y="557189"/>
            <a:ext cx="4019107" cy="55719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Revise and resubmit - How it feels to an author</a:t>
            </a:r>
          </a:p>
        </p:txBody>
      </p:sp>
      <p:pic>
        <p:nvPicPr>
          <p:cNvPr id="2050" name="Picture 2" descr="Red Pen/Black Pen WebComic — Your manuscript on peer review">
            <a:extLst>
              <a:ext uri="{FF2B5EF4-FFF2-40B4-BE49-F238E27FC236}">
                <a16:creationId xmlns:a16="http://schemas.microsoft.com/office/drawing/2014/main" id="{93A08621-8728-4024-914D-95075BD97B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6025"/>
          <a:stretch/>
        </p:blipFill>
        <p:spPr bwMode="auto">
          <a:xfrm>
            <a:off x="5634989" y="221740"/>
            <a:ext cx="5721842" cy="641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332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53DB-C070-48DE-9251-D06EDD02A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4" y="269434"/>
            <a:ext cx="10706985" cy="1091534"/>
          </a:xfrm>
        </p:spPr>
        <p:txBody>
          <a:bodyPr>
            <a:normAutofit/>
          </a:bodyPr>
          <a:lstStyle/>
          <a:p>
            <a:r>
              <a:rPr lang="en-US" sz="4000" dirty="0"/>
              <a:t>Rejection?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02CB9-BB6F-40AA-A4F2-608109DAC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544" y="1637414"/>
            <a:ext cx="10621925" cy="47952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Blame the reviewers for their lack of insight (even if unanimous rejection!)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Be rational – remember this is the most likely decision.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DO NOT CHALLENGE THE DECISION. Editors are very </a:t>
            </a:r>
            <a:r>
              <a:rPr lang="en-US" sz="1800" dirty="0" err="1"/>
              <a:t>very</a:t>
            </a:r>
            <a:r>
              <a:rPr lang="en-US" sz="1800" dirty="0"/>
              <a:t> </a:t>
            </a:r>
            <a:r>
              <a:rPr lang="en-US" sz="1800" dirty="0" err="1"/>
              <a:t>very</a:t>
            </a:r>
            <a:r>
              <a:rPr lang="en-US" sz="1800" dirty="0"/>
              <a:t> unlikely to overturn a decision. They do not want to alienate reviewers.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Try and not take it personally. It is an impersonal decision and probably contains at least some elements of truth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Move on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Take feedback on board as appropriate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This is a judgment call so consult with more experienced authors. Reviewers often disagree and the reviewers for another journal might have a different opinion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Submit elsewhere as appropriate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If it is rejected again, go back to the drawing board</a:t>
            </a:r>
          </a:p>
          <a:p>
            <a:pPr>
              <a:lnSpc>
                <a:spcPct val="10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13467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CEE6-5E75-49D8-B551-93D5E20D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358" y="365126"/>
            <a:ext cx="10313582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Develop a research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E2E03-EF20-4AC4-BF12-08030B4D0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297" y="2041451"/>
            <a:ext cx="10207255" cy="445142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Papers that count are at a premium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Develop a portfolio of publications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Choose the journal in discussion with supervisors and peers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Networking to enhance productivity 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International collaboration highly recommended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Go beyond the closed loop of academic literature to identify gaps and new areas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Need to link to existing literature to show novel insight</a:t>
            </a:r>
          </a:p>
        </p:txBody>
      </p:sp>
    </p:spTree>
    <p:extLst>
      <p:ext uri="{BB962C8B-B14F-4D97-AF65-F5344CB8AC3E}">
        <p14:creationId xmlns:p14="http://schemas.microsoft.com/office/powerpoint/2010/main" val="3174581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B01A3-BC5B-0491-A7DD-2C2DDE34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648D-46F7-B45C-2B55-3456F79AC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Publishing Original Research in AMJ: Advice to Prospective Authors | Academy of Management Journal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3"/>
              </a:rPr>
              <a:t>What Makes Management Research Interesting, and Why Does It Matter? on JSTOR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/>
              </a:rPr>
              <a:t>Having Scholarly Impact: The Art of Hitting Academic Home Runs on JSTOR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8784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Microsoft Office PowerPoint</Application>
  <PresentationFormat>Widescreen</PresentationFormat>
  <Paragraphs>94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Management</vt:lpstr>
      <vt:lpstr>Agenda</vt:lpstr>
      <vt:lpstr>PowerPoint Presentation</vt:lpstr>
      <vt:lpstr>What are the chances of publication in top journals?</vt:lpstr>
      <vt:lpstr>You need to stimulate interest</vt:lpstr>
      <vt:lpstr>The key element is contribution </vt:lpstr>
      <vt:lpstr>Assessing your contribution</vt:lpstr>
      <vt:lpstr>How high should you aim?</vt:lpstr>
      <vt:lpstr>Submitting</vt:lpstr>
      <vt:lpstr>Cultivate patience</vt:lpstr>
      <vt:lpstr>PowerPoint Presentation</vt:lpstr>
      <vt:lpstr>Revise and resubmit - How it feels to an author</vt:lpstr>
      <vt:lpstr>Rejection? </vt:lpstr>
      <vt:lpstr>Develop a research pipeline</vt:lpstr>
      <vt:lpstr>Additional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Dario Torres</dc:creator>
  <cp:lastModifiedBy>Luis Torres-Retamal (staff)</cp:lastModifiedBy>
  <cp:revision>1</cp:revision>
  <dcterms:created xsi:type="dcterms:W3CDTF">2025-03-31T12:25:35Z</dcterms:created>
  <dcterms:modified xsi:type="dcterms:W3CDTF">2026-04-22T10:33:28Z</dcterms:modified>
</cp:coreProperties>
</file>