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4"/>
  </p:notesMasterIdLst>
  <p:sldIdLst>
    <p:sldId id="256" r:id="rId3"/>
    <p:sldId id="257" r:id="rId4"/>
    <p:sldId id="523" r:id="rId5"/>
    <p:sldId id="359" r:id="rId6"/>
    <p:sldId id="365" r:id="rId7"/>
    <p:sldId id="364" r:id="rId8"/>
    <p:sldId id="522" r:id="rId9"/>
    <p:sldId id="363" r:id="rId10"/>
    <p:sldId id="528" r:id="rId11"/>
    <p:sldId id="527" r:id="rId12"/>
    <p:sldId id="529" r:id="rId13"/>
    <p:sldId id="530" r:id="rId14"/>
    <p:sldId id="535" r:id="rId15"/>
    <p:sldId id="531" r:id="rId16"/>
    <p:sldId id="532" r:id="rId17"/>
    <p:sldId id="526" r:id="rId18"/>
    <p:sldId id="533" r:id="rId19"/>
    <p:sldId id="525" r:id="rId20"/>
    <p:sldId id="536" r:id="rId21"/>
    <p:sldId id="537" r:id="rId22"/>
    <p:sldId id="53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424A15-B041-47F7-A0CE-D47EA5225F1A}" v="20" dt="2026-03-15T23:33:02.0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5223" autoAdjust="0"/>
  </p:normalViewPr>
  <p:slideViewPr>
    <p:cSldViewPr snapToGrid="0">
      <p:cViewPr>
        <p:scale>
          <a:sx n="69" d="100"/>
          <a:sy n="69" d="100"/>
        </p:scale>
        <p:origin x="909"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Torres" userId="d0083da5-80e0-407a-8e2b-3b7dd858bc0f" providerId="ADAL" clId="{7EEDEFD5-4BCA-4016-BE06-9E58D10BB4F4}"/>
    <pc:docChg chg="undo custSel addSld delSld modSld sldOrd">
      <pc:chgData name="Luis Torres" userId="d0083da5-80e0-407a-8e2b-3b7dd858bc0f" providerId="ADAL" clId="{7EEDEFD5-4BCA-4016-BE06-9E58D10BB4F4}" dt="2026-03-15T23:35:01.125" v="609" actId="1076"/>
      <pc:docMkLst>
        <pc:docMk/>
      </pc:docMkLst>
      <pc:sldChg chg="modSp mod">
        <pc:chgData name="Luis Torres" userId="d0083da5-80e0-407a-8e2b-3b7dd858bc0f" providerId="ADAL" clId="{7EEDEFD5-4BCA-4016-BE06-9E58D10BB4F4}" dt="2026-03-15T22:08:15.411" v="89"/>
        <pc:sldMkLst>
          <pc:docMk/>
          <pc:sldMk cId="3365187976" sldId="257"/>
        </pc:sldMkLst>
        <pc:spChg chg="mod">
          <ac:chgData name="Luis Torres" userId="d0083da5-80e0-407a-8e2b-3b7dd858bc0f" providerId="ADAL" clId="{7EEDEFD5-4BCA-4016-BE06-9E58D10BB4F4}" dt="2026-03-15T22:08:15.411" v="89"/>
          <ac:spMkLst>
            <pc:docMk/>
            <pc:sldMk cId="3365187976" sldId="257"/>
            <ac:spMk id="3" creationId="{41F21F08-1B86-1E9C-CDD6-203547261EE6}"/>
          </ac:spMkLst>
        </pc:spChg>
      </pc:sldChg>
      <pc:sldChg chg="modSp mod ord">
        <pc:chgData name="Luis Torres" userId="d0083da5-80e0-407a-8e2b-3b7dd858bc0f" providerId="ADAL" clId="{7EEDEFD5-4BCA-4016-BE06-9E58D10BB4F4}" dt="2026-03-15T22:04:31.508" v="79"/>
        <pc:sldMkLst>
          <pc:docMk/>
          <pc:sldMk cId="2017343269" sldId="359"/>
        </pc:sldMkLst>
        <pc:spChg chg="mod">
          <ac:chgData name="Luis Torres" userId="d0083da5-80e0-407a-8e2b-3b7dd858bc0f" providerId="ADAL" clId="{7EEDEFD5-4BCA-4016-BE06-9E58D10BB4F4}" dt="2026-03-15T22:03:30.674" v="27" actId="1076"/>
          <ac:spMkLst>
            <pc:docMk/>
            <pc:sldMk cId="2017343269" sldId="359"/>
            <ac:spMk id="5" creationId="{5E3C578E-1724-4ADE-933F-BE12AAA0AA96}"/>
          </ac:spMkLst>
        </pc:spChg>
        <pc:spChg chg="mod">
          <ac:chgData name="Luis Torres" userId="d0083da5-80e0-407a-8e2b-3b7dd858bc0f" providerId="ADAL" clId="{7EEDEFD5-4BCA-4016-BE06-9E58D10BB4F4}" dt="2026-03-15T22:03:30.674" v="27" actId="1076"/>
          <ac:spMkLst>
            <pc:docMk/>
            <pc:sldMk cId="2017343269" sldId="359"/>
            <ac:spMk id="6" creationId="{369014AE-10D9-4499-889A-A623777EDB47}"/>
          </ac:spMkLst>
        </pc:spChg>
        <pc:spChg chg="mod">
          <ac:chgData name="Luis Torres" userId="d0083da5-80e0-407a-8e2b-3b7dd858bc0f" providerId="ADAL" clId="{7EEDEFD5-4BCA-4016-BE06-9E58D10BB4F4}" dt="2026-03-15T22:03:30.674" v="27" actId="1076"/>
          <ac:spMkLst>
            <pc:docMk/>
            <pc:sldMk cId="2017343269" sldId="359"/>
            <ac:spMk id="11" creationId="{00000000-0000-0000-0000-000000000000}"/>
          </ac:spMkLst>
        </pc:spChg>
        <pc:spChg chg="mod">
          <ac:chgData name="Luis Torres" userId="d0083da5-80e0-407a-8e2b-3b7dd858bc0f" providerId="ADAL" clId="{7EEDEFD5-4BCA-4016-BE06-9E58D10BB4F4}" dt="2026-03-15T22:03:30.674" v="27" actId="1076"/>
          <ac:spMkLst>
            <pc:docMk/>
            <pc:sldMk cId="2017343269" sldId="359"/>
            <ac:spMk id="14" creationId="{7B5A33F7-032A-4DDD-8814-84912F211DE9}"/>
          </ac:spMkLst>
        </pc:spChg>
        <pc:spChg chg="mod">
          <ac:chgData name="Luis Torres" userId="d0083da5-80e0-407a-8e2b-3b7dd858bc0f" providerId="ADAL" clId="{7EEDEFD5-4BCA-4016-BE06-9E58D10BB4F4}" dt="2026-03-15T22:03:30.674" v="27" actId="1076"/>
          <ac:spMkLst>
            <pc:docMk/>
            <pc:sldMk cId="2017343269" sldId="359"/>
            <ac:spMk id="15" creationId="{4D644567-9685-4F45-9C74-238F315C812D}"/>
          </ac:spMkLst>
        </pc:spChg>
        <pc:spChg chg="mod">
          <ac:chgData name="Luis Torres" userId="d0083da5-80e0-407a-8e2b-3b7dd858bc0f" providerId="ADAL" clId="{7EEDEFD5-4BCA-4016-BE06-9E58D10BB4F4}" dt="2026-03-15T22:03:30.674" v="27" actId="1076"/>
          <ac:spMkLst>
            <pc:docMk/>
            <pc:sldMk cId="2017343269" sldId="359"/>
            <ac:spMk id="16" creationId="{FE6367ED-163B-44E0-A9E2-4D0A44A0A2BC}"/>
          </ac:spMkLst>
        </pc:spChg>
        <pc:spChg chg="mod">
          <ac:chgData name="Luis Torres" userId="d0083da5-80e0-407a-8e2b-3b7dd858bc0f" providerId="ADAL" clId="{7EEDEFD5-4BCA-4016-BE06-9E58D10BB4F4}" dt="2026-03-15T22:03:30.674" v="27" actId="1076"/>
          <ac:spMkLst>
            <pc:docMk/>
            <pc:sldMk cId="2017343269" sldId="359"/>
            <ac:spMk id="17" creationId="{A0DC3300-29EF-4046-933C-A5B511578C99}"/>
          </ac:spMkLst>
        </pc:spChg>
        <pc:spChg chg="mod">
          <ac:chgData name="Luis Torres" userId="d0083da5-80e0-407a-8e2b-3b7dd858bc0f" providerId="ADAL" clId="{7EEDEFD5-4BCA-4016-BE06-9E58D10BB4F4}" dt="2026-03-15T22:03:30.674" v="27" actId="1076"/>
          <ac:spMkLst>
            <pc:docMk/>
            <pc:sldMk cId="2017343269" sldId="359"/>
            <ac:spMk id="18" creationId="{CC3BECC7-3AB3-4CB3-AD93-7CCBA619C6B7}"/>
          </ac:spMkLst>
        </pc:spChg>
        <pc:graphicFrameChg chg="mod">
          <ac:chgData name="Luis Torres" userId="d0083da5-80e0-407a-8e2b-3b7dd858bc0f" providerId="ADAL" clId="{7EEDEFD5-4BCA-4016-BE06-9E58D10BB4F4}" dt="2026-03-15T22:03:30.674" v="27" actId="1076"/>
          <ac:graphicFrameMkLst>
            <pc:docMk/>
            <pc:sldMk cId="2017343269" sldId="359"/>
            <ac:graphicFrameMk id="9" creationId="{00000000-0000-0000-0000-000000000000}"/>
          </ac:graphicFrameMkLst>
        </pc:graphicFrameChg>
      </pc:sldChg>
      <pc:sldChg chg="ord">
        <pc:chgData name="Luis Torres" userId="d0083da5-80e0-407a-8e2b-3b7dd858bc0f" providerId="ADAL" clId="{7EEDEFD5-4BCA-4016-BE06-9E58D10BB4F4}" dt="2026-03-15T22:04:29.809" v="77"/>
        <pc:sldMkLst>
          <pc:docMk/>
          <pc:sldMk cId="3856667005" sldId="364"/>
        </pc:sldMkLst>
      </pc:sldChg>
      <pc:sldChg chg="ord">
        <pc:chgData name="Luis Torres" userId="d0083da5-80e0-407a-8e2b-3b7dd858bc0f" providerId="ADAL" clId="{7EEDEFD5-4BCA-4016-BE06-9E58D10BB4F4}" dt="2026-03-15T22:04:42.003" v="81"/>
        <pc:sldMkLst>
          <pc:docMk/>
          <pc:sldMk cId="543645905" sldId="522"/>
        </pc:sldMkLst>
      </pc:sldChg>
      <pc:sldChg chg="addSp modSp del mod">
        <pc:chgData name="Luis Torres" userId="d0083da5-80e0-407a-8e2b-3b7dd858bc0f" providerId="ADAL" clId="{7EEDEFD5-4BCA-4016-BE06-9E58D10BB4F4}" dt="2026-03-15T22:16:22.368" v="185" actId="47"/>
        <pc:sldMkLst>
          <pc:docMk/>
          <pc:sldMk cId="2234538011" sldId="524"/>
        </pc:sldMkLst>
        <pc:spChg chg="mod">
          <ac:chgData name="Luis Torres" userId="d0083da5-80e0-407a-8e2b-3b7dd858bc0f" providerId="ADAL" clId="{7EEDEFD5-4BCA-4016-BE06-9E58D10BB4F4}" dt="2026-03-15T22:08:49.102" v="94" actId="20577"/>
          <ac:spMkLst>
            <pc:docMk/>
            <pc:sldMk cId="2234538011" sldId="524"/>
            <ac:spMk id="2" creationId="{A621852A-D78D-2CC3-2A36-AD97ED1531DD}"/>
          </ac:spMkLst>
        </pc:spChg>
        <pc:spChg chg="add mod">
          <ac:chgData name="Luis Torres" userId="d0083da5-80e0-407a-8e2b-3b7dd858bc0f" providerId="ADAL" clId="{7EEDEFD5-4BCA-4016-BE06-9E58D10BB4F4}" dt="2026-03-15T22:09:07.834" v="100" actId="1076"/>
          <ac:spMkLst>
            <pc:docMk/>
            <pc:sldMk cId="2234538011" sldId="524"/>
            <ac:spMk id="5" creationId="{CD295881-1B62-6BDF-750C-3459A7DF6554}"/>
          </ac:spMkLst>
        </pc:spChg>
      </pc:sldChg>
      <pc:sldChg chg="modSp mod modNotesTx">
        <pc:chgData name="Luis Torres" userId="d0083da5-80e0-407a-8e2b-3b7dd858bc0f" providerId="ADAL" clId="{7EEDEFD5-4BCA-4016-BE06-9E58D10BB4F4}" dt="2026-03-15T23:33:01.519" v="604" actId="20577"/>
        <pc:sldMkLst>
          <pc:docMk/>
          <pc:sldMk cId="3091273277" sldId="525"/>
        </pc:sldMkLst>
        <pc:spChg chg="mod">
          <ac:chgData name="Luis Torres" userId="d0083da5-80e0-407a-8e2b-3b7dd858bc0f" providerId="ADAL" clId="{7EEDEFD5-4BCA-4016-BE06-9E58D10BB4F4}" dt="2026-03-15T23:18:43.324" v="549" actId="27636"/>
          <ac:spMkLst>
            <pc:docMk/>
            <pc:sldMk cId="3091273277" sldId="525"/>
            <ac:spMk id="3" creationId="{DF402955-F034-52C3-D7E1-363818C375C1}"/>
          </ac:spMkLst>
        </pc:spChg>
      </pc:sldChg>
      <pc:sldChg chg="addSp delSp modSp mod">
        <pc:chgData name="Luis Torres" userId="d0083da5-80e0-407a-8e2b-3b7dd858bc0f" providerId="ADAL" clId="{7EEDEFD5-4BCA-4016-BE06-9E58D10BB4F4}" dt="2026-03-15T23:35:01.125" v="609" actId="1076"/>
        <pc:sldMkLst>
          <pc:docMk/>
          <pc:sldMk cId="3789833888" sldId="526"/>
        </pc:sldMkLst>
        <pc:spChg chg="mod">
          <ac:chgData name="Luis Torres" userId="d0083da5-80e0-407a-8e2b-3b7dd858bc0f" providerId="ADAL" clId="{7EEDEFD5-4BCA-4016-BE06-9E58D10BB4F4}" dt="2026-03-15T22:19:45.661" v="243" actId="20577"/>
          <ac:spMkLst>
            <pc:docMk/>
            <pc:sldMk cId="3789833888" sldId="526"/>
            <ac:spMk id="2" creationId="{08473066-C63B-02E5-ED4C-19B069B64DD3}"/>
          </ac:spMkLst>
        </pc:spChg>
        <pc:spChg chg="mod">
          <ac:chgData name="Luis Torres" userId="d0083da5-80e0-407a-8e2b-3b7dd858bc0f" providerId="ADAL" clId="{7EEDEFD5-4BCA-4016-BE06-9E58D10BB4F4}" dt="2026-03-15T23:34:58.864" v="607" actId="14100"/>
          <ac:spMkLst>
            <pc:docMk/>
            <pc:sldMk cId="3789833888" sldId="526"/>
            <ac:spMk id="3" creationId="{D4F0EC7D-648F-4038-B18E-FDF869032449}"/>
          </ac:spMkLst>
        </pc:spChg>
        <pc:picChg chg="add del mod">
          <ac:chgData name="Luis Torres" userId="d0083da5-80e0-407a-8e2b-3b7dd858bc0f" providerId="ADAL" clId="{7EEDEFD5-4BCA-4016-BE06-9E58D10BB4F4}" dt="2026-03-15T23:29:40.169" v="565" actId="21"/>
          <ac:picMkLst>
            <pc:docMk/>
            <pc:sldMk cId="3789833888" sldId="526"/>
            <ac:picMk id="5" creationId="{564B37FF-C46A-58C6-D1E8-CEB123444221}"/>
          </ac:picMkLst>
        </pc:picChg>
        <pc:picChg chg="add mod">
          <ac:chgData name="Luis Torres" userId="d0083da5-80e0-407a-8e2b-3b7dd858bc0f" providerId="ADAL" clId="{7EEDEFD5-4BCA-4016-BE06-9E58D10BB4F4}" dt="2026-03-15T23:35:01.125" v="609" actId="1076"/>
          <ac:picMkLst>
            <pc:docMk/>
            <pc:sldMk cId="3789833888" sldId="526"/>
            <ac:picMk id="7" creationId="{F160F858-53F3-7588-4685-76AE13711B70}"/>
          </ac:picMkLst>
        </pc:picChg>
      </pc:sldChg>
      <pc:sldChg chg="modSp new mod">
        <pc:chgData name="Luis Torres" userId="d0083da5-80e0-407a-8e2b-3b7dd858bc0f" providerId="ADAL" clId="{7EEDEFD5-4BCA-4016-BE06-9E58D10BB4F4}" dt="2026-03-15T22:04:13.345" v="75" actId="20577"/>
        <pc:sldMkLst>
          <pc:docMk/>
          <pc:sldMk cId="1315116236" sldId="528"/>
        </pc:sldMkLst>
        <pc:spChg chg="mod">
          <ac:chgData name="Luis Torres" userId="d0083da5-80e0-407a-8e2b-3b7dd858bc0f" providerId="ADAL" clId="{7EEDEFD5-4BCA-4016-BE06-9E58D10BB4F4}" dt="2026-03-15T22:04:10.723" v="73" actId="20577"/>
          <ac:spMkLst>
            <pc:docMk/>
            <pc:sldMk cId="1315116236" sldId="528"/>
            <ac:spMk id="2" creationId="{AAFDB716-3333-46E9-3701-49646AAA7987}"/>
          </ac:spMkLst>
        </pc:spChg>
        <pc:spChg chg="mod">
          <ac:chgData name="Luis Torres" userId="d0083da5-80e0-407a-8e2b-3b7dd858bc0f" providerId="ADAL" clId="{7EEDEFD5-4BCA-4016-BE06-9E58D10BB4F4}" dt="2026-03-15T22:04:13.345" v="75" actId="20577"/>
          <ac:spMkLst>
            <pc:docMk/>
            <pc:sldMk cId="1315116236" sldId="528"/>
            <ac:spMk id="3" creationId="{83F76BC7-D758-F672-B76F-18800D51D10A}"/>
          </ac:spMkLst>
        </pc:spChg>
      </pc:sldChg>
      <pc:sldChg chg="modSp add mod">
        <pc:chgData name="Luis Torres" userId="d0083da5-80e0-407a-8e2b-3b7dd858bc0f" providerId="ADAL" clId="{7EEDEFD5-4BCA-4016-BE06-9E58D10BB4F4}" dt="2026-03-15T22:15:32.608" v="179" actId="20577"/>
        <pc:sldMkLst>
          <pc:docMk/>
          <pc:sldMk cId="1709241439" sldId="529"/>
        </pc:sldMkLst>
        <pc:spChg chg="mod">
          <ac:chgData name="Luis Torres" userId="d0083da5-80e0-407a-8e2b-3b7dd858bc0f" providerId="ADAL" clId="{7EEDEFD5-4BCA-4016-BE06-9E58D10BB4F4}" dt="2026-03-15T22:11:49.959" v="132" actId="20577"/>
          <ac:spMkLst>
            <pc:docMk/>
            <pc:sldMk cId="1709241439" sldId="529"/>
            <ac:spMk id="2" creationId="{7AE5C543-FC9E-D6A5-520B-30965A29BC08}"/>
          </ac:spMkLst>
        </pc:spChg>
        <pc:spChg chg="mod">
          <ac:chgData name="Luis Torres" userId="d0083da5-80e0-407a-8e2b-3b7dd858bc0f" providerId="ADAL" clId="{7EEDEFD5-4BCA-4016-BE06-9E58D10BB4F4}" dt="2026-03-15T22:15:32.608" v="179" actId="20577"/>
          <ac:spMkLst>
            <pc:docMk/>
            <pc:sldMk cId="1709241439" sldId="529"/>
            <ac:spMk id="3" creationId="{3520949B-437D-198A-BC55-38999B77B5D1}"/>
          </ac:spMkLst>
        </pc:spChg>
      </pc:sldChg>
      <pc:sldChg chg="modSp new mod ord">
        <pc:chgData name="Luis Torres" userId="d0083da5-80e0-407a-8e2b-3b7dd858bc0f" providerId="ADAL" clId="{7EEDEFD5-4BCA-4016-BE06-9E58D10BB4F4}" dt="2026-03-15T23:05:21.310" v="361"/>
        <pc:sldMkLst>
          <pc:docMk/>
          <pc:sldMk cId="2004214061" sldId="530"/>
        </pc:sldMkLst>
        <pc:spChg chg="mod">
          <ac:chgData name="Luis Torres" userId="d0083da5-80e0-407a-8e2b-3b7dd858bc0f" providerId="ADAL" clId="{7EEDEFD5-4BCA-4016-BE06-9E58D10BB4F4}" dt="2026-03-15T22:16:04.183" v="182"/>
          <ac:spMkLst>
            <pc:docMk/>
            <pc:sldMk cId="2004214061" sldId="530"/>
            <ac:spMk id="2" creationId="{085E2C18-129F-A65A-365F-8D6EFFCC87E2}"/>
          </ac:spMkLst>
        </pc:spChg>
        <pc:spChg chg="mod">
          <ac:chgData name="Luis Torres" userId="d0083da5-80e0-407a-8e2b-3b7dd858bc0f" providerId="ADAL" clId="{7EEDEFD5-4BCA-4016-BE06-9E58D10BB4F4}" dt="2026-03-15T22:19:30.865" v="231" actId="313"/>
          <ac:spMkLst>
            <pc:docMk/>
            <pc:sldMk cId="2004214061" sldId="530"/>
            <ac:spMk id="3" creationId="{3068DFFC-3C09-CA7F-4912-2283EB9BFFBF}"/>
          </ac:spMkLst>
        </pc:spChg>
      </pc:sldChg>
      <pc:sldChg chg="addSp modSp add mod ord">
        <pc:chgData name="Luis Torres" userId="d0083da5-80e0-407a-8e2b-3b7dd858bc0f" providerId="ADAL" clId="{7EEDEFD5-4BCA-4016-BE06-9E58D10BB4F4}" dt="2026-03-15T23:05:40.950" v="366"/>
        <pc:sldMkLst>
          <pc:docMk/>
          <pc:sldMk cId="3384139738" sldId="531"/>
        </pc:sldMkLst>
        <pc:spChg chg="mod">
          <ac:chgData name="Luis Torres" userId="d0083da5-80e0-407a-8e2b-3b7dd858bc0f" providerId="ADAL" clId="{7EEDEFD5-4BCA-4016-BE06-9E58D10BB4F4}" dt="2026-03-15T23:04:54.255" v="358" actId="20577"/>
          <ac:spMkLst>
            <pc:docMk/>
            <pc:sldMk cId="3384139738" sldId="531"/>
            <ac:spMk id="3" creationId="{0F79224B-822A-82C2-953E-04F95056A717}"/>
          </ac:spMkLst>
        </pc:spChg>
        <pc:spChg chg="add mod">
          <ac:chgData name="Luis Torres" userId="d0083da5-80e0-407a-8e2b-3b7dd858bc0f" providerId="ADAL" clId="{7EEDEFD5-4BCA-4016-BE06-9E58D10BB4F4}" dt="2026-03-15T22:20:06.160" v="256" actId="1076"/>
          <ac:spMkLst>
            <pc:docMk/>
            <pc:sldMk cId="3384139738" sldId="531"/>
            <ac:spMk id="5" creationId="{2E52ABD3-DB8A-A2A2-FAA0-4D390561B3E7}"/>
          </ac:spMkLst>
        </pc:spChg>
      </pc:sldChg>
      <pc:sldChg chg="modSp new mod">
        <pc:chgData name="Luis Torres" userId="d0083da5-80e0-407a-8e2b-3b7dd858bc0f" providerId="ADAL" clId="{7EEDEFD5-4BCA-4016-BE06-9E58D10BB4F4}" dt="2026-03-15T23:07:39.683" v="407" actId="113"/>
        <pc:sldMkLst>
          <pc:docMk/>
          <pc:sldMk cId="765951636" sldId="532"/>
        </pc:sldMkLst>
        <pc:spChg chg="mod">
          <ac:chgData name="Luis Torres" userId="d0083da5-80e0-407a-8e2b-3b7dd858bc0f" providerId="ADAL" clId="{7EEDEFD5-4BCA-4016-BE06-9E58D10BB4F4}" dt="2026-03-15T23:05:48.470" v="367"/>
          <ac:spMkLst>
            <pc:docMk/>
            <pc:sldMk cId="765951636" sldId="532"/>
            <ac:spMk id="2" creationId="{6079D0EE-DB53-5C07-D7DD-3D558C57F982}"/>
          </ac:spMkLst>
        </pc:spChg>
        <pc:spChg chg="mod">
          <ac:chgData name="Luis Torres" userId="d0083da5-80e0-407a-8e2b-3b7dd858bc0f" providerId="ADAL" clId="{7EEDEFD5-4BCA-4016-BE06-9E58D10BB4F4}" dt="2026-03-15T23:07:39.683" v="407" actId="113"/>
          <ac:spMkLst>
            <pc:docMk/>
            <pc:sldMk cId="765951636" sldId="532"/>
            <ac:spMk id="3" creationId="{107479FB-5861-0F5F-0D40-5FBCC05F2B8D}"/>
          </ac:spMkLst>
        </pc:spChg>
      </pc:sldChg>
      <pc:sldChg chg="addSp modSp add mod">
        <pc:chgData name="Luis Torres" userId="d0083da5-80e0-407a-8e2b-3b7dd858bc0f" providerId="ADAL" clId="{7EEDEFD5-4BCA-4016-BE06-9E58D10BB4F4}" dt="2026-03-15T23:15:09.680" v="476" actId="27636"/>
        <pc:sldMkLst>
          <pc:docMk/>
          <pc:sldMk cId="2929608402" sldId="533"/>
        </pc:sldMkLst>
        <pc:spChg chg="mod">
          <ac:chgData name="Luis Torres" userId="d0083da5-80e0-407a-8e2b-3b7dd858bc0f" providerId="ADAL" clId="{7EEDEFD5-4BCA-4016-BE06-9E58D10BB4F4}" dt="2026-03-15T23:15:09.680" v="476" actId="27636"/>
          <ac:spMkLst>
            <pc:docMk/>
            <pc:sldMk cId="2929608402" sldId="533"/>
            <ac:spMk id="3" creationId="{F62B8648-AE90-7576-DB46-4ECD03F3D5D8}"/>
          </ac:spMkLst>
        </pc:spChg>
        <pc:spChg chg="add mod">
          <ac:chgData name="Luis Torres" userId="d0083da5-80e0-407a-8e2b-3b7dd858bc0f" providerId="ADAL" clId="{7EEDEFD5-4BCA-4016-BE06-9E58D10BB4F4}" dt="2026-03-15T23:10:45.766" v="428" actId="1076"/>
          <ac:spMkLst>
            <pc:docMk/>
            <pc:sldMk cId="2929608402" sldId="533"/>
            <ac:spMk id="5" creationId="{AD46076C-327B-049E-BE0E-787B87203CDC}"/>
          </ac:spMkLst>
        </pc:spChg>
      </pc:sldChg>
      <pc:sldChg chg="add">
        <pc:chgData name="Luis Torres" userId="d0083da5-80e0-407a-8e2b-3b7dd858bc0f" providerId="ADAL" clId="{7EEDEFD5-4BCA-4016-BE06-9E58D10BB4F4}" dt="2026-03-15T23:19:03.249" v="550"/>
        <pc:sldMkLst>
          <pc:docMk/>
          <pc:sldMk cId="1246324245" sldId="534"/>
        </pc:sldMkLst>
      </pc:sldChg>
      <pc:sldChg chg="addSp delSp modSp new mod">
        <pc:chgData name="Luis Torres" userId="d0083da5-80e0-407a-8e2b-3b7dd858bc0f" providerId="ADAL" clId="{7EEDEFD5-4BCA-4016-BE06-9E58D10BB4F4}" dt="2026-03-15T23:24:07.029" v="559" actId="1076"/>
        <pc:sldMkLst>
          <pc:docMk/>
          <pc:sldMk cId="2988313204" sldId="535"/>
        </pc:sldMkLst>
        <pc:spChg chg="del">
          <ac:chgData name="Luis Torres" userId="d0083da5-80e0-407a-8e2b-3b7dd858bc0f" providerId="ADAL" clId="{7EEDEFD5-4BCA-4016-BE06-9E58D10BB4F4}" dt="2026-03-15T23:21:37.010" v="552" actId="478"/>
          <ac:spMkLst>
            <pc:docMk/>
            <pc:sldMk cId="2988313204" sldId="535"/>
            <ac:spMk id="2" creationId="{8563FCF4-1535-1141-71C2-0A15A6B07334}"/>
          </ac:spMkLst>
        </pc:spChg>
        <pc:spChg chg="del">
          <ac:chgData name="Luis Torres" userId="d0083da5-80e0-407a-8e2b-3b7dd858bc0f" providerId="ADAL" clId="{7EEDEFD5-4BCA-4016-BE06-9E58D10BB4F4}" dt="2026-03-15T23:21:38.812" v="553" actId="478"/>
          <ac:spMkLst>
            <pc:docMk/>
            <pc:sldMk cId="2988313204" sldId="535"/>
            <ac:spMk id="3" creationId="{27ACE796-58DA-B19F-40AC-43713E878262}"/>
          </ac:spMkLst>
        </pc:spChg>
        <pc:picChg chg="add mod">
          <ac:chgData name="Luis Torres" userId="d0083da5-80e0-407a-8e2b-3b7dd858bc0f" providerId="ADAL" clId="{7EEDEFD5-4BCA-4016-BE06-9E58D10BB4F4}" dt="2026-03-15T23:24:07.029" v="559" actId="1076"/>
          <ac:picMkLst>
            <pc:docMk/>
            <pc:sldMk cId="2988313204" sldId="535"/>
            <ac:picMk id="5" creationId="{2EFA6122-1D6B-B5E9-3C91-50EEC612C7AB}"/>
          </ac:picMkLst>
        </pc:picChg>
      </pc:sldChg>
      <pc:sldChg chg="addSp delSp modSp new mod">
        <pc:chgData name="Luis Torres" userId="d0083da5-80e0-407a-8e2b-3b7dd858bc0f" providerId="ADAL" clId="{7EEDEFD5-4BCA-4016-BE06-9E58D10BB4F4}" dt="2026-03-15T23:29:53.601" v="572" actId="1076"/>
        <pc:sldMkLst>
          <pc:docMk/>
          <pc:sldMk cId="1624517677" sldId="536"/>
        </pc:sldMkLst>
        <pc:spChg chg="del">
          <ac:chgData name="Luis Torres" userId="d0083da5-80e0-407a-8e2b-3b7dd858bc0f" providerId="ADAL" clId="{7EEDEFD5-4BCA-4016-BE06-9E58D10BB4F4}" dt="2026-03-15T23:29:47.685" v="568" actId="478"/>
          <ac:spMkLst>
            <pc:docMk/>
            <pc:sldMk cId="1624517677" sldId="536"/>
            <ac:spMk id="2" creationId="{71D7BC89-8E88-F7AA-35BB-5E3C0C10E3E9}"/>
          </ac:spMkLst>
        </pc:spChg>
        <pc:spChg chg="del">
          <ac:chgData name="Luis Torres" userId="d0083da5-80e0-407a-8e2b-3b7dd858bc0f" providerId="ADAL" clId="{7EEDEFD5-4BCA-4016-BE06-9E58D10BB4F4}" dt="2026-03-15T23:29:49.562" v="569" actId="478"/>
          <ac:spMkLst>
            <pc:docMk/>
            <pc:sldMk cId="1624517677" sldId="536"/>
            <ac:spMk id="3" creationId="{522A8E0C-5475-8585-6C51-CB4750F019BE}"/>
          </ac:spMkLst>
        </pc:spChg>
        <pc:picChg chg="add mod">
          <ac:chgData name="Luis Torres" userId="d0083da5-80e0-407a-8e2b-3b7dd858bc0f" providerId="ADAL" clId="{7EEDEFD5-4BCA-4016-BE06-9E58D10BB4F4}" dt="2026-03-15T23:29:53.601" v="572" actId="1076"/>
          <ac:picMkLst>
            <pc:docMk/>
            <pc:sldMk cId="1624517677" sldId="536"/>
            <ac:picMk id="5" creationId="{564B37FF-C46A-58C6-D1E8-CEB123444221}"/>
          </ac:picMkLst>
        </pc:picChg>
      </pc:sldChg>
      <pc:sldChg chg="modSp new mod">
        <pc:chgData name="Luis Torres" userId="d0083da5-80e0-407a-8e2b-3b7dd858bc0f" providerId="ADAL" clId="{7EEDEFD5-4BCA-4016-BE06-9E58D10BB4F4}" dt="2026-03-15T23:32:15.559" v="603" actId="20577"/>
        <pc:sldMkLst>
          <pc:docMk/>
          <pc:sldMk cId="3743157262" sldId="537"/>
        </pc:sldMkLst>
        <pc:spChg chg="mod">
          <ac:chgData name="Luis Torres" userId="d0083da5-80e0-407a-8e2b-3b7dd858bc0f" providerId="ADAL" clId="{7EEDEFD5-4BCA-4016-BE06-9E58D10BB4F4}" dt="2026-03-15T23:32:15.559" v="603" actId="20577"/>
          <ac:spMkLst>
            <pc:docMk/>
            <pc:sldMk cId="3743157262" sldId="537"/>
            <ac:spMk id="2" creationId="{0C5B2045-5226-4FC4-525A-77DE44A844EA}"/>
          </ac:spMkLst>
        </pc:spChg>
        <pc:spChg chg="mod">
          <ac:chgData name="Luis Torres" userId="d0083da5-80e0-407a-8e2b-3b7dd858bc0f" providerId="ADAL" clId="{7EEDEFD5-4BCA-4016-BE06-9E58D10BB4F4}" dt="2026-03-15T23:31:38.709" v="585"/>
          <ac:spMkLst>
            <pc:docMk/>
            <pc:sldMk cId="3743157262" sldId="537"/>
            <ac:spMk id="3" creationId="{235AA8CF-0CA3-EC65-8931-BE1C3A69017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36CC8D-6BD0-46A1-86F2-BEFF7AE14933}"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F73E1B59-F1B4-41BF-899A-2D52D519BF71}">
      <dgm:prSet phldrT="[Text]" custT="1"/>
      <dgm:spPr/>
      <dgm:t>
        <a:bodyPr/>
        <a:lstStyle/>
        <a:p>
          <a:r>
            <a:rPr lang="en-US" sz="2000" dirty="0"/>
            <a:t>Shareholders</a:t>
          </a:r>
        </a:p>
      </dgm:t>
    </dgm:pt>
    <dgm:pt modelId="{A255D1DB-11BD-4C2C-90FC-235DBF6F3576}" type="parTrans" cxnId="{D993C118-8F47-4942-AC02-624E3DC1B722}">
      <dgm:prSet/>
      <dgm:spPr/>
      <dgm:t>
        <a:bodyPr/>
        <a:lstStyle/>
        <a:p>
          <a:endParaRPr lang="en-US" sz="1400"/>
        </a:p>
      </dgm:t>
    </dgm:pt>
    <dgm:pt modelId="{BBFA9BC3-A8AF-4A4D-9EA8-5F9DE2B28323}" type="sibTrans" cxnId="{D993C118-8F47-4942-AC02-624E3DC1B722}">
      <dgm:prSet custT="1"/>
      <dgm:spPr/>
      <dgm:t>
        <a:bodyPr/>
        <a:lstStyle/>
        <a:p>
          <a:r>
            <a:rPr lang="en-US" sz="2000" dirty="0"/>
            <a:t>Run</a:t>
          </a:r>
        </a:p>
      </dgm:t>
    </dgm:pt>
    <dgm:pt modelId="{24EE8023-8448-4E0C-92B3-F51C89F59208}">
      <dgm:prSet phldrT="[Text]" custT="1"/>
      <dgm:spPr/>
      <dgm:t>
        <a:bodyPr/>
        <a:lstStyle/>
        <a:p>
          <a:r>
            <a:rPr lang="en-US" sz="2000" dirty="0"/>
            <a:t>Company</a:t>
          </a:r>
        </a:p>
      </dgm:t>
    </dgm:pt>
    <dgm:pt modelId="{A0C563DB-D14E-4630-B5A8-EDD62B49F925}" type="parTrans" cxnId="{71E038DA-8FD5-4671-B6F4-C5D62FD3891D}">
      <dgm:prSet/>
      <dgm:spPr/>
      <dgm:t>
        <a:bodyPr/>
        <a:lstStyle/>
        <a:p>
          <a:endParaRPr lang="en-US" sz="1400"/>
        </a:p>
      </dgm:t>
    </dgm:pt>
    <dgm:pt modelId="{AFE5702A-BF59-4734-8864-1E633F4ACDAC}" type="sibTrans" cxnId="{71E038DA-8FD5-4671-B6F4-C5D62FD3891D}">
      <dgm:prSet/>
      <dgm:spPr/>
      <dgm:t>
        <a:bodyPr/>
        <a:lstStyle/>
        <a:p>
          <a:endParaRPr lang="en-US" sz="1400"/>
        </a:p>
      </dgm:t>
    </dgm:pt>
    <dgm:pt modelId="{6C393B59-A587-430D-A690-88A112D3E4BF}" type="pres">
      <dgm:prSet presAssocID="{9B36CC8D-6BD0-46A1-86F2-BEFF7AE14933}" presName="outerComposite" presStyleCnt="0">
        <dgm:presLayoutVars>
          <dgm:chMax val="5"/>
          <dgm:dir/>
          <dgm:resizeHandles val="exact"/>
        </dgm:presLayoutVars>
      </dgm:prSet>
      <dgm:spPr/>
    </dgm:pt>
    <dgm:pt modelId="{6298DA58-27AC-4E97-8550-96045F683B34}" type="pres">
      <dgm:prSet presAssocID="{9B36CC8D-6BD0-46A1-86F2-BEFF7AE14933}" presName="dummyMaxCanvas" presStyleCnt="0">
        <dgm:presLayoutVars/>
      </dgm:prSet>
      <dgm:spPr/>
    </dgm:pt>
    <dgm:pt modelId="{922D457A-7BF2-4E52-B27C-64D4D88D59AB}" type="pres">
      <dgm:prSet presAssocID="{9B36CC8D-6BD0-46A1-86F2-BEFF7AE14933}" presName="TwoNodes_1" presStyleLbl="node1" presStyleIdx="0" presStyleCnt="2">
        <dgm:presLayoutVars>
          <dgm:bulletEnabled val="1"/>
        </dgm:presLayoutVars>
      </dgm:prSet>
      <dgm:spPr/>
    </dgm:pt>
    <dgm:pt modelId="{0F522A4F-A905-4668-8A63-4B8EE5B80367}" type="pres">
      <dgm:prSet presAssocID="{9B36CC8D-6BD0-46A1-86F2-BEFF7AE14933}" presName="TwoNodes_2" presStyleLbl="node1" presStyleIdx="1" presStyleCnt="2">
        <dgm:presLayoutVars>
          <dgm:bulletEnabled val="1"/>
        </dgm:presLayoutVars>
      </dgm:prSet>
      <dgm:spPr/>
    </dgm:pt>
    <dgm:pt modelId="{47AC9F19-514C-4582-8A6D-1EC1F7CA99F9}" type="pres">
      <dgm:prSet presAssocID="{9B36CC8D-6BD0-46A1-86F2-BEFF7AE14933}" presName="TwoConn_1-2" presStyleLbl="fgAccFollowNode1" presStyleIdx="0" presStyleCnt="1" custScaleX="166900">
        <dgm:presLayoutVars>
          <dgm:bulletEnabled val="1"/>
        </dgm:presLayoutVars>
      </dgm:prSet>
      <dgm:spPr/>
    </dgm:pt>
    <dgm:pt modelId="{2D643BE7-AFCD-4647-B6DF-118492BD1B71}" type="pres">
      <dgm:prSet presAssocID="{9B36CC8D-6BD0-46A1-86F2-BEFF7AE14933}" presName="TwoNodes_1_text" presStyleLbl="node1" presStyleIdx="1" presStyleCnt="2">
        <dgm:presLayoutVars>
          <dgm:bulletEnabled val="1"/>
        </dgm:presLayoutVars>
      </dgm:prSet>
      <dgm:spPr/>
    </dgm:pt>
    <dgm:pt modelId="{054F25E5-1E18-43F3-AEB3-0946E6F9F84D}" type="pres">
      <dgm:prSet presAssocID="{9B36CC8D-6BD0-46A1-86F2-BEFF7AE14933}" presName="TwoNodes_2_text" presStyleLbl="node1" presStyleIdx="1" presStyleCnt="2">
        <dgm:presLayoutVars>
          <dgm:bulletEnabled val="1"/>
        </dgm:presLayoutVars>
      </dgm:prSet>
      <dgm:spPr/>
    </dgm:pt>
  </dgm:ptLst>
  <dgm:cxnLst>
    <dgm:cxn modelId="{D4290502-3603-449B-BE9D-7E390F0EFF80}" type="presOf" srcId="{24EE8023-8448-4E0C-92B3-F51C89F59208}" destId="{054F25E5-1E18-43F3-AEB3-0946E6F9F84D}" srcOrd="1" destOrd="0" presId="urn:microsoft.com/office/officeart/2005/8/layout/vProcess5"/>
    <dgm:cxn modelId="{1579E714-BC57-47A1-9FE9-6BD2E7DFF241}" type="presOf" srcId="{F73E1B59-F1B4-41BF-899A-2D52D519BF71}" destId="{2D643BE7-AFCD-4647-B6DF-118492BD1B71}" srcOrd="1" destOrd="0" presId="urn:microsoft.com/office/officeart/2005/8/layout/vProcess5"/>
    <dgm:cxn modelId="{D993C118-8F47-4942-AC02-624E3DC1B722}" srcId="{9B36CC8D-6BD0-46A1-86F2-BEFF7AE14933}" destId="{F73E1B59-F1B4-41BF-899A-2D52D519BF71}" srcOrd="0" destOrd="0" parTransId="{A255D1DB-11BD-4C2C-90FC-235DBF6F3576}" sibTransId="{BBFA9BC3-A8AF-4A4D-9EA8-5F9DE2B28323}"/>
    <dgm:cxn modelId="{01165683-B1C4-443B-BF8C-C7984E5CA3F7}" type="presOf" srcId="{BBFA9BC3-A8AF-4A4D-9EA8-5F9DE2B28323}" destId="{47AC9F19-514C-4582-8A6D-1EC1F7CA99F9}" srcOrd="0" destOrd="0" presId="urn:microsoft.com/office/officeart/2005/8/layout/vProcess5"/>
    <dgm:cxn modelId="{8ADD788F-B79B-41F9-931D-E583B5B1DB4D}" type="presOf" srcId="{24EE8023-8448-4E0C-92B3-F51C89F59208}" destId="{0F522A4F-A905-4668-8A63-4B8EE5B80367}" srcOrd="0" destOrd="0" presId="urn:microsoft.com/office/officeart/2005/8/layout/vProcess5"/>
    <dgm:cxn modelId="{D12E1B91-5FF8-4D88-857B-390DF827E64A}" type="presOf" srcId="{F73E1B59-F1B4-41BF-899A-2D52D519BF71}" destId="{922D457A-7BF2-4E52-B27C-64D4D88D59AB}" srcOrd="0" destOrd="0" presId="urn:microsoft.com/office/officeart/2005/8/layout/vProcess5"/>
    <dgm:cxn modelId="{566E1B91-32B9-452F-96A6-3557908080A2}" type="presOf" srcId="{9B36CC8D-6BD0-46A1-86F2-BEFF7AE14933}" destId="{6C393B59-A587-430D-A690-88A112D3E4BF}" srcOrd="0" destOrd="0" presId="urn:microsoft.com/office/officeart/2005/8/layout/vProcess5"/>
    <dgm:cxn modelId="{71E038DA-8FD5-4671-B6F4-C5D62FD3891D}" srcId="{9B36CC8D-6BD0-46A1-86F2-BEFF7AE14933}" destId="{24EE8023-8448-4E0C-92B3-F51C89F59208}" srcOrd="1" destOrd="0" parTransId="{A0C563DB-D14E-4630-B5A8-EDD62B49F925}" sibTransId="{AFE5702A-BF59-4734-8864-1E633F4ACDAC}"/>
    <dgm:cxn modelId="{01413895-9628-4965-A589-3C2F847009C6}" type="presParOf" srcId="{6C393B59-A587-430D-A690-88A112D3E4BF}" destId="{6298DA58-27AC-4E97-8550-96045F683B34}" srcOrd="0" destOrd="0" presId="urn:microsoft.com/office/officeart/2005/8/layout/vProcess5"/>
    <dgm:cxn modelId="{0D261C37-116A-4CB2-A466-20A97123E4D3}" type="presParOf" srcId="{6C393B59-A587-430D-A690-88A112D3E4BF}" destId="{922D457A-7BF2-4E52-B27C-64D4D88D59AB}" srcOrd="1" destOrd="0" presId="urn:microsoft.com/office/officeart/2005/8/layout/vProcess5"/>
    <dgm:cxn modelId="{9E4FAA93-DA00-4B63-834B-720BDD329D73}" type="presParOf" srcId="{6C393B59-A587-430D-A690-88A112D3E4BF}" destId="{0F522A4F-A905-4668-8A63-4B8EE5B80367}" srcOrd="2" destOrd="0" presId="urn:microsoft.com/office/officeart/2005/8/layout/vProcess5"/>
    <dgm:cxn modelId="{1E6F8552-DF6B-4205-8EDF-E9CA6B29399D}" type="presParOf" srcId="{6C393B59-A587-430D-A690-88A112D3E4BF}" destId="{47AC9F19-514C-4582-8A6D-1EC1F7CA99F9}" srcOrd="3" destOrd="0" presId="urn:microsoft.com/office/officeart/2005/8/layout/vProcess5"/>
    <dgm:cxn modelId="{808D3DCA-266A-4F03-9295-764D666FFB27}" type="presParOf" srcId="{6C393B59-A587-430D-A690-88A112D3E4BF}" destId="{2D643BE7-AFCD-4647-B6DF-118492BD1B71}" srcOrd="4" destOrd="0" presId="urn:microsoft.com/office/officeart/2005/8/layout/vProcess5"/>
    <dgm:cxn modelId="{B50309A4-8F5C-413E-A884-F4A29FDDA798}" type="presParOf" srcId="{6C393B59-A587-430D-A690-88A112D3E4BF}" destId="{054F25E5-1E18-43F3-AEB3-0946E6F9F84D}"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2D457A-7BF2-4E52-B27C-64D4D88D59AB}">
      <dsp:nvSpPr>
        <dsp:cNvPr id="0" name=""/>
        <dsp:cNvSpPr/>
      </dsp:nvSpPr>
      <dsp:spPr>
        <a:xfrm>
          <a:off x="0" y="0"/>
          <a:ext cx="3717840" cy="9676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Shareholders</a:t>
          </a:r>
        </a:p>
      </dsp:txBody>
      <dsp:txXfrm>
        <a:off x="28341" y="28341"/>
        <a:ext cx="2717707" cy="910959"/>
      </dsp:txXfrm>
    </dsp:sp>
    <dsp:sp modelId="{0F522A4F-A905-4668-8A63-4B8EE5B80367}">
      <dsp:nvSpPr>
        <dsp:cNvPr id="0" name=""/>
        <dsp:cNvSpPr/>
      </dsp:nvSpPr>
      <dsp:spPr>
        <a:xfrm>
          <a:off x="656089" y="1182673"/>
          <a:ext cx="3717840" cy="9676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Company</a:t>
          </a:r>
        </a:p>
      </dsp:txBody>
      <dsp:txXfrm>
        <a:off x="684430" y="1211014"/>
        <a:ext cx="2376101" cy="910959"/>
      </dsp:txXfrm>
    </dsp:sp>
    <dsp:sp modelId="{47AC9F19-514C-4582-8A6D-1EC1F7CA99F9}">
      <dsp:nvSpPr>
        <dsp:cNvPr id="0" name=""/>
        <dsp:cNvSpPr/>
      </dsp:nvSpPr>
      <dsp:spPr>
        <a:xfrm>
          <a:off x="2878483" y="760673"/>
          <a:ext cx="1049746" cy="628967"/>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Run</a:t>
          </a:r>
        </a:p>
      </dsp:txBody>
      <dsp:txXfrm>
        <a:off x="3114676" y="760673"/>
        <a:ext cx="577360" cy="473298"/>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5CACB6-9C86-4BA1-85BB-B10CC0DFB978}" type="datetimeFigureOut">
              <a:rPr lang="en-GB" smtClean="0"/>
              <a:t>15/03/2026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869A2A-7382-4F13-81C1-6F0F55AB88BA}" type="slidenum">
              <a:rPr lang="en-GB" smtClean="0"/>
              <a:t>‹#›</a:t>
            </a:fld>
            <a:endParaRPr lang="en-GB"/>
          </a:p>
        </p:txBody>
      </p:sp>
    </p:spTree>
    <p:extLst>
      <p:ext uri="{BB962C8B-B14F-4D97-AF65-F5344CB8AC3E}">
        <p14:creationId xmlns:p14="http://schemas.microsoft.com/office/powerpoint/2010/main" val="2291772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A869A2A-7382-4F13-81C1-6F0F55AB88BA}" type="slidenum">
              <a:rPr lang="en-GB" smtClean="0"/>
              <a:t>1</a:t>
            </a:fld>
            <a:endParaRPr lang="en-GB"/>
          </a:p>
        </p:txBody>
      </p:sp>
    </p:spTree>
    <p:extLst>
      <p:ext uri="{BB962C8B-B14F-4D97-AF65-F5344CB8AC3E}">
        <p14:creationId xmlns:p14="http://schemas.microsoft.com/office/powerpoint/2010/main" val="1900054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EEF0FF"/>
                </a:solidFill>
                <a:effectLst/>
                <a:latin typeface="Google Sans"/>
              </a:rPr>
              <a:t>Corporate governance theories explore how companies are controlled and operated</a:t>
            </a:r>
            <a:endParaRPr lang="en-GB" dirty="0"/>
          </a:p>
          <a:p>
            <a:endParaRPr lang="en-GB" b="0" i="0" dirty="0">
              <a:solidFill>
                <a:srgbClr val="1F1F1F"/>
              </a:solidFill>
              <a:effectLst/>
              <a:latin typeface="ElsevierSans"/>
            </a:endParaRPr>
          </a:p>
          <a:p>
            <a:r>
              <a:rPr lang="en-GB" b="0" i="0" dirty="0">
                <a:solidFill>
                  <a:srgbClr val="1F1F1F"/>
                </a:solidFill>
                <a:effectLst/>
                <a:latin typeface="ElsevierSans"/>
              </a:rPr>
              <a:t>Organizational theory refers to a management insight that can help explain or describe organizational </a:t>
            </a:r>
            <a:r>
              <a:rPr lang="en-GB" b="0" i="0" dirty="0" err="1">
                <a:solidFill>
                  <a:srgbClr val="1F1F1F"/>
                </a:solidFill>
                <a:effectLst/>
                <a:latin typeface="ElsevierSans"/>
              </a:rPr>
              <a:t>behaviors</a:t>
            </a:r>
            <a:r>
              <a:rPr lang="en-GB" b="0" i="0" dirty="0">
                <a:solidFill>
                  <a:srgbClr val="1F1F1F"/>
                </a:solidFill>
                <a:effectLst/>
                <a:latin typeface="ElsevierSans"/>
              </a:rPr>
              <a:t>, designs, or structures within various types of organizations and their activities, processes, and environments.</a:t>
            </a:r>
          </a:p>
          <a:p>
            <a:endParaRPr lang="en-GB" b="0" i="0" dirty="0">
              <a:solidFill>
                <a:srgbClr val="1F1F1F"/>
              </a:solidFill>
              <a:effectLst/>
              <a:latin typeface="ElsevierSans"/>
            </a:endParaRPr>
          </a:p>
        </p:txBody>
      </p:sp>
      <p:sp>
        <p:nvSpPr>
          <p:cNvPr id="4" name="Slide Number Placeholder 3"/>
          <p:cNvSpPr>
            <a:spLocks noGrp="1"/>
          </p:cNvSpPr>
          <p:nvPr>
            <p:ph type="sldNum" sz="quarter" idx="5"/>
          </p:nvPr>
        </p:nvSpPr>
        <p:spPr/>
        <p:txBody>
          <a:bodyPr/>
          <a:lstStyle/>
          <a:p>
            <a:fld id="{FA869A2A-7382-4F13-81C1-6F0F55AB88BA}" type="slidenum">
              <a:rPr lang="en-GB" smtClean="0"/>
              <a:t>3</a:t>
            </a:fld>
            <a:endParaRPr lang="en-GB"/>
          </a:p>
        </p:txBody>
      </p:sp>
    </p:spTree>
    <p:extLst>
      <p:ext uri="{BB962C8B-B14F-4D97-AF65-F5344CB8AC3E}">
        <p14:creationId xmlns:p14="http://schemas.microsoft.com/office/powerpoint/2010/main" val="3638038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spcBef>
                <a:spcPts val="0"/>
              </a:spcBef>
              <a:spcAft>
                <a:spcPts val="1800"/>
              </a:spcAft>
            </a:pPr>
            <a:r>
              <a:rPr lang="en-GB" altLang="en-US" sz="1200">
                <a:latin typeface="Arial" panose="020B0604020202020204" pitchFamily="34" charset="0"/>
                <a:cs typeface="Arial" panose="020B0604020202020204" pitchFamily="34" charset="0"/>
              </a:rPr>
              <a:t>Modern corporations are more often managed (controlled) by “agents” (managers) who have a fiduciary duty to fulfil the goals and mission given them by its “principals” (shareholders)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B9E1F4-77C1-461E-ABFF-BFE7DD57AFD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9782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B9E1F4-77C1-461E-ABFF-BFE7DD57AFD2}" type="slidenum">
              <a:rPr lang="en-GB" smtClean="0"/>
              <a:t>8</a:t>
            </a:fld>
            <a:endParaRPr lang="en-GB"/>
          </a:p>
        </p:txBody>
      </p:sp>
    </p:spTree>
    <p:extLst>
      <p:ext uri="{BB962C8B-B14F-4D97-AF65-F5344CB8AC3E}">
        <p14:creationId xmlns:p14="http://schemas.microsoft.com/office/powerpoint/2010/main" val="1731741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return of State-led governance—characterized by mechanisms like </a:t>
            </a:r>
            <a:r>
              <a:rPr lang="en-GB" b="1" dirty="0"/>
              <a:t>golden shares</a:t>
            </a:r>
            <a:r>
              <a:rPr lang="en-GB" dirty="0"/>
              <a:t> (which grant the State veto power over key corporate decisions) and </a:t>
            </a:r>
            <a:r>
              <a:rPr lang="en-GB" b="1" dirty="0"/>
              <a:t>national security interventions</a:t>
            </a:r>
            <a:r>
              <a:rPr lang="en-GB" dirty="0"/>
              <a:t>—directly challenges the foundational "efficiency" assumptions of Agency Theory and Transaction Cost Economics (TCE).</a:t>
            </a:r>
          </a:p>
          <a:p>
            <a:r>
              <a:rPr lang="en-GB" dirty="0"/>
              <a:t>According to the provided papers, these theories assume that firm structures and governance choices are driven by a singular logic of </a:t>
            </a:r>
            <a:r>
              <a:rPr lang="en-GB" b="1" dirty="0"/>
              <a:t>private cost-minimization</a:t>
            </a:r>
            <a:r>
              <a:rPr lang="en-GB" dirty="0"/>
              <a:t> and </a:t>
            </a:r>
            <a:r>
              <a:rPr lang="en-GB" b="1" dirty="0"/>
              <a:t>value-maximization</a:t>
            </a:r>
            <a:r>
              <a:rPr lang="en-GB" dirty="0"/>
              <a:t>. The State’s return as a primary actor replaces these market-driven mechanics with political and strategic objectives.</a:t>
            </a:r>
          </a:p>
        </p:txBody>
      </p:sp>
      <p:sp>
        <p:nvSpPr>
          <p:cNvPr id="4" name="Slide Number Placeholder 3"/>
          <p:cNvSpPr>
            <a:spLocks noGrp="1"/>
          </p:cNvSpPr>
          <p:nvPr>
            <p:ph type="sldNum" sz="quarter" idx="5"/>
          </p:nvPr>
        </p:nvSpPr>
        <p:spPr/>
        <p:txBody>
          <a:bodyPr/>
          <a:lstStyle/>
          <a:p>
            <a:fld id="{FA869A2A-7382-4F13-81C1-6F0F55AB88BA}" type="slidenum">
              <a:rPr lang="en-GB" smtClean="0"/>
              <a:t>18</a:t>
            </a:fld>
            <a:endParaRPr lang="en-GB"/>
          </a:p>
        </p:txBody>
      </p:sp>
    </p:spTree>
    <p:extLst>
      <p:ext uri="{BB962C8B-B14F-4D97-AF65-F5344CB8AC3E}">
        <p14:creationId xmlns:p14="http://schemas.microsoft.com/office/powerpoint/2010/main" val="1711016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3958D-4EE4-7F6A-F47F-64C91B6D5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DBF08-2683-D0F0-712D-0FBE515B3F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7CE2C-2D19-AAEC-DD43-479D6AE2217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8C8F649-8DDA-2AAF-5CB3-38053D1ACB3E}"/>
              </a:ext>
            </a:extLst>
          </p:cNvPr>
          <p:cNvSpPr>
            <a:spLocks noGrp="1"/>
          </p:cNvSpPr>
          <p:nvPr>
            <p:ph type="sldNum" sz="quarter" idx="5"/>
          </p:nvPr>
        </p:nvSpPr>
        <p:spPr/>
        <p:txBody>
          <a:bodyPr/>
          <a:lstStyle/>
          <a:p>
            <a:fld id="{FA869A2A-7382-4F13-81C1-6F0F55AB88BA}" type="slidenum">
              <a:rPr lang="en-GB" smtClean="0"/>
              <a:t>21</a:t>
            </a:fld>
            <a:endParaRPr lang="en-GB"/>
          </a:p>
        </p:txBody>
      </p:sp>
    </p:spTree>
    <p:extLst>
      <p:ext uri="{BB962C8B-B14F-4D97-AF65-F5344CB8AC3E}">
        <p14:creationId xmlns:p14="http://schemas.microsoft.com/office/powerpoint/2010/main" val="623218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91FD8-228D-45D2-F4DF-3956F6B96F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F5D9984-7DCE-524E-53E1-AD41513E8A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B76364D-8BFD-0A93-D54B-08B7171D2400}"/>
              </a:ext>
            </a:extLst>
          </p:cNvPr>
          <p:cNvSpPr>
            <a:spLocks noGrp="1"/>
          </p:cNvSpPr>
          <p:nvPr>
            <p:ph type="dt" sz="half" idx="10"/>
          </p:nvPr>
        </p:nvSpPr>
        <p:spPr/>
        <p:txBody>
          <a:bodyPr/>
          <a:lstStyle/>
          <a:p>
            <a:fld id="{FF570C8D-A5F8-484D-A42B-6A1C55BA86EA}" type="datetimeFigureOut">
              <a:rPr lang="en-GB" smtClean="0"/>
              <a:t>15/03/2026</a:t>
            </a:fld>
            <a:endParaRPr lang="en-GB"/>
          </a:p>
        </p:txBody>
      </p:sp>
      <p:sp>
        <p:nvSpPr>
          <p:cNvPr id="5" name="Footer Placeholder 4">
            <a:extLst>
              <a:ext uri="{FF2B5EF4-FFF2-40B4-BE49-F238E27FC236}">
                <a16:creationId xmlns:a16="http://schemas.microsoft.com/office/drawing/2014/main" id="{A39BD282-73A9-770C-E7C7-6226C01D6B9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FC212E2-7B13-4835-87CE-2BEA1FD2E618}"/>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3606400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D080D-903E-5561-B736-7A49DD7F571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AF29354-7830-C388-E3B6-5000193691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3815749-D04F-0264-BE57-3719400EF55A}"/>
              </a:ext>
            </a:extLst>
          </p:cNvPr>
          <p:cNvSpPr>
            <a:spLocks noGrp="1"/>
          </p:cNvSpPr>
          <p:nvPr>
            <p:ph type="dt" sz="half" idx="10"/>
          </p:nvPr>
        </p:nvSpPr>
        <p:spPr/>
        <p:txBody>
          <a:bodyPr/>
          <a:lstStyle/>
          <a:p>
            <a:fld id="{FF570C8D-A5F8-484D-A42B-6A1C55BA86EA}" type="datetimeFigureOut">
              <a:rPr lang="en-GB" smtClean="0"/>
              <a:t>15/03/2026</a:t>
            </a:fld>
            <a:endParaRPr lang="en-GB"/>
          </a:p>
        </p:txBody>
      </p:sp>
      <p:sp>
        <p:nvSpPr>
          <p:cNvPr id="5" name="Footer Placeholder 4">
            <a:extLst>
              <a:ext uri="{FF2B5EF4-FFF2-40B4-BE49-F238E27FC236}">
                <a16:creationId xmlns:a16="http://schemas.microsoft.com/office/drawing/2014/main" id="{FBA93A5F-64CE-4D8E-2080-0C0680664C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901B68-91A0-3F50-E90E-851057CB74E1}"/>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55060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AACB5-6607-5FE6-9603-09AA9FD79B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A39C150-D282-FA1A-4FC4-E15C71F38D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FFADC2-148B-E644-D7DC-3A489E0202A6}"/>
              </a:ext>
            </a:extLst>
          </p:cNvPr>
          <p:cNvSpPr>
            <a:spLocks noGrp="1"/>
          </p:cNvSpPr>
          <p:nvPr>
            <p:ph type="dt" sz="half" idx="10"/>
          </p:nvPr>
        </p:nvSpPr>
        <p:spPr/>
        <p:txBody>
          <a:bodyPr/>
          <a:lstStyle/>
          <a:p>
            <a:fld id="{FF570C8D-A5F8-484D-A42B-6A1C55BA86EA}" type="datetimeFigureOut">
              <a:rPr lang="en-GB" smtClean="0"/>
              <a:t>15/03/2026</a:t>
            </a:fld>
            <a:endParaRPr lang="en-GB"/>
          </a:p>
        </p:txBody>
      </p:sp>
      <p:sp>
        <p:nvSpPr>
          <p:cNvPr id="5" name="Footer Placeholder 4">
            <a:extLst>
              <a:ext uri="{FF2B5EF4-FFF2-40B4-BE49-F238E27FC236}">
                <a16:creationId xmlns:a16="http://schemas.microsoft.com/office/drawing/2014/main" id="{2AB2CB95-716F-2C11-0447-60985A146D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9356A9C-9A71-5351-46A8-439EB78F7EA1}"/>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1603892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12B90-6474-4523-3BD9-B365F20926E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21FCEA5-4EFA-5258-A624-F6EA767EC1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0AFD77A-9877-5A38-54D8-8D6F153DE2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2C89EE2-F969-B4AA-267F-9076B1D081D0}"/>
              </a:ext>
            </a:extLst>
          </p:cNvPr>
          <p:cNvSpPr>
            <a:spLocks noGrp="1"/>
          </p:cNvSpPr>
          <p:nvPr>
            <p:ph type="dt" sz="half" idx="10"/>
          </p:nvPr>
        </p:nvSpPr>
        <p:spPr/>
        <p:txBody>
          <a:bodyPr/>
          <a:lstStyle/>
          <a:p>
            <a:fld id="{FF570C8D-A5F8-484D-A42B-6A1C55BA86EA}" type="datetimeFigureOut">
              <a:rPr lang="en-GB" smtClean="0"/>
              <a:t>15/03/2026</a:t>
            </a:fld>
            <a:endParaRPr lang="en-GB"/>
          </a:p>
        </p:txBody>
      </p:sp>
      <p:sp>
        <p:nvSpPr>
          <p:cNvPr id="6" name="Footer Placeholder 5">
            <a:extLst>
              <a:ext uri="{FF2B5EF4-FFF2-40B4-BE49-F238E27FC236}">
                <a16:creationId xmlns:a16="http://schemas.microsoft.com/office/drawing/2014/main" id="{E3CF9156-08F4-34DC-F2C8-4CD099F6AD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C69098-116F-5CE1-D54F-38EA39B06B07}"/>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2674585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5F7C7-2A30-6CFD-3FA5-546BB72DCEB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6176A49-54F9-037F-DC06-8DC7505998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1B7625-C95E-C7F2-513D-D91C9D61F7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B1C4E4A-5FC0-FBDE-A358-EAB8896638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1B2968-D248-0212-9A53-8CC04C08C6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5D02CA5-B7FB-E561-BAFE-2EC139B81DDB}"/>
              </a:ext>
            </a:extLst>
          </p:cNvPr>
          <p:cNvSpPr>
            <a:spLocks noGrp="1"/>
          </p:cNvSpPr>
          <p:nvPr>
            <p:ph type="dt" sz="half" idx="10"/>
          </p:nvPr>
        </p:nvSpPr>
        <p:spPr/>
        <p:txBody>
          <a:bodyPr/>
          <a:lstStyle/>
          <a:p>
            <a:fld id="{FF570C8D-A5F8-484D-A42B-6A1C55BA86EA}" type="datetimeFigureOut">
              <a:rPr lang="en-GB" smtClean="0"/>
              <a:t>15/03/2026</a:t>
            </a:fld>
            <a:endParaRPr lang="en-GB"/>
          </a:p>
        </p:txBody>
      </p:sp>
      <p:sp>
        <p:nvSpPr>
          <p:cNvPr id="8" name="Footer Placeholder 7">
            <a:extLst>
              <a:ext uri="{FF2B5EF4-FFF2-40B4-BE49-F238E27FC236}">
                <a16:creationId xmlns:a16="http://schemas.microsoft.com/office/drawing/2014/main" id="{88D31292-BB77-80E7-D8E4-47FBCCA9605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93BA356-2359-B590-9AED-7E77DE823567}"/>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358771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FBBA1-0793-0D44-AF62-89C0A1D6510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26E3014-F4C7-236C-1F92-08CDD0AD54D1}"/>
              </a:ext>
            </a:extLst>
          </p:cNvPr>
          <p:cNvSpPr>
            <a:spLocks noGrp="1"/>
          </p:cNvSpPr>
          <p:nvPr>
            <p:ph type="dt" sz="half" idx="10"/>
          </p:nvPr>
        </p:nvSpPr>
        <p:spPr/>
        <p:txBody>
          <a:bodyPr/>
          <a:lstStyle/>
          <a:p>
            <a:fld id="{FF570C8D-A5F8-484D-A42B-6A1C55BA86EA}" type="datetimeFigureOut">
              <a:rPr lang="en-GB" smtClean="0"/>
              <a:t>15/03/2026</a:t>
            </a:fld>
            <a:endParaRPr lang="en-GB"/>
          </a:p>
        </p:txBody>
      </p:sp>
      <p:sp>
        <p:nvSpPr>
          <p:cNvPr id="4" name="Footer Placeholder 3">
            <a:extLst>
              <a:ext uri="{FF2B5EF4-FFF2-40B4-BE49-F238E27FC236}">
                <a16:creationId xmlns:a16="http://schemas.microsoft.com/office/drawing/2014/main" id="{21FB4227-AD7E-3844-6235-C14D8F8F643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AF270D9-DCA8-6664-5D0E-7A2122DBAA87}"/>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1210422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57C13C-1060-9D70-621B-8B5D52D1FFDE}"/>
              </a:ext>
            </a:extLst>
          </p:cNvPr>
          <p:cNvSpPr>
            <a:spLocks noGrp="1"/>
          </p:cNvSpPr>
          <p:nvPr>
            <p:ph type="dt" sz="half" idx="10"/>
          </p:nvPr>
        </p:nvSpPr>
        <p:spPr/>
        <p:txBody>
          <a:bodyPr/>
          <a:lstStyle/>
          <a:p>
            <a:fld id="{FF570C8D-A5F8-484D-A42B-6A1C55BA86EA}" type="datetimeFigureOut">
              <a:rPr lang="en-GB" smtClean="0"/>
              <a:t>15/03/2026</a:t>
            </a:fld>
            <a:endParaRPr lang="en-GB"/>
          </a:p>
        </p:txBody>
      </p:sp>
      <p:sp>
        <p:nvSpPr>
          <p:cNvPr id="3" name="Footer Placeholder 2">
            <a:extLst>
              <a:ext uri="{FF2B5EF4-FFF2-40B4-BE49-F238E27FC236}">
                <a16:creationId xmlns:a16="http://schemas.microsoft.com/office/drawing/2014/main" id="{D21A35B8-E85E-89CC-2B6E-56C4166450B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EE77EC8-615B-92AE-426B-8398C0EE7F42}"/>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1266845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1BDC1-C498-6317-7C04-E121C5ACA4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BC32D61-374E-28F2-1A83-BA498F7B5B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F1AFA52-0195-BCB5-10A4-EA175E6382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82C8BE-6D6B-F5B0-759F-C91B3B528391}"/>
              </a:ext>
            </a:extLst>
          </p:cNvPr>
          <p:cNvSpPr>
            <a:spLocks noGrp="1"/>
          </p:cNvSpPr>
          <p:nvPr>
            <p:ph type="dt" sz="half" idx="10"/>
          </p:nvPr>
        </p:nvSpPr>
        <p:spPr/>
        <p:txBody>
          <a:bodyPr/>
          <a:lstStyle/>
          <a:p>
            <a:fld id="{FF570C8D-A5F8-484D-A42B-6A1C55BA86EA}" type="datetimeFigureOut">
              <a:rPr lang="en-GB" smtClean="0"/>
              <a:t>15/03/2026</a:t>
            </a:fld>
            <a:endParaRPr lang="en-GB"/>
          </a:p>
        </p:txBody>
      </p:sp>
      <p:sp>
        <p:nvSpPr>
          <p:cNvPr id="6" name="Footer Placeholder 5">
            <a:extLst>
              <a:ext uri="{FF2B5EF4-FFF2-40B4-BE49-F238E27FC236}">
                <a16:creationId xmlns:a16="http://schemas.microsoft.com/office/drawing/2014/main" id="{22AE5447-FF87-E549-EB0C-19F7EA9BBD6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7CC5345-6456-E40B-FD75-6208CC94155A}"/>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2413157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E81F1-2F15-BAB8-9EB5-6B458B5A75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6BB8A0E-BDD0-CBBB-68A2-5C408F5EEF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DC8996E-6F95-464C-EBAF-16A024BD23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FDA288-FD97-73F1-DCB2-2D60B8FB1448}"/>
              </a:ext>
            </a:extLst>
          </p:cNvPr>
          <p:cNvSpPr>
            <a:spLocks noGrp="1"/>
          </p:cNvSpPr>
          <p:nvPr>
            <p:ph type="dt" sz="half" idx="10"/>
          </p:nvPr>
        </p:nvSpPr>
        <p:spPr/>
        <p:txBody>
          <a:bodyPr/>
          <a:lstStyle/>
          <a:p>
            <a:fld id="{FF570C8D-A5F8-484D-A42B-6A1C55BA86EA}" type="datetimeFigureOut">
              <a:rPr lang="en-GB" smtClean="0"/>
              <a:t>15/03/2026</a:t>
            </a:fld>
            <a:endParaRPr lang="en-GB"/>
          </a:p>
        </p:txBody>
      </p:sp>
      <p:sp>
        <p:nvSpPr>
          <p:cNvPr id="6" name="Footer Placeholder 5">
            <a:extLst>
              <a:ext uri="{FF2B5EF4-FFF2-40B4-BE49-F238E27FC236}">
                <a16:creationId xmlns:a16="http://schemas.microsoft.com/office/drawing/2014/main" id="{7D535728-39C4-9679-BE33-89C7E65D6AA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33D9600-0A19-1B1A-E405-4146B7724CD5}"/>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4139093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5B810-DE01-22B9-75DE-CA0BD74ED61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D0F69AA-3225-8599-AB49-04C7F0DE5B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19FCE3-2054-6110-9C85-B2BA9F71C807}"/>
              </a:ext>
            </a:extLst>
          </p:cNvPr>
          <p:cNvSpPr>
            <a:spLocks noGrp="1"/>
          </p:cNvSpPr>
          <p:nvPr>
            <p:ph type="dt" sz="half" idx="10"/>
          </p:nvPr>
        </p:nvSpPr>
        <p:spPr/>
        <p:txBody>
          <a:bodyPr/>
          <a:lstStyle/>
          <a:p>
            <a:fld id="{FF570C8D-A5F8-484D-A42B-6A1C55BA86EA}" type="datetimeFigureOut">
              <a:rPr lang="en-GB" smtClean="0"/>
              <a:t>15/03/2026</a:t>
            </a:fld>
            <a:endParaRPr lang="en-GB"/>
          </a:p>
        </p:txBody>
      </p:sp>
      <p:sp>
        <p:nvSpPr>
          <p:cNvPr id="5" name="Footer Placeholder 4">
            <a:extLst>
              <a:ext uri="{FF2B5EF4-FFF2-40B4-BE49-F238E27FC236}">
                <a16:creationId xmlns:a16="http://schemas.microsoft.com/office/drawing/2014/main" id="{B9CBB98F-B55F-CDE4-9BAF-A0C67C76F0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322341-F796-24C3-E10B-638373679E2B}"/>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916806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7DB971-8145-793A-9684-EF02A56F81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1E4901C-B164-8A10-8E0D-11629364EC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4A34E6-592E-AE46-5CBD-D3DD938F47AB}"/>
              </a:ext>
            </a:extLst>
          </p:cNvPr>
          <p:cNvSpPr>
            <a:spLocks noGrp="1"/>
          </p:cNvSpPr>
          <p:nvPr>
            <p:ph type="dt" sz="half" idx="10"/>
          </p:nvPr>
        </p:nvSpPr>
        <p:spPr/>
        <p:txBody>
          <a:bodyPr/>
          <a:lstStyle/>
          <a:p>
            <a:fld id="{FF570C8D-A5F8-484D-A42B-6A1C55BA86EA}" type="datetimeFigureOut">
              <a:rPr lang="en-GB" smtClean="0"/>
              <a:t>15/03/2026</a:t>
            </a:fld>
            <a:endParaRPr lang="en-GB"/>
          </a:p>
        </p:txBody>
      </p:sp>
      <p:sp>
        <p:nvSpPr>
          <p:cNvPr id="5" name="Footer Placeholder 4">
            <a:extLst>
              <a:ext uri="{FF2B5EF4-FFF2-40B4-BE49-F238E27FC236}">
                <a16:creationId xmlns:a16="http://schemas.microsoft.com/office/drawing/2014/main" id="{3222E37D-2CCB-CDFA-72BF-CB92E355B34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286B89-F112-6384-C909-24FC1DC5C9B0}"/>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34755841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7" name="Rectangle 6"/>
          <p:cNvSpPr/>
          <p:nvPr userDrawn="1"/>
        </p:nvSpPr>
        <p:spPr>
          <a:xfrm flipH="1">
            <a:off x="0" y="-1"/>
            <a:ext cx="12192000" cy="6858001"/>
          </a:xfrm>
          <a:prstGeom prst="rect">
            <a:avLst/>
          </a:prstGeom>
          <a:blipFill>
            <a:blip r:embed="rId2"/>
            <a:srcRect/>
            <a:stretch>
              <a:fillRect t="-45" b="-4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0" y="-2"/>
            <a:ext cx="12192000" cy="6858001"/>
          </a:xfrm>
          <a:prstGeom prst="rect">
            <a:avLst/>
          </a:prstGeom>
          <a:gradFill flip="none" rotWithShape="1">
            <a:gsLst>
              <a:gs pos="50000">
                <a:srgbClr val="0E6394">
                  <a:alpha val="45000"/>
                </a:srgbClr>
              </a:gs>
              <a:gs pos="17000">
                <a:schemeClr val="tx2">
                  <a:alpha val="45000"/>
                </a:schemeClr>
              </a:gs>
              <a:gs pos="100000">
                <a:schemeClr val="accent2">
                  <a:alpha val="45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3416300" y="1742900"/>
            <a:ext cx="5359400" cy="2387600"/>
          </a:xfrm>
        </p:spPr>
        <p:txBody>
          <a:bodyPr anchor="ctr">
            <a:normAutofit/>
          </a:bodyPr>
          <a:lstStyle>
            <a:lvl1pPr algn="ctr">
              <a:lnSpc>
                <a:spcPct val="100000"/>
              </a:lnSpc>
              <a:defRPr sz="5400" b="1">
                <a:solidFill>
                  <a:schemeClr val="bg1"/>
                </a:solidFill>
              </a:defRPr>
            </a:lvl1pPr>
          </a:lstStyle>
          <a:p>
            <a:r>
              <a:rPr lang="en-US"/>
              <a:t>Click to edit Master title style</a:t>
            </a:r>
            <a:endParaRPr lang="en-GB" dirty="0"/>
          </a:p>
        </p:txBody>
      </p:sp>
      <p:sp>
        <p:nvSpPr>
          <p:cNvPr id="6" name="Text Placeholder 5"/>
          <p:cNvSpPr>
            <a:spLocks noGrp="1"/>
          </p:cNvSpPr>
          <p:nvPr>
            <p:ph type="body" sz="quarter" idx="10" hasCustomPrompt="1"/>
          </p:nvPr>
        </p:nvSpPr>
        <p:spPr>
          <a:xfrm>
            <a:off x="3416398" y="4161275"/>
            <a:ext cx="5359206" cy="1079795"/>
          </a:xfrm>
          <a:prstGeom prst="rect">
            <a:avLst/>
          </a:prstGeom>
        </p:spPr>
        <p:txBody>
          <a:bodyPr anchor="ctr">
            <a:normAutofit/>
          </a:bodyPr>
          <a:lstStyle>
            <a:lvl1pPr marL="0" indent="0" algn="ctr">
              <a:buNone/>
              <a:defRPr sz="2800" b="1" baseline="0">
                <a:solidFill>
                  <a:schemeClr val="bg1"/>
                </a:solidFill>
                <a:latin typeface="+mj-lt"/>
              </a:defRPr>
            </a:lvl1pPr>
          </a:lstStyle>
          <a:p>
            <a:pPr lvl="0"/>
            <a:r>
              <a:rPr lang="en-GB" dirty="0"/>
              <a:t>Insert Text</a:t>
            </a:r>
          </a:p>
        </p:txBody>
      </p:sp>
      <p:sp>
        <p:nvSpPr>
          <p:cNvPr id="8" name="Rectangle 7"/>
          <p:cNvSpPr/>
          <p:nvPr userDrawn="1"/>
        </p:nvSpPr>
        <p:spPr>
          <a:xfrm>
            <a:off x="3396000" y="729000"/>
            <a:ext cx="5400000" cy="5400000"/>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b="1" dirty="0">
              <a:latin typeface="+mj-lt"/>
            </a:endParaRP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4931" y="-146556"/>
            <a:ext cx="2271870" cy="1204452"/>
          </a:xfrm>
          <a:prstGeom prst="rect">
            <a:avLst/>
          </a:prstGeom>
        </p:spPr>
      </p:pic>
    </p:spTree>
    <p:extLst>
      <p:ext uri="{BB962C8B-B14F-4D97-AF65-F5344CB8AC3E}">
        <p14:creationId xmlns:p14="http://schemas.microsoft.com/office/powerpoint/2010/main" val="1497583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Joint Client Slide">
    <p:spTree>
      <p:nvGrpSpPr>
        <p:cNvPr id="1" name=""/>
        <p:cNvGrpSpPr/>
        <p:nvPr/>
      </p:nvGrpSpPr>
      <p:grpSpPr>
        <a:xfrm>
          <a:off x="0" y="0"/>
          <a:ext cx="0" cy="0"/>
          <a:chOff x="0" y="0"/>
          <a:chExt cx="0" cy="0"/>
        </a:xfrm>
      </p:grpSpPr>
      <p:sp>
        <p:nvSpPr>
          <p:cNvPr id="7" name="Rectangle 6"/>
          <p:cNvSpPr/>
          <p:nvPr userDrawn="1"/>
        </p:nvSpPr>
        <p:spPr>
          <a:xfrm flipH="1">
            <a:off x="0" y="-1"/>
            <a:ext cx="12192000" cy="6858001"/>
          </a:xfrm>
          <a:prstGeom prst="rect">
            <a:avLst/>
          </a:prstGeom>
          <a:blipFill>
            <a:blip r:embed="rId2"/>
            <a:srcRect/>
            <a:stretch>
              <a:fillRect t="-45" b="-4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0" y="0"/>
            <a:ext cx="12192000" cy="6858000"/>
          </a:xfrm>
          <a:prstGeom prst="rect">
            <a:avLst/>
          </a:prstGeom>
          <a:gradFill flip="none" rotWithShape="1">
            <a:gsLst>
              <a:gs pos="50000">
                <a:srgbClr val="0E6394">
                  <a:alpha val="45000"/>
                </a:srgbClr>
              </a:gs>
              <a:gs pos="17000">
                <a:schemeClr val="tx2">
                  <a:alpha val="45000"/>
                </a:schemeClr>
              </a:gs>
              <a:gs pos="100000">
                <a:schemeClr val="accent2">
                  <a:alpha val="45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3396000" y="1742900"/>
            <a:ext cx="5400000" cy="2387600"/>
          </a:xfrm>
        </p:spPr>
        <p:txBody>
          <a:bodyPr anchor="ctr">
            <a:normAutofit/>
          </a:bodyPr>
          <a:lstStyle>
            <a:lvl1pPr algn="ctr">
              <a:lnSpc>
                <a:spcPct val="100000"/>
              </a:lnSpc>
              <a:defRPr sz="5400" b="1">
                <a:solidFill>
                  <a:schemeClr val="bg1"/>
                </a:solidFill>
              </a:defRPr>
            </a:lvl1pPr>
          </a:lstStyle>
          <a:p>
            <a:r>
              <a:rPr lang="en-US"/>
              <a:t>Click to edit Master title style</a:t>
            </a:r>
            <a:endParaRPr lang="en-GB" dirty="0"/>
          </a:p>
        </p:txBody>
      </p:sp>
      <p:sp>
        <p:nvSpPr>
          <p:cNvPr id="6" name="Text Placeholder 5"/>
          <p:cNvSpPr>
            <a:spLocks noGrp="1"/>
          </p:cNvSpPr>
          <p:nvPr>
            <p:ph type="body" sz="quarter" idx="10" hasCustomPrompt="1"/>
          </p:nvPr>
        </p:nvSpPr>
        <p:spPr>
          <a:xfrm>
            <a:off x="3396099" y="4161275"/>
            <a:ext cx="5399803" cy="1079795"/>
          </a:xfrm>
          <a:prstGeom prst="rect">
            <a:avLst/>
          </a:prstGeom>
        </p:spPr>
        <p:txBody>
          <a:bodyPr anchor="ctr">
            <a:normAutofit/>
          </a:bodyPr>
          <a:lstStyle>
            <a:lvl1pPr marL="0" indent="0" algn="ctr">
              <a:buNone/>
              <a:defRPr sz="2800" b="1" baseline="0">
                <a:solidFill>
                  <a:schemeClr val="bg1"/>
                </a:solidFill>
                <a:latin typeface="+mj-lt"/>
              </a:defRPr>
            </a:lvl1pPr>
          </a:lstStyle>
          <a:p>
            <a:pPr lvl="0"/>
            <a:r>
              <a:rPr lang="en-GB" dirty="0"/>
              <a:t>Insert Text</a:t>
            </a:r>
          </a:p>
        </p:txBody>
      </p:sp>
      <p:sp>
        <p:nvSpPr>
          <p:cNvPr id="10" name="Rectangle 9"/>
          <p:cNvSpPr/>
          <p:nvPr userDrawn="1"/>
        </p:nvSpPr>
        <p:spPr>
          <a:xfrm>
            <a:off x="3396000" y="729000"/>
            <a:ext cx="5400000" cy="5400000"/>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b="1" dirty="0">
              <a:latin typeface="+mj-lt"/>
            </a:endParaRP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4931" y="-146556"/>
            <a:ext cx="2271870" cy="1204452"/>
          </a:xfrm>
          <a:prstGeom prst="rect">
            <a:avLst/>
          </a:prstGeom>
        </p:spPr>
      </p:pic>
    </p:spTree>
    <p:extLst>
      <p:ext uri="{BB962C8B-B14F-4D97-AF65-F5344CB8AC3E}">
        <p14:creationId xmlns:p14="http://schemas.microsoft.com/office/powerpoint/2010/main" val="1766499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Slide">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gradFill flip="none" rotWithShape="1">
            <a:gsLst>
              <a:gs pos="37000">
                <a:schemeClr val="accent4"/>
              </a:gs>
              <a:gs pos="7000">
                <a:schemeClr val="accent4"/>
              </a:gs>
              <a:gs pos="63000">
                <a:schemeClr val="accent2"/>
              </a:gs>
              <a:gs pos="100000">
                <a:schemeClr val="accent3"/>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flipH="1">
            <a:off x="0" y="0"/>
            <a:ext cx="12190412" cy="6858000"/>
          </a:xfrm>
          <a:prstGeom prst="rect">
            <a:avLst/>
          </a:prstGeom>
          <a:blipFill dpi="0" rotWithShape="1">
            <a:blip r:embed="rId2">
              <a:alphaModFix amt="40000"/>
            </a:blip>
            <a:srcRect/>
            <a:stretch>
              <a:fillRect l="-20940" t="-1372" b="-228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2" name="Title 1"/>
          <p:cNvSpPr>
            <a:spLocks noGrp="1"/>
          </p:cNvSpPr>
          <p:nvPr>
            <p:ph type="ctrTitle"/>
          </p:nvPr>
        </p:nvSpPr>
        <p:spPr>
          <a:xfrm>
            <a:off x="4471876" y="2409650"/>
            <a:ext cx="7262923" cy="2387600"/>
          </a:xfrm>
        </p:spPr>
        <p:txBody>
          <a:bodyPr anchor="ctr">
            <a:noAutofit/>
          </a:bodyPr>
          <a:lstStyle>
            <a:lvl1pPr algn="r">
              <a:lnSpc>
                <a:spcPct val="100000"/>
              </a:lnSpc>
              <a:defRPr sz="8000" b="1">
                <a:solidFill>
                  <a:schemeClr val="bg1"/>
                </a:solidFill>
              </a:defRPr>
            </a:lvl1pPr>
          </a:lstStyle>
          <a:p>
            <a:r>
              <a:rPr lang="en-US"/>
              <a:t>Click to edit Master title style</a:t>
            </a:r>
            <a:endParaRPr lang="en-GB" dirty="0"/>
          </a:p>
        </p:txBody>
      </p:sp>
      <p:sp>
        <p:nvSpPr>
          <p:cNvPr id="6" name="Text Placeholder 5"/>
          <p:cNvSpPr>
            <a:spLocks noGrp="1"/>
          </p:cNvSpPr>
          <p:nvPr>
            <p:ph type="body" sz="quarter" idx="10" hasCustomPrompt="1"/>
          </p:nvPr>
        </p:nvSpPr>
        <p:spPr>
          <a:xfrm>
            <a:off x="209550" y="5562600"/>
            <a:ext cx="11525096" cy="947797"/>
          </a:xfrm>
          <a:prstGeom prst="rect">
            <a:avLst/>
          </a:prstGeom>
        </p:spPr>
        <p:txBody>
          <a:bodyPr anchor="ctr">
            <a:normAutofit/>
          </a:bodyPr>
          <a:lstStyle>
            <a:lvl1pPr marL="0" indent="0" algn="r">
              <a:buNone/>
              <a:defRPr sz="3600" b="0" baseline="0">
                <a:solidFill>
                  <a:schemeClr val="bg1"/>
                </a:solidFill>
                <a:latin typeface="+mn-lt"/>
              </a:defRPr>
            </a:lvl1pPr>
          </a:lstStyle>
          <a:p>
            <a:pPr lvl="0"/>
            <a:r>
              <a:rPr lang="en-GB" dirty="0"/>
              <a:t>Insert Text</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4931" y="-146556"/>
            <a:ext cx="2271870" cy="1204452"/>
          </a:xfrm>
          <a:prstGeom prst="rect">
            <a:avLst/>
          </a:prstGeom>
        </p:spPr>
      </p:pic>
    </p:spTree>
    <p:extLst>
      <p:ext uri="{BB962C8B-B14F-4D97-AF65-F5344CB8AC3E}">
        <p14:creationId xmlns:p14="http://schemas.microsoft.com/office/powerpoint/2010/main" val="955627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nimating TItle Bar">
    <p:spTree>
      <p:nvGrpSpPr>
        <p:cNvPr id="1" name=""/>
        <p:cNvGrpSpPr/>
        <p:nvPr/>
      </p:nvGrpSpPr>
      <p:grpSpPr>
        <a:xfrm>
          <a:off x="0" y="0"/>
          <a:ext cx="0" cy="0"/>
          <a:chOff x="0" y="0"/>
          <a:chExt cx="0" cy="0"/>
        </a:xfrm>
      </p:grpSpPr>
      <p:sp>
        <p:nvSpPr>
          <p:cNvPr id="7" name="Rectangle 6"/>
          <p:cNvSpPr/>
          <p:nvPr userDrawn="1"/>
        </p:nvSpPr>
        <p:spPr>
          <a:xfrm flipH="1" flipV="1">
            <a:off x="2005009" y="-2"/>
            <a:ext cx="10185395" cy="896472"/>
          </a:xfrm>
          <a:prstGeom prst="rect">
            <a:avLst/>
          </a:prstGeom>
          <a:gradFill flip="none" rotWithShape="1">
            <a:gsLst>
              <a:gs pos="50000">
                <a:srgbClr val="0E6394"/>
              </a:gs>
              <a:gs pos="17000">
                <a:schemeClr val="bg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005012" y="98984"/>
            <a:ext cx="10185400" cy="698501"/>
          </a:xfrm>
        </p:spPr>
        <p:txBody>
          <a:bodyPr>
            <a:normAutofit/>
          </a:bodyPr>
          <a:lstStyle>
            <a:lvl1pPr>
              <a:defRPr sz="2400" b="1">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3181654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p:bldLst>
  </p:timing>
  <p:extLst>
    <p:ext uri="{DCECCB84-F9BA-43D5-87BE-67443E8EF086}">
      <p15:sldGuideLst xmlns:p15="http://schemas.microsoft.com/office/powerpoint/2012/main">
        <p15:guide id="2" pos="7">
          <p15:clr>
            <a:srgbClr val="FBAE40"/>
          </p15:clr>
        </p15:guide>
        <p15:guide id="3" pos="753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Non-Animating TItle Bar">
    <p:spTree>
      <p:nvGrpSpPr>
        <p:cNvPr id="1" name=""/>
        <p:cNvGrpSpPr/>
        <p:nvPr/>
      </p:nvGrpSpPr>
      <p:grpSpPr>
        <a:xfrm>
          <a:off x="0" y="0"/>
          <a:ext cx="0" cy="0"/>
          <a:chOff x="0" y="0"/>
          <a:chExt cx="0" cy="0"/>
        </a:xfrm>
      </p:grpSpPr>
      <p:sp>
        <p:nvSpPr>
          <p:cNvPr id="7" name="Rectangle 6"/>
          <p:cNvSpPr/>
          <p:nvPr userDrawn="1"/>
        </p:nvSpPr>
        <p:spPr>
          <a:xfrm flipH="1" flipV="1">
            <a:off x="2005010" y="-1"/>
            <a:ext cx="10185395" cy="896471"/>
          </a:xfrm>
          <a:prstGeom prst="rect">
            <a:avLst/>
          </a:prstGeom>
          <a:gradFill flip="none" rotWithShape="1">
            <a:gsLst>
              <a:gs pos="50000">
                <a:srgbClr val="0E6394"/>
              </a:gs>
              <a:gs pos="17000">
                <a:schemeClr val="bg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005012" y="98984"/>
            <a:ext cx="10185400" cy="698501"/>
          </a:xfrm>
        </p:spPr>
        <p:txBody>
          <a:bodyPr>
            <a:normAutofit/>
          </a:bodyPr>
          <a:lstStyle>
            <a:lvl1pPr>
              <a:defRPr sz="2400" b="1">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2006455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753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6 Beacons of Excellence">
    <p:spTree>
      <p:nvGrpSpPr>
        <p:cNvPr id="1" name=""/>
        <p:cNvGrpSpPr/>
        <p:nvPr/>
      </p:nvGrpSpPr>
      <p:grpSpPr>
        <a:xfrm>
          <a:off x="0" y="0"/>
          <a:ext cx="0" cy="0"/>
          <a:chOff x="0" y="0"/>
          <a:chExt cx="0" cy="0"/>
        </a:xfrm>
      </p:grpSpPr>
      <p:sp>
        <p:nvSpPr>
          <p:cNvPr id="7" name="Rectangle 6"/>
          <p:cNvSpPr/>
          <p:nvPr userDrawn="1"/>
        </p:nvSpPr>
        <p:spPr>
          <a:xfrm flipH="1" flipV="1">
            <a:off x="0" y="-1"/>
            <a:ext cx="12192000" cy="6857999"/>
          </a:xfrm>
          <a:prstGeom prst="rect">
            <a:avLst/>
          </a:prstGeom>
          <a:gradFill flip="none" rotWithShape="1">
            <a:gsLst>
              <a:gs pos="50000">
                <a:srgbClr val="0E6394"/>
              </a:gs>
              <a:gs pos="17000">
                <a:srgbClr val="009BBD"/>
              </a:gs>
              <a:gs pos="100000">
                <a:srgbClr val="1B2A6B"/>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0161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1903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4643AD8-ED53-3647-921C-500F3434BC2C}" type="datetimeFigureOut">
              <a:rPr kumimoji="1" lang="zh-CN" altLang="en-US" smtClean="0"/>
              <a:t>2026/3/15</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567DB9C1-11F1-EF4B-AFCB-D88EE4C1FE81}" type="slidenum">
              <a:rPr kumimoji="1" lang="zh-CN" altLang="en-US" smtClean="0"/>
              <a:t>‹#›</a:t>
            </a:fld>
            <a:endParaRPr kumimoji="1" lang="zh-CN" altLang="en-US"/>
          </a:p>
        </p:txBody>
      </p:sp>
    </p:spTree>
    <p:extLst>
      <p:ext uri="{BB962C8B-B14F-4D97-AF65-F5344CB8AC3E}">
        <p14:creationId xmlns:p14="http://schemas.microsoft.com/office/powerpoint/2010/main" val="34989459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609600" y="1773936"/>
            <a:ext cx="53848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773936"/>
            <a:ext cx="53848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09600" y="6476999"/>
            <a:ext cx="2844800" cy="274320"/>
          </a:xfrm>
          <a:prstGeom prst="rect">
            <a:avLst/>
          </a:prstGeom>
        </p:spPr>
        <p:txBody>
          <a:bodyPr/>
          <a:lstStyle/>
          <a:p>
            <a:fld id="{298A64C3-E020-4344-8C05-E26CD183FF49}" type="datetime1">
              <a:rPr lang="en-US">
                <a:solidFill>
                  <a:prstClr val="black"/>
                </a:solidFill>
              </a:rPr>
              <a:pPr/>
              <a:t>3/15/2026</a:t>
            </a:fld>
            <a:endParaRPr lang="en-US">
              <a:solidFill>
                <a:prstClr val="black"/>
              </a:solidFill>
            </a:endParaRPr>
          </a:p>
        </p:txBody>
      </p:sp>
      <p:sp>
        <p:nvSpPr>
          <p:cNvPr id="6" name="Footer Placeholder 5"/>
          <p:cNvSpPr>
            <a:spLocks noGrp="1"/>
          </p:cNvSpPr>
          <p:nvPr>
            <p:ph type="ftr" sz="quarter" idx="11"/>
          </p:nvPr>
        </p:nvSpPr>
        <p:spPr>
          <a:xfrm>
            <a:off x="3520796" y="6476999"/>
            <a:ext cx="7343625" cy="274320"/>
          </a:xfrm>
          <a:prstGeom prst="rect">
            <a:avLst/>
          </a:prstGeom>
        </p:spPr>
        <p:txBody>
          <a:bodyPr/>
          <a:lstStyle/>
          <a:p>
            <a:endParaRPr lang="en-US">
              <a:solidFill>
                <a:prstClr val="black"/>
              </a:solidFill>
            </a:endParaRPr>
          </a:p>
        </p:txBody>
      </p:sp>
      <p:sp>
        <p:nvSpPr>
          <p:cNvPr id="7" name="Slide Number Placeholder 6"/>
          <p:cNvSpPr>
            <a:spLocks noGrp="1"/>
          </p:cNvSpPr>
          <p:nvPr>
            <p:ph type="sldNum" sz="quarter" idx="12"/>
          </p:nvPr>
        </p:nvSpPr>
        <p:spPr/>
        <p:txBody>
          <a:bodyPr/>
          <a:lstStyle/>
          <a:p>
            <a:fld id="{EEF6F1D5-399F-4C96-B137-0556938C3B35}" type="slidenum">
              <a:rPr lang="en-US" smtClean="0">
                <a:solidFill>
                  <a:prstClr val="black">
                    <a:tint val="95000"/>
                  </a:prstClr>
                </a:solidFill>
              </a:rPr>
              <a:pPr/>
              <a:t>‹#›</a:t>
            </a:fld>
            <a:endParaRPr lang="en-US">
              <a:solidFill>
                <a:prstClr val="black">
                  <a:tint val="95000"/>
                </a:prstClr>
              </a:solidFill>
            </a:endParaRPr>
          </a:p>
        </p:txBody>
      </p:sp>
    </p:spTree>
    <p:extLst>
      <p:ext uri="{BB962C8B-B14F-4D97-AF65-F5344CB8AC3E}">
        <p14:creationId xmlns:p14="http://schemas.microsoft.com/office/powerpoint/2010/main" val="2278982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609600" y="1698988"/>
            <a:ext cx="5386917"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609600" y="2449512"/>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6193368" y="1698988"/>
            <a:ext cx="5389033"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6193368" y="2449512"/>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a:xfrm>
            <a:off x="609600" y="6476999"/>
            <a:ext cx="2844800" cy="274320"/>
          </a:xfrm>
          <a:prstGeom prst="rect">
            <a:avLst/>
          </a:prstGeom>
        </p:spPr>
        <p:txBody>
          <a:bodyPr/>
          <a:lstStyle/>
          <a:p>
            <a:fld id="{DE8AD47C-ECDD-43F5-AD2C-F06ADA5C50A6}" type="datetime1">
              <a:rPr lang="en-US">
                <a:solidFill>
                  <a:prstClr val="black"/>
                </a:solidFill>
              </a:rPr>
              <a:pPr/>
              <a:t>3/15/2026</a:t>
            </a:fld>
            <a:endParaRPr lang="en-US">
              <a:solidFill>
                <a:prstClr val="black"/>
              </a:solidFill>
            </a:endParaRPr>
          </a:p>
        </p:txBody>
      </p:sp>
      <p:sp>
        <p:nvSpPr>
          <p:cNvPr id="8" name="Footer Placeholder 7"/>
          <p:cNvSpPr>
            <a:spLocks noGrp="1"/>
          </p:cNvSpPr>
          <p:nvPr>
            <p:ph type="ftr" sz="quarter" idx="11"/>
          </p:nvPr>
        </p:nvSpPr>
        <p:spPr>
          <a:xfrm>
            <a:off x="3520796" y="6476999"/>
            <a:ext cx="7343625" cy="274320"/>
          </a:xfrm>
          <a:prstGeom prst="rect">
            <a:avLst/>
          </a:prstGeom>
        </p:spPr>
        <p:txBody>
          <a:bodyPr/>
          <a:lstStyle/>
          <a:p>
            <a:endParaRPr lang="en-US">
              <a:solidFill>
                <a:prstClr val="black"/>
              </a:solidFill>
            </a:endParaRPr>
          </a:p>
        </p:txBody>
      </p:sp>
      <p:sp>
        <p:nvSpPr>
          <p:cNvPr id="9" name="Slide Number Placeholder 8"/>
          <p:cNvSpPr>
            <a:spLocks noGrp="1"/>
          </p:cNvSpPr>
          <p:nvPr>
            <p:ph type="sldNum" sz="quarter" idx="12"/>
          </p:nvPr>
        </p:nvSpPr>
        <p:spPr/>
        <p:txBody>
          <a:bodyPr/>
          <a:lstStyle/>
          <a:p>
            <a:fld id="{EEF6F1D5-399F-4C96-B137-0556938C3B35}" type="slidenum">
              <a:rPr lang="en-US" smtClean="0">
                <a:solidFill>
                  <a:prstClr val="black">
                    <a:tint val="95000"/>
                  </a:prstClr>
                </a:solidFill>
              </a:rPr>
              <a:pPr/>
              <a:t>‹#›</a:t>
            </a:fld>
            <a:endParaRPr lang="en-US">
              <a:solidFill>
                <a:prstClr val="black">
                  <a:tint val="95000"/>
                </a:prstClr>
              </a:solidFill>
            </a:endParaRPr>
          </a:p>
        </p:txBody>
      </p:sp>
    </p:spTree>
    <p:extLst>
      <p:ext uri="{BB962C8B-B14F-4D97-AF65-F5344CB8AC3E}">
        <p14:creationId xmlns:p14="http://schemas.microsoft.com/office/powerpoint/2010/main" val="269757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4DF7FE-61AB-001F-D2D8-E0EEB34084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953C15A-3066-8DFC-5812-80DB4E3446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4C6B1E9-932F-07D7-228A-0FA1E1DEE8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570C8D-A5F8-484D-A42B-6A1C55BA86EA}" type="datetimeFigureOut">
              <a:rPr lang="en-GB" smtClean="0"/>
              <a:t>15/03/2026</a:t>
            </a:fld>
            <a:endParaRPr lang="en-GB"/>
          </a:p>
        </p:txBody>
      </p:sp>
      <p:sp>
        <p:nvSpPr>
          <p:cNvPr id="5" name="Footer Placeholder 4">
            <a:extLst>
              <a:ext uri="{FF2B5EF4-FFF2-40B4-BE49-F238E27FC236}">
                <a16:creationId xmlns:a16="http://schemas.microsoft.com/office/drawing/2014/main" id="{8F468190-275F-B3AD-29A9-46EA62FDD6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4036061-BFA9-C2E4-33E8-CECFF3CBDC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AD33C2-9678-45FF-A777-7DEE0AD52BD2}" type="slidenum">
              <a:rPr lang="en-GB" smtClean="0"/>
              <a:t>‹#›</a:t>
            </a:fld>
            <a:endParaRPr lang="en-GB"/>
          </a:p>
        </p:txBody>
      </p:sp>
    </p:spTree>
    <p:extLst>
      <p:ext uri="{BB962C8B-B14F-4D97-AF65-F5344CB8AC3E}">
        <p14:creationId xmlns:p14="http://schemas.microsoft.com/office/powerpoint/2010/main" val="3629829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flipH="1" flipV="1">
            <a:off x="-3" y="0"/>
            <a:ext cx="12190413" cy="896471"/>
          </a:xfrm>
          <a:prstGeom prst="rect">
            <a:avLst/>
          </a:prstGeom>
          <a:gradFill flip="none" rotWithShape="1">
            <a:gsLst>
              <a:gs pos="50000">
                <a:srgbClr val="0E6394"/>
              </a:gs>
              <a:gs pos="17000">
                <a:schemeClr val="bg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userDrawn="1"/>
        </p:nvSpPr>
        <p:spPr>
          <a:xfrm>
            <a:off x="2002004" y="1"/>
            <a:ext cx="10194758" cy="89647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p:cNvSpPr>
            <a:spLocks noGrp="1"/>
          </p:cNvSpPr>
          <p:nvPr>
            <p:ph type="title"/>
          </p:nvPr>
        </p:nvSpPr>
        <p:spPr>
          <a:xfrm>
            <a:off x="2002004" y="98987"/>
            <a:ext cx="10189995" cy="698498"/>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4E112F-1B58-4F80-8548-230F871317D2}" type="datetimeFigureOut">
              <a:rPr lang="en-GB" smtClean="0"/>
              <a:t>15/03/2026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72D6D5-F6C2-4C88-B07F-0F9DC0B2C389}" type="slidenum">
              <a:rPr lang="en-GB" smtClean="0"/>
              <a:t>‹#›</a:t>
            </a:fld>
            <a:endParaRPr lang="en-GB"/>
          </a:p>
        </p:txBody>
      </p:sp>
      <p:cxnSp>
        <p:nvCxnSpPr>
          <p:cNvPr id="8" name="Straight Connector 7"/>
          <p:cNvCxnSpPr>
            <a:cxnSpLocks/>
          </p:cNvCxnSpPr>
          <p:nvPr userDrawn="1"/>
        </p:nvCxnSpPr>
        <p:spPr>
          <a:xfrm>
            <a:off x="1997242" y="0"/>
            <a:ext cx="0" cy="89647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64931" y="-123771"/>
            <a:ext cx="1809563" cy="959356"/>
          </a:xfrm>
          <a:prstGeom prst="rect">
            <a:avLst/>
          </a:prstGeom>
        </p:spPr>
      </p:pic>
    </p:spTree>
    <p:extLst>
      <p:ext uri="{BB962C8B-B14F-4D97-AF65-F5344CB8AC3E}">
        <p14:creationId xmlns:p14="http://schemas.microsoft.com/office/powerpoint/2010/main" val="1031264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ecgi.global/publications/blog/corporate-governance-reframed-a-2026-outlook"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F294B-7DC9-49B1-2A8C-FC44ECD21FE3}"/>
              </a:ext>
            </a:extLst>
          </p:cNvPr>
          <p:cNvSpPr>
            <a:spLocks noGrp="1"/>
          </p:cNvSpPr>
          <p:nvPr>
            <p:ph type="ctrTitle"/>
          </p:nvPr>
        </p:nvSpPr>
        <p:spPr/>
        <p:txBody>
          <a:bodyPr/>
          <a:lstStyle/>
          <a:p>
            <a:r>
              <a:rPr lang="en-GB" dirty="0"/>
              <a:t>Management</a:t>
            </a:r>
          </a:p>
        </p:txBody>
      </p:sp>
      <p:sp>
        <p:nvSpPr>
          <p:cNvPr id="3" name="Subtitle 2">
            <a:extLst>
              <a:ext uri="{FF2B5EF4-FFF2-40B4-BE49-F238E27FC236}">
                <a16:creationId xmlns:a16="http://schemas.microsoft.com/office/drawing/2014/main" id="{382A2E26-50C4-43CA-6A9E-094AE3EFB997}"/>
              </a:ext>
            </a:extLst>
          </p:cNvPr>
          <p:cNvSpPr>
            <a:spLocks noGrp="1"/>
          </p:cNvSpPr>
          <p:nvPr>
            <p:ph type="subTitle" idx="1"/>
          </p:nvPr>
        </p:nvSpPr>
        <p:spPr/>
        <p:txBody>
          <a:bodyPr/>
          <a:lstStyle/>
          <a:p>
            <a:r>
              <a:rPr lang="en-GB" dirty="0"/>
              <a:t>PhD in Business Economics </a:t>
            </a:r>
          </a:p>
          <a:p>
            <a:endParaRPr lang="en-GB" dirty="0"/>
          </a:p>
          <a:p>
            <a:r>
              <a:rPr lang="en-GB" dirty="0"/>
              <a:t>Luis D. Torres, PhD.</a:t>
            </a:r>
          </a:p>
        </p:txBody>
      </p:sp>
    </p:spTree>
    <p:extLst>
      <p:ext uri="{BB962C8B-B14F-4D97-AF65-F5344CB8AC3E}">
        <p14:creationId xmlns:p14="http://schemas.microsoft.com/office/powerpoint/2010/main" val="3893749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8BD0-9BB8-F5E7-BAF4-7957651F78B3}"/>
              </a:ext>
            </a:extLst>
          </p:cNvPr>
          <p:cNvSpPr>
            <a:spLocks noGrp="1"/>
          </p:cNvSpPr>
          <p:nvPr>
            <p:ph type="title"/>
          </p:nvPr>
        </p:nvSpPr>
        <p:spPr/>
        <p:txBody>
          <a:bodyPr/>
          <a:lstStyle/>
          <a:p>
            <a:r>
              <a:rPr lang="en-GB" dirty="0"/>
              <a:t>Agenda</a:t>
            </a:r>
          </a:p>
        </p:txBody>
      </p:sp>
      <p:sp>
        <p:nvSpPr>
          <p:cNvPr id="3" name="Content Placeholder 2">
            <a:extLst>
              <a:ext uri="{FF2B5EF4-FFF2-40B4-BE49-F238E27FC236}">
                <a16:creationId xmlns:a16="http://schemas.microsoft.com/office/drawing/2014/main" id="{41F21F08-1B86-1E9C-CDD6-203547261EE6}"/>
              </a:ext>
            </a:extLst>
          </p:cNvPr>
          <p:cNvSpPr>
            <a:spLocks noGrp="1"/>
          </p:cNvSpPr>
          <p:nvPr>
            <p:ph idx="1"/>
          </p:nvPr>
        </p:nvSpPr>
        <p:spPr/>
        <p:txBody>
          <a:bodyPr>
            <a:normAutofit/>
          </a:bodyPr>
          <a:lstStyle/>
          <a:p>
            <a:pPr>
              <a:lnSpc>
                <a:spcPct val="100000"/>
              </a:lnSpc>
            </a:pPr>
            <a:r>
              <a:rPr lang="en-GB" dirty="0"/>
              <a:t>Corporate Governance Theories</a:t>
            </a:r>
          </a:p>
          <a:p>
            <a:pPr lvl="1">
              <a:lnSpc>
                <a:spcPct val="100000"/>
              </a:lnSpc>
            </a:pPr>
            <a:r>
              <a:rPr lang="en-GB" dirty="0"/>
              <a:t>Critically analyse the three pillars of governance theory: Agency, Transaction Cost Economics (TCE), and Resource Dependence (RDT).</a:t>
            </a:r>
          </a:p>
          <a:p>
            <a:pPr lvl="1">
              <a:lnSpc>
                <a:spcPct val="100000"/>
              </a:lnSpc>
            </a:pPr>
            <a:r>
              <a:rPr lang="en-GB" dirty="0"/>
              <a:t>Understand the "firm" as a nexus of contracts and a governance structure rather than a production function.</a:t>
            </a:r>
          </a:p>
          <a:p>
            <a:pPr lvl="1">
              <a:lnSpc>
                <a:spcPct val="100000"/>
              </a:lnSpc>
            </a:pPr>
            <a:r>
              <a:rPr lang="en-GB" dirty="0"/>
              <a:t>Assess the empirical validity and boundary conditions of these theories.</a:t>
            </a:r>
          </a:p>
          <a:p>
            <a:pPr lvl="1">
              <a:lnSpc>
                <a:spcPct val="100000"/>
              </a:lnSpc>
            </a:pPr>
            <a:r>
              <a:rPr lang="en-GB" dirty="0"/>
              <a:t>Hands on: Search the literature of the last 2 years and identify key topics in corporate governance as well as the theoretical approach used.</a:t>
            </a:r>
          </a:p>
          <a:p>
            <a:pPr>
              <a:lnSpc>
                <a:spcPct val="100000"/>
              </a:lnSpc>
            </a:pPr>
            <a:endParaRPr lang="en-GB" dirty="0"/>
          </a:p>
        </p:txBody>
      </p:sp>
    </p:spTree>
    <p:extLst>
      <p:ext uri="{BB962C8B-B14F-4D97-AF65-F5344CB8AC3E}">
        <p14:creationId xmlns:p14="http://schemas.microsoft.com/office/powerpoint/2010/main" val="3365187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7B729C-580E-C05C-8DCF-EC6E8C87C4FD}"/>
              </a:ext>
            </a:extLst>
          </p:cNvPr>
          <p:cNvSpPr>
            <a:spLocks noGrp="1"/>
          </p:cNvSpPr>
          <p:nvPr>
            <p:ph idx="1"/>
          </p:nvPr>
        </p:nvSpPr>
        <p:spPr>
          <a:xfrm>
            <a:off x="838200" y="1086678"/>
            <a:ext cx="10515600" cy="5155095"/>
          </a:xfrm>
        </p:spPr>
        <p:txBody>
          <a:bodyPr>
            <a:normAutofit/>
          </a:bodyPr>
          <a:lstStyle/>
          <a:p>
            <a:r>
              <a:rPr lang="en-GB" sz="3200" dirty="0"/>
              <a:t>What is corporate governance?</a:t>
            </a:r>
          </a:p>
          <a:p>
            <a:endParaRPr lang="en-GB" sz="3200" dirty="0"/>
          </a:p>
          <a:p>
            <a:r>
              <a:rPr lang="en-GB" sz="3200" dirty="0"/>
              <a:t>How do we define good corporate governance? </a:t>
            </a:r>
          </a:p>
          <a:p>
            <a:endParaRPr lang="en-GB" sz="3200" dirty="0"/>
          </a:p>
          <a:p>
            <a:r>
              <a:rPr lang="en-GB" sz="3200" dirty="0"/>
              <a:t>What is the purpose of corporate governance theories?</a:t>
            </a:r>
          </a:p>
          <a:p>
            <a:endParaRPr lang="en-GB" sz="3200" dirty="0"/>
          </a:p>
          <a:p>
            <a:r>
              <a:rPr lang="en-GB" sz="3200" dirty="0"/>
              <a:t>How is corporate governance related with organisation and management theory?  </a:t>
            </a:r>
          </a:p>
        </p:txBody>
      </p:sp>
    </p:spTree>
    <p:extLst>
      <p:ext uri="{BB962C8B-B14F-4D97-AF65-F5344CB8AC3E}">
        <p14:creationId xmlns:p14="http://schemas.microsoft.com/office/powerpoint/2010/main" val="1220519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E3C578E-1724-4ADE-933F-BE12AAA0AA96}"/>
              </a:ext>
            </a:extLst>
          </p:cNvPr>
          <p:cNvSpPr txBox="1">
            <a:spLocks/>
          </p:cNvSpPr>
          <p:nvPr/>
        </p:nvSpPr>
        <p:spPr>
          <a:xfrm>
            <a:off x="956037" y="941622"/>
            <a:ext cx="4360400" cy="46482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Traditionally ownership = control</a:t>
            </a:r>
          </a:p>
          <a:p>
            <a:pPr marL="228600" marR="0" lvl="0" indent="-22860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Shareholders are the managers</a:t>
            </a:r>
          </a:p>
        </p:txBody>
      </p:sp>
      <p:sp>
        <p:nvSpPr>
          <p:cNvPr id="6" name="Content Placeholder 2">
            <a:extLst>
              <a:ext uri="{FF2B5EF4-FFF2-40B4-BE49-F238E27FC236}">
                <a16:creationId xmlns:a16="http://schemas.microsoft.com/office/drawing/2014/main" id="{369014AE-10D9-4499-889A-A623777EDB47}"/>
              </a:ext>
            </a:extLst>
          </p:cNvPr>
          <p:cNvSpPr txBox="1">
            <a:spLocks/>
          </p:cNvSpPr>
          <p:nvPr/>
        </p:nvSpPr>
        <p:spPr>
          <a:xfrm>
            <a:off x="6374332" y="900838"/>
            <a:ext cx="5377218" cy="46482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1800"/>
              </a:spcAft>
              <a:buClrTx/>
              <a:buSzTx/>
              <a:buFont typeface="Arial" panose="020B0604020202020204" pitchFamily="34" charset="0"/>
              <a:buChar char="•"/>
              <a:tabLst/>
              <a:defRPr/>
            </a:pPr>
            <a:r>
              <a:rPr kumimoji="0" lang="en-GB" alt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Most modern corporations (not all of them): </a:t>
            </a: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Separation of ownership and control</a:t>
            </a:r>
          </a:p>
        </p:txBody>
      </p:sp>
      <p:sp>
        <p:nvSpPr>
          <p:cNvPr id="14" name="Freeform: Shape 13">
            <a:extLst>
              <a:ext uri="{FF2B5EF4-FFF2-40B4-BE49-F238E27FC236}">
                <a16:creationId xmlns:a16="http://schemas.microsoft.com/office/drawing/2014/main" id="{7B5A33F7-032A-4DDD-8814-84912F211DE9}"/>
              </a:ext>
            </a:extLst>
          </p:cNvPr>
          <p:cNvSpPr/>
          <p:nvPr/>
        </p:nvSpPr>
        <p:spPr>
          <a:xfrm>
            <a:off x="7282816" y="2245134"/>
            <a:ext cx="3686285" cy="1130034"/>
          </a:xfrm>
          <a:custGeom>
            <a:avLst/>
            <a:gdLst>
              <a:gd name="connsiteX0" fmla="*/ 0 w 3686285"/>
              <a:gd name="connsiteY0" fmla="*/ 113003 h 1130034"/>
              <a:gd name="connsiteX1" fmla="*/ 113003 w 3686285"/>
              <a:gd name="connsiteY1" fmla="*/ 0 h 1130034"/>
              <a:gd name="connsiteX2" fmla="*/ 3573282 w 3686285"/>
              <a:gd name="connsiteY2" fmla="*/ 0 h 1130034"/>
              <a:gd name="connsiteX3" fmla="*/ 3686285 w 3686285"/>
              <a:gd name="connsiteY3" fmla="*/ 113003 h 1130034"/>
              <a:gd name="connsiteX4" fmla="*/ 3686285 w 3686285"/>
              <a:gd name="connsiteY4" fmla="*/ 1017031 h 1130034"/>
              <a:gd name="connsiteX5" fmla="*/ 3573282 w 3686285"/>
              <a:gd name="connsiteY5" fmla="*/ 1130034 h 1130034"/>
              <a:gd name="connsiteX6" fmla="*/ 113003 w 3686285"/>
              <a:gd name="connsiteY6" fmla="*/ 1130034 h 1130034"/>
              <a:gd name="connsiteX7" fmla="*/ 0 w 3686285"/>
              <a:gd name="connsiteY7" fmla="*/ 1017031 h 1130034"/>
              <a:gd name="connsiteX8" fmla="*/ 0 w 3686285"/>
              <a:gd name="connsiteY8" fmla="*/ 113003 h 113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6285" h="1130034">
                <a:moveTo>
                  <a:pt x="0" y="113003"/>
                </a:moveTo>
                <a:cubicBezTo>
                  <a:pt x="0" y="50593"/>
                  <a:pt x="50593" y="0"/>
                  <a:pt x="113003" y="0"/>
                </a:cubicBezTo>
                <a:lnTo>
                  <a:pt x="3573282" y="0"/>
                </a:lnTo>
                <a:cubicBezTo>
                  <a:pt x="3635692" y="0"/>
                  <a:pt x="3686285" y="50593"/>
                  <a:pt x="3686285" y="113003"/>
                </a:cubicBezTo>
                <a:lnTo>
                  <a:pt x="3686285" y="1017031"/>
                </a:lnTo>
                <a:cubicBezTo>
                  <a:pt x="3686285" y="1079441"/>
                  <a:pt x="3635692" y="1130034"/>
                  <a:pt x="3573282" y="1130034"/>
                </a:cubicBezTo>
                <a:lnTo>
                  <a:pt x="113003" y="1130034"/>
                </a:lnTo>
                <a:cubicBezTo>
                  <a:pt x="50593" y="1130034"/>
                  <a:pt x="0" y="1079441"/>
                  <a:pt x="0" y="1017031"/>
                </a:cubicBezTo>
                <a:lnTo>
                  <a:pt x="0" y="11300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918" tIns="116918" rIns="1270119" bIns="116918" numCol="1" spcCol="1270" anchor="ctr" anchorCtr="0">
            <a:noAutofit/>
          </a:bodyPr>
          <a:lstStyle/>
          <a:p>
            <a:pPr marL="0" marR="0" lvl="0" indent="0" algn="l" defTabSz="977900" rtl="0" eaLnBrk="1" fontAlgn="auto" latinLnBrk="0" hangingPunct="1">
              <a:lnSpc>
                <a:spcPct val="90000"/>
              </a:lnSpc>
              <a:spcBef>
                <a:spcPct val="0"/>
              </a:spcBef>
              <a:spcAft>
                <a:spcPct val="3500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Georgia"/>
                <a:ea typeface="+mn-ea"/>
                <a:cs typeface="+mn-cs"/>
              </a:rPr>
              <a:t>Shareholders</a:t>
            </a:r>
          </a:p>
        </p:txBody>
      </p:sp>
      <p:sp>
        <p:nvSpPr>
          <p:cNvPr id="15" name="Freeform: Shape 14">
            <a:extLst>
              <a:ext uri="{FF2B5EF4-FFF2-40B4-BE49-F238E27FC236}">
                <a16:creationId xmlns:a16="http://schemas.microsoft.com/office/drawing/2014/main" id="{4D644567-9685-4F45-9C74-238F315C812D}"/>
              </a:ext>
            </a:extLst>
          </p:cNvPr>
          <p:cNvSpPr/>
          <p:nvPr/>
        </p:nvSpPr>
        <p:spPr>
          <a:xfrm>
            <a:off x="7608076" y="3563507"/>
            <a:ext cx="3686285" cy="1130034"/>
          </a:xfrm>
          <a:custGeom>
            <a:avLst/>
            <a:gdLst>
              <a:gd name="connsiteX0" fmla="*/ 0 w 3686285"/>
              <a:gd name="connsiteY0" fmla="*/ 113003 h 1130034"/>
              <a:gd name="connsiteX1" fmla="*/ 113003 w 3686285"/>
              <a:gd name="connsiteY1" fmla="*/ 0 h 1130034"/>
              <a:gd name="connsiteX2" fmla="*/ 3573282 w 3686285"/>
              <a:gd name="connsiteY2" fmla="*/ 0 h 1130034"/>
              <a:gd name="connsiteX3" fmla="*/ 3686285 w 3686285"/>
              <a:gd name="connsiteY3" fmla="*/ 113003 h 1130034"/>
              <a:gd name="connsiteX4" fmla="*/ 3686285 w 3686285"/>
              <a:gd name="connsiteY4" fmla="*/ 1017031 h 1130034"/>
              <a:gd name="connsiteX5" fmla="*/ 3573282 w 3686285"/>
              <a:gd name="connsiteY5" fmla="*/ 1130034 h 1130034"/>
              <a:gd name="connsiteX6" fmla="*/ 113003 w 3686285"/>
              <a:gd name="connsiteY6" fmla="*/ 1130034 h 1130034"/>
              <a:gd name="connsiteX7" fmla="*/ 0 w 3686285"/>
              <a:gd name="connsiteY7" fmla="*/ 1017031 h 1130034"/>
              <a:gd name="connsiteX8" fmla="*/ 0 w 3686285"/>
              <a:gd name="connsiteY8" fmla="*/ 113003 h 113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6285" h="1130034">
                <a:moveTo>
                  <a:pt x="0" y="113003"/>
                </a:moveTo>
                <a:cubicBezTo>
                  <a:pt x="0" y="50593"/>
                  <a:pt x="50593" y="0"/>
                  <a:pt x="113003" y="0"/>
                </a:cubicBezTo>
                <a:lnTo>
                  <a:pt x="3573282" y="0"/>
                </a:lnTo>
                <a:cubicBezTo>
                  <a:pt x="3635692" y="0"/>
                  <a:pt x="3686285" y="50593"/>
                  <a:pt x="3686285" y="113003"/>
                </a:cubicBezTo>
                <a:lnTo>
                  <a:pt x="3686285" y="1017031"/>
                </a:lnTo>
                <a:cubicBezTo>
                  <a:pt x="3686285" y="1079441"/>
                  <a:pt x="3635692" y="1130034"/>
                  <a:pt x="3573282" y="1130034"/>
                </a:cubicBezTo>
                <a:lnTo>
                  <a:pt x="113003" y="1130034"/>
                </a:lnTo>
                <a:cubicBezTo>
                  <a:pt x="50593" y="1130034"/>
                  <a:pt x="0" y="1079441"/>
                  <a:pt x="0" y="1017031"/>
                </a:cubicBezTo>
                <a:lnTo>
                  <a:pt x="0" y="11300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918" tIns="116918" rIns="1176701" bIns="116918" numCol="1" spcCol="1270" anchor="ctr" anchorCtr="0">
            <a:noAutofit/>
          </a:bodyPr>
          <a:lstStyle/>
          <a:p>
            <a:pPr marL="0" marR="0" lvl="0" indent="0" algn="l" defTabSz="977900" rtl="0" eaLnBrk="1" fontAlgn="auto" latinLnBrk="0" hangingPunct="1">
              <a:lnSpc>
                <a:spcPct val="90000"/>
              </a:lnSpc>
              <a:spcBef>
                <a:spcPct val="0"/>
              </a:spcBef>
              <a:spcAft>
                <a:spcPct val="3500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Georgia"/>
                <a:ea typeface="+mn-ea"/>
                <a:cs typeface="+mn-cs"/>
              </a:rPr>
              <a:t>Senior executives </a:t>
            </a:r>
          </a:p>
        </p:txBody>
      </p:sp>
      <p:sp>
        <p:nvSpPr>
          <p:cNvPr id="16" name="Freeform: Shape 15">
            <a:extLst>
              <a:ext uri="{FF2B5EF4-FFF2-40B4-BE49-F238E27FC236}">
                <a16:creationId xmlns:a16="http://schemas.microsoft.com/office/drawing/2014/main" id="{FE6367ED-163B-44E0-A9E2-4D0A44A0A2BC}"/>
              </a:ext>
            </a:extLst>
          </p:cNvPr>
          <p:cNvSpPr/>
          <p:nvPr/>
        </p:nvSpPr>
        <p:spPr>
          <a:xfrm>
            <a:off x="7933336" y="4881881"/>
            <a:ext cx="3686285" cy="1130034"/>
          </a:xfrm>
          <a:custGeom>
            <a:avLst/>
            <a:gdLst>
              <a:gd name="connsiteX0" fmla="*/ 0 w 3686285"/>
              <a:gd name="connsiteY0" fmla="*/ 113003 h 1130034"/>
              <a:gd name="connsiteX1" fmla="*/ 113003 w 3686285"/>
              <a:gd name="connsiteY1" fmla="*/ 0 h 1130034"/>
              <a:gd name="connsiteX2" fmla="*/ 3573282 w 3686285"/>
              <a:gd name="connsiteY2" fmla="*/ 0 h 1130034"/>
              <a:gd name="connsiteX3" fmla="*/ 3686285 w 3686285"/>
              <a:gd name="connsiteY3" fmla="*/ 113003 h 1130034"/>
              <a:gd name="connsiteX4" fmla="*/ 3686285 w 3686285"/>
              <a:gd name="connsiteY4" fmla="*/ 1017031 h 1130034"/>
              <a:gd name="connsiteX5" fmla="*/ 3573282 w 3686285"/>
              <a:gd name="connsiteY5" fmla="*/ 1130034 h 1130034"/>
              <a:gd name="connsiteX6" fmla="*/ 113003 w 3686285"/>
              <a:gd name="connsiteY6" fmla="*/ 1130034 h 1130034"/>
              <a:gd name="connsiteX7" fmla="*/ 0 w 3686285"/>
              <a:gd name="connsiteY7" fmla="*/ 1017031 h 1130034"/>
              <a:gd name="connsiteX8" fmla="*/ 0 w 3686285"/>
              <a:gd name="connsiteY8" fmla="*/ 113003 h 113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6285" h="1130034">
                <a:moveTo>
                  <a:pt x="0" y="113003"/>
                </a:moveTo>
                <a:cubicBezTo>
                  <a:pt x="0" y="50593"/>
                  <a:pt x="50593" y="0"/>
                  <a:pt x="113003" y="0"/>
                </a:cubicBezTo>
                <a:lnTo>
                  <a:pt x="3573282" y="0"/>
                </a:lnTo>
                <a:cubicBezTo>
                  <a:pt x="3635692" y="0"/>
                  <a:pt x="3686285" y="50593"/>
                  <a:pt x="3686285" y="113003"/>
                </a:cubicBezTo>
                <a:lnTo>
                  <a:pt x="3686285" y="1017031"/>
                </a:lnTo>
                <a:cubicBezTo>
                  <a:pt x="3686285" y="1079441"/>
                  <a:pt x="3635692" y="1130034"/>
                  <a:pt x="3573282" y="1130034"/>
                </a:cubicBezTo>
                <a:lnTo>
                  <a:pt x="113003" y="1130034"/>
                </a:lnTo>
                <a:cubicBezTo>
                  <a:pt x="50593" y="1130034"/>
                  <a:pt x="0" y="1079441"/>
                  <a:pt x="0" y="1017031"/>
                </a:cubicBezTo>
                <a:lnTo>
                  <a:pt x="0" y="11300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918" tIns="116918" rIns="1176701" bIns="116918" numCol="1" spcCol="1270" anchor="ctr" anchorCtr="0">
            <a:noAutofit/>
          </a:bodyPr>
          <a:lstStyle/>
          <a:p>
            <a:pPr marL="0" marR="0" lvl="0" indent="0" algn="l" defTabSz="977900" rtl="0" eaLnBrk="1" fontAlgn="auto" latinLnBrk="0" hangingPunct="1">
              <a:lnSpc>
                <a:spcPct val="90000"/>
              </a:lnSpc>
              <a:spcBef>
                <a:spcPct val="0"/>
              </a:spcBef>
              <a:spcAft>
                <a:spcPct val="3500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Georgia"/>
                <a:ea typeface="+mn-ea"/>
                <a:cs typeface="+mn-cs"/>
              </a:rPr>
              <a:t>Company  </a:t>
            </a:r>
          </a:p>
        </p:txBody>
      </p:sp>
      <p:sp>
        <p:nvSpPr>
          <p:cNvPr id="17" name="Freeform: Shape 16">
            <a:extLst>
              <a:ext uri="{FF2B5EF4-FFF2-40B4-BE49-F238E27FC236}">
                <a16:creationId xmlns:a16="http://schemas.microsoft.com/office/drawing/2014/main" id="{A0DC3300-29EF-4046-933C-A5B511578C99}"/>
              </a:ext>
            </a:extLst>
          </p:cNvPr>
          <p:cNvSpPr/>
          <p:nvPr/>
        </p:nvSpPr>
        <p:spPr>
          <a:xfrm>
            <a:off x="10234578" y="3102076"/>
            <a:ext cx="734522" cy="734522"/>
          </a:xfrm>
          <a:custGeom>
            <a:avLst/>
            <a:gdLst>
              <a:gd name="connsiteX0" fmla="*/ 0 w 734522"/>
              <a:gd name="connsiteY0" fmla="*/ 403987 h 734522"/>
              <a:gd name="connsiteX1" fmla="*/ 165267 w 734522"/>
              <a:gd name="connsiteY1" fmla="*/ 403987 h 734522"/>
              <a:gd name="connsiteX2" fmla="*/ 165267 w 734522"/>
              <a:gd name="connsiteY2" fmla="*/ 0 h 734522"/>
              <a:gd name="connsiteX3" fmla="*/ 569255 w 734522"/>
              <a:gd name="connsiteY3" fmla="*/ 0 h 734522"/>
              <a:gd name="connsiteX4" fmla="*/ 569255 w 734522"/>
              <a:gd name="connsiteY4" fmla="*/ 403987 h 734522"/>
              <a:gd name="connsiteX5" fmla="*/ 734522 w 734522"/>
              <a:gd name="connsiteY5" fmla="*/ 403987 h 734522"/>
              <a:gd name="connsiteX6" fmla="*/ 367261 w 734522"/>
              <a:gd name="connsiteY6" fmla="*/ 734522 h 734522"/>
              <a:gd name="connsiteX7" fmla="*/ 0 w 734522"/>
              <a:gd name="connsiteY7" fmla="*/ 403987 h 734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522" h="734522">
                <a:moveTo>
                  <a:pt x="0" y="403987"/>
                </a:moveTo>
                <a:lnTo>
                  <a:pt x="165267" y="403987"/>
                </a:lnTo>
                <a:lnTo>
                  <a:pt x="165267" y="0"/>
                </a:lnTo>
                <a:lnTo>
                  <a:pt x="569255" y="0"/>
                </a:lnTo>
                <a:lnTo>
                  <a:pt x="569255" y="403987"/>
                </a:lnTo>
                <a:lnTo>
                  <a:pt x="734522" y="403987"/>
                </a:lnTo>
                <a:lnTo>
                  <a:pt x="367261" y="734522"/>
                </a:lnTo>
                <a:lnTo>
                  <a:pt x="0" y="403987"/>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09717" tIns="44450" rIns="209717" bIns="226244" numCol="1" spcCol="1270" anchor="ctr" anchorCtr="0">
            <a:noAutofit/>
          </a:bodyPr>
          <a:lstStyle/>
          <a:p>
            <a:pPr marL="0" marR="0" lvl="0" indent="0" algn="ctr" defTabSz="1555750" rtl="0" eaLnBrk="1" fontAlgn="auto" latinLnBrk="0" hangingPunct="1">
              <a:lnSpc>
                <a:spcPct val="90000"/>
              </a:lnSpc>
              <a:spcBef>
                <a:spcPct val="0"/>
              </a:spcBef>
              <a:spcAft>
                <a:spcPct val="35000"/>
              </a:spcAft>
              <a:buClrTx/>
              <a:buSzTx/>
              <a:buFontTx/>
              <a:buNone/>
              <a:tabLst/>
              <a:defRPr/>
            </a:pPr>
            <a:endParaRPr kumimoji="0" lang="en-US" sz="3500" b="0" i="0" u="none" strike="noStrike" kern="1200" cap="none" spc="0" normalizeH="0" baseline="0" noProof="0">
              <a:ln>
                <a:noFill/>
              </a:ln>
              <a:solidFill>
                <a:prstClr val="black">
                  <a:hueOff val="0"/>
                  <a:satOff val="0"/>
                  <a:lumOff val="0"/>
                  <a:alphaOff val="0"/>
                </a:prstClr>
              </a:solidFill>
              <a:effectLst/>
              <a:uLnTx/>
              <a:uFillTx/>
              <a:latin typeface="Georgia"/>
              <a:ea typeface="+mn-ea"/>
              <a:cs typeface="+mn-cs"/>
            </a:endParaRPr>
          </a:p>
        </p:txBody>
      </p:sp>
      <p:sp>
        <p:nvSpPr>
          <p:cNvPr id="18" name="Freeform: Shape 17">
            <a:extLst>
              <a:ext uri="{FF2B5EF4-FFF2-40B4-BE49-F238E27FC236}">
                <a16:creationId xmlns:a16="http://schemas.microsoft.com/office/drawing/2014/main" id="{CC3BECC7-3AB3-4CB3-AD93-7CCBA619C6B7}"/>
              </a:ext>
            </a:extLst>
          </p:cNvPr>
          <p:cNvSpPr/>
          <p:nvPr/>
        </p:nvSpPr>
        <p:spPr>
          <a:xfrm>
            <a:off x="10029948" y="4420450"/>
            <a:ext cx="1191711" cy="734522"/>
          </a:xfrm>
          <a:custGeom>
            <a:avLst/>
            <a:gdLst>
              <a:gd name="connsiteX0" fmla="*/ 0 w 734522"/>
              <a:gd name="connsiteY0" fmla="*/ 403987 h 734522"/>
              <a:gd name="connsiteX1" fmla="*/ 165267 w 734522"/>
              <a:gd name="connsiteY1" fmla="*/ 403987 h 734522"/>
              <a:gd name="connsiteX2" fmla="*/ 165267 w 734522"/>
              <a:gd name="connsiteY2" fmla="*/ 0 h 734522"/>
              <a:gd name="connsiteX3" fmla="*/ 569255 w 734522"/>
              <a:gd name="connsiteY3" fmla="*/ 0 h 734522"/>
              <a:gd name="connsiteX4" fmla="*/ 569255 w 734522"/>
              <a:gd name="connsiteY4" fmla="*/ 403987 h 734522"/>
              <a:gd name="connsiteX5" fmla="*/ 734522 w 734522"/>
              <a:gd name="connsiteY5" fmla="*/ 403987 h 734522"/>
              <a:gd name="connsiteX6" fmla="*/ 367261 w 734522"/>
              <a:gd name="connsiteY6" fmla="*/ 734522 h 734522"/>
              <a:gd name="connsiteX7" fmla="*/ 0 w 734522"/>
              <a:gd name="connsiteY7" fmla="*/ 403987 h 734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522" h="734522">
                <a:moveTo>
                  <a:pt x="0" y="403987"/>
                </a:moveTo>
                <a:lnTo>
                  <a:pt x="165267" y="403987"/>
                </a:lnTo>
                <a:lnTo>
                  <a:pt x="165267" y="0"/>
                </a:lnTo>
                <a:lnTo>
                  <a:pt x="569255" y="0"/>
                </a:lnTo>
                <a:lnTo>
                  <a:pt x="569255" y="403987"/>
                </a:lnTo>
                <a:lnTo>
                  <a:pt x="734522" y="403987"/>
                </a:lnTo>
                <a:lnTo>
                  <a:pt x="367261" y="734522"/>
                </a:lnTo>
                <a:lnTo>
                  <a:pt x="0" y="403987"/>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09717" tIns="44450" rIns="209717" bIns="226244" numCol="1" spcCol="1270" anchor="ctr" anchorCtr="0">
            <a:noAutofit/>
          </a:bodyPr>
          <a:lstStyle/>
          <a:p>
            <a:pPr marL="0" marR="0" lvl="0" indent="0" algn="ctr" defTabSz="1555750"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dirty="0">
                <a:ln>
                  <a:noFill/>
                </a:ln>
                <a:solidFill>
                  <a:prstClr val="black">
                    <a:hueOff val="0"/>
                    <a:satOff val="0"/>
                    <a:lumOff val="0"/>
                    <a:alphaOff val="0"/>
                  </a:prstClr>
                </a:solidFill>
                <a:effectLst/>
                <a:uLnTx/>
                <a:uFillTx/>
                <a:latin typeface="Georgia"/>
                <a:ea typeface="+mn-ea"/>
                <a:cs typeface="+mn-cs"/>
              </a:rPr>
              <a:t>Run</a:t>
            </a:r>
          </a:p>
        </p:txBody>
      </p:sp>
      <p:graphicFrame>
        <p:nvGraphicFramePr>
          <p:cNvPr id="9" name="Diagram 8"/>
          <p:cNvGraphicFramePr/>
          <p:nvPr>
            <p:extLst>
              <p:ext uri="{D42A27DB-BD31-4B8C-83A1-F6EECF244321}">
                <p14:modId xmlns:p14="http://schemas.microsoft.com/office/powerpoint/2010/main" val="3126504252"/>
              </p:ext>
            </p:extLst>
          </p:nvPr>
        </p:nvGraphicFramePr>
        <p:xfrm>
          <a:off x="799398" y="3449334"/>
          <a:ext cx="4373930" cy="21503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Rectangle 10"/>
          <p:cNvSpPr/>
          <p:nvPr/>
        </p:nvSpPr>
        <p:spPr>
          <a:xfrm>
            <a:off x="683214" y="3224938"/>
            <a:ext cx="4633223" cy="2606722"/>
          </a:xfrm>
          <a:prstGeom prst="rect">
            <a:avLst/>
          </a:prstGeom>
          <a:noFill/>
          <a:ln w="76200">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1"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017343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46723-A3BB-20E1-FBE2-89168F6BEC0A}"/>
              </a:ext>
            </a:extLst>
          </p:cNvPr>
          <p:cNvSpPr>
            <a:spLocks noGrp="1"/>
          </p:cNvSpPr>
          <p:nvPr>
            <p:ph type="title"/>
          </p:nvPr>
        </p:nvSpPr>
        <p:spPr/>
        <p:txBody>
          <a:bodyPr>
            <a:normAutofit/>
          </a:bodyPr>
          <a:lstStyle/>
          <a:p>
            <a:r>
              <a:rPr lang="en-GB" sz="3600" dirty="0"/>
              <a:t>G20/OECD Principles of Corporate Governance 2023</a:t>
            </a:r>
          </a:p>
        </p:txBody>
      </p:sp>
      <p:sp>
        <p:nvSpPr>
          <p:cNvPr id="3" name="Content Placeholder 2">
            <a:extLst>
              <a:ext uri="{FF2B5EF4-FFF2-40B4-BE49-F238E27FC236}">
                <a16:creationId xmlns:a16="http://schemas.microsoft.com/office/drawing/2014/main" id="{BA010AB8-9C9E-90E3-2F42-E2B0AF3A1E7F}"/>
              </a:ext>
            </a:extLst>
          </p:cNvPr>
          <p:cNvSpPr>
            <a:spLocks noGrp="1"/>
          </p:cNvSpPr>
          <p:nvPr>
            <p:ph idx="1"/>
          </p:nvPr>
        </p:nvSpPr>
        <p:spPr/>
        <p:txBody>
          <a:bodyPr>
            <a:normAutofit/>
          </a:bodyPr>
          <a:lstStyle/>
          <a:p>
            <a:r>
              <a:rPr lang="en-GB" sz="2400" dirty="0"/>
              <a:t>Corporate governance involves a set of relationships between a company’s management, board, shareholders and stakeholders. Corporate governance also provides the structure and systems through which the company is directed and its objectives are set, and the means of attaining those objectives and monitoring performance are determined. </a:t>
            </a:r>
          </a:p>
          <a:p>
            <a:endParaRPr lang="en-GB" sz="2400" dirty="0"/>
          </a:p>
          <a:p>
            <a:pPr algn="just">
              <a:lnSpc>
                <a:spcPct val="100000"/>
              </a:lnSpc>
              <a:spcBef>
                <a:spcPts val="0"/>
              </a:spcBef>
              <a:spcAft>
                <a:spcPts val="1200"/>
              </a:spcAft>
            </a:pPr>
            <a:r>
              <a:rPr lang="en-US" altLang="en-US" sz="2400" dirty="0">
                <a:latin typeface="Arial" panose="020B0604020202020204" pitchFamily="34" charset="0"/>
                <a:cs typeface="Arial" panose="020B0604020202020204" pitchFamily="34" charset="0"/>
              </a:rPr>
              <a:t>Narrow (old) sense: </a:t>
            </a:r>
            <a:r>
              <a:rPr lang="en-US" altLang="en-US" sz="2400" u="sng" dirty="0">
                <a:latin typeface="Arial" panose="020B0604020202020204" pitchFamily="34" charset="0"/>
                <a:cs typeface="Arial" panose="020B0604020202020204" pitchFamily="34" charset="0"/>
              </a:rPr>
              <a:t>shareholders</a:t>
            </a:r>
            <a:r>
              <a:rPr lang="en-US" altLang="en-US" sz="2400" dirty="0">
                <a:latin typeface="Arial" panose="020B0604020202020204" pitchFamily="34" charset="0"/>
                <a:cs typeface="Arial" panose="020B0604020202020204" pitchFamily="34" charset="0"/>
              </a:rPr>
              <a:t> + management </a:t>
            </a:r>
          </a:p>
          <a:p>
            <a:pPr algn="just">
              <a:lnSpc>
                <a:spcPct val="100000"/>
              </a:lnSpc>
              <a:spcBef>
                <a:spcPts val="0"/>
              </a:spcBef>
              <a:spcAft>
                <a:spcPts val="1200"/>
              </a:spcAft>
            </a:pPr>
            <a:r>
              <a:rPr lang="en-US" altLang="en-US" sz="2400" dirty="0">
                <a:latin typeface="Arial" panose="020B0604020202020204" pitchFamily="34" charset="0"/>
                <a:cs typeface="Arial" panose="020B0604020202020204" pitchFamily="34" charset="0"/>
              </a:rPr>
              <a:t>Broader (modern) sense: </a:t>
            </a:r>
            <a:r>
              <a:rPr lang="en-US" altLang="en-US" sz="2400" u="sng" dirty="0">
                <a:latin typeface="Arial" panose="020B0604020202020204" pitchFamily="34" charset="0"/>
                <a:cs typeface="Arial" panose="020B0604020202020204" pitchFamily="34" charset="0"/>
              </a:rPr>
              <a:t>shareholders</a:t>
            </a:r>
            <a:r>
              <a:rPr lang="en-US" altLang="en-US" sz="2400" dirty="0">
                <a:latin typeface="Arial" panose="020B0604020202020204" pitchFamily="34" charset="0"/>
                <a:cs typeface="Arial" panose="020B0604020202020204" pitchFamily="34" charset="0"/>
              </a:rPr>
              <a:t> + </a:t>
            </a:r>
            <a:r>
              <a:rPr lang="en-US" altLang="en-US" sz="2400" u="sng" dirty="0">
                <a:latin typeface="Arial" panose="020B0604020202020204" pitchFamily="34" charset="0"/>
                <a:cs typeface="Arial" panose="020B0604020202020204" pitchFamily="34" charset="0"/>
              </a:rPr>
              <a:t>stakeholders</a:t>
            </a:r>
            <a:r>
              <a:rPr lang="en-US" altLang="en-US" sz="2400" dirty="0">
                <a:latin typeface="Arial" panose="020B0604020202020204" pitchFamily="34" charset="0"/>
                <a:cs typeface="Arial" panose="020B0604020202020204" pitchFamily="34" charset="0"/>
              </a:rPr>
              <a:t> + management </a:t>
            </a:r>
          </a:p>
        </p:txBody>
      </p:sp>
    </p:spTree>
    <p:extLst>
      <p:ext uri="{BB962C8B-B14F-4D97-AF65-F5344CB8AC3E}">
        <p14:creationId xmlns:p14="http://schemas.microsoft.com/office/powerpoint/2010/main" val="2372025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E673A-21A7-0814-2EB1-AC3862DB4525}"/>
              </a:ext>
            </a:extLst>
          </p:cNvPr>
          <p:cNvSpPr>
            <a:spLocks noGrp="1"/>
          </p:cNvSpPr>
          <p:nvPr>
            <p:ph type="title"/>
          </p:nvPr>
        </p:nvSpPr>
        <p:spPr/>
        <p:txBody>
          <a:bodyPr>
            <a:normAutofit/>
          </a:bodyPr>
          <a:lstStyle/>
          <a:p>
            <a:r>
              <a:rPr lang="en-GB" sz="3600" dirty="0"/>
              <a:t>G20/OECD Principles of Corporate Governance 2023</a:t>
            </a:r>
          </a:p>
        </p:txBody>
      </p:sp>
      <p:sp>
        <p:nvSpPr>
          <p:cNvPr id="3" name="Content Placeholder 2">
            <a:extLst>
              <a:ext uri="{FF2B5EF4-FFF2-40B4-BE49-F238E27FC236}">
                <a16:creationId xmlns:a16="http://schemas.microsoft.com/office/drawing/2014/main" id="{8DED98B1-D89A-9D2E-979F-F9E2176FECDE}"/>
              </a:ext>
            </a:extLst>
          </p:cNvPr>
          <p:cNvSpPr>
            <a:spLocks noGrp="1"/>
          </p:cNvSpPr>
          <p:nvPr>
            <p:ph idx="1"/>
          </p:nvPr>
        </p:nvSpPr>
        <p:spPr/>
        <p:txBody>
          <a:bodyPr>
            <a:normAutofit/>
          </a:bodyPr>
          <a:lstStyle/>
          <a:p>
            <a:r>
              <a:rPr lang="en-GB" dirty="0"/>
              <a:t>Basic shareholder rights should include the right to:</a:t>
            </a:r>
          </a:p>
          <a:p>
            <a:pPr marL="971550" lvl="1" indent="-514350">
              <a:buFont typeface="+mj-lt"/>
              <a:buAutoNum type="arabicPeriod"/>
            </a:pPr>
            <a:r>
              <a:rPr lang="en-GB" dirty="0"/>
              <a:t>secure methods of ownership registration; </a:t>
            </a:r>
          </a:p>
          <a:p>
            <a:pPr marL="971550" lvl="1" indent="-514350">
              <a:buFont typeface="+mj-lt"/>
              <a:buAutoNum type="arabicPeriod"/>
            </a:pPr>
            <a:r>
              <a:rPr lang="en-GB" dirty="0"/>
              <a:t>convey or transfer shares; </a:t>
            </a:r>
          </a:p>
          <a:p>
            <a:pPr marL="971550" lvl="1" indent="-514350">
              <a:buFont typeface="+mj-lt"/>
              <a:buAutoNum type="arabicPeriod"/>
            </a:pPr>
            <a:r>
              <a:rPr lang="en-GB" dirty="0"/>
              <a:t>obtain relevant and material information on the corporation on a timely and regular basis; </a:t>
            </a:r>
          </a:p>
          <a:p>
            <a:pPr marL="971550" lvl="1" indent="-514350">
              <a:buFont typeface="+mj-lt"/>
              <a:buAutoNum type="arabicPeriod"/>
            </a:pPr>
            <a:r>
              <a:rPr lang="en-GB" dirty="0"/>
              <a:t>participate and vote in general shareholder meetings; </a:t>
            </a:r>
          </a:p>
          <a:p>
            <a:pPr marL="971550" lvl="1" indent="-514350">
              <a:buFont typeface="+mj-lt"/>
              <a:buAutoNum type="arabicPeriod"/>
            </a:pPr>
            <a:r>
              <a:rPr lang="en-GB" dirty="0"/>
              <a:t>elect and remove members of the board; </a:t>
            </a:r>
          </a:p>
          <a:p>
            <a:pPr marL="971550" lvl="1" indent="-514350">
              <a:buFont typeface="+mj-lt"/>
              <a:buAutoNum type="arabicPeriod"/>
            </a:pPr>
            <a:r>
              <a:rPr lang="en-GB" dirty="0"/>
              <a:t>share in the profits of the corporation; and </a:t>
            </a:r>
          </a:p>
          <a:p>
            <a:pPr marL="971550" lvl="1" indent="-514350">
              <a:buFont typeface="+mj-lt"/>
              <a:buAutoNum type="arabicPeriod"/>
            </a:pPr>
            <a:r>
              <a:rPr lang="en-GB" dirty="0"/>
              <a:t>elect, appoint or approve the external auditor. </a:t>
            </a:r>
          </a:p>
        </p:txBody>
      </p:sp>
    </p:spTree>
    <p:extLst>
      <p:ext uri="{BB962C8B-B14F-4D97-AF65-F5344CB8AC3E}">
        <p14:creationId xmlns:p14="http://schemas.microsoft.com/office/powerpoint/2010/main" val="3856667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BD1FF1-6FFD-4335-8BBE-777CC3EE1DB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52939" y="415294"/>
            <a:ext cx="9622851" cy="6027412"/>
          </a:xfrm>
          <a:prstGeom prst="rect">
            <a:avLst/>
          </a:prstGeom>
        </p:spPr>
      </p:pic>
    </p:spTree>
    <p:extLst>
      <p:ext uri="{BB962C8B-B14F-4D97-AF65-F5344CB8AC3E}">
        <p14:creationId xmlns:p14="http://schemas.microsoft.com/office/powerpoint/2010/main" val="543645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3EFBB-7292-4577-982A-1F046C79B9D0}"/>
              </a:ext>
            </a:extLst>
          </p:cNvPr>
          <p:cNvSpPr>
            <a:spLocks noGrp="1"/>
          </p:cNvSpPr>
          <p:nvPr>
            <p:ph type="title"/>
          </p:nvPr>
        </p:nvSpPr>
        <p:spPr>
          <a:xfrm>
            <a:off x="94444" y="18255"/>
            <a:ext cx="11259356" cy="758985"/>
          </a:xfrm>
        </p:spPr>
        <p:txBody>
          <a:bodyPr>
            <a:normAutofit/>
          </a:bodyPr>
          <a:lstStyle/>
          <a:p>
            <a:pPr algn="ctr"/>
            <a:r>
              <a:rPr lang="en-US" sz="3200" dirty="0"/>
              <a:t>Corporate Governance – Different Models</a:t>
            </a:r>
          </a:p>
        </p:txBody>
      </p:sp>
      <p:graphicFrame>
        <p:nvGraphicFramePr>
          <p:cNvPr id="14" name="Group 564">
            <a:extLst>
              <a:ext uri="{FF2B5EF4-FFF2-40B4-BE49-F238E27FC236}">
                <a16:creationId xmlns:a16="http://schemas.microsoft.com/office/drawing/2014/main" id="{4C805AA5-EBE7-4045-AF9D-8F7587FCDC1F}"/>
              </a:ext>
            </a:extLst>
          </p:cNvPr>
          <p:cNvGraphicFramePr>
            <a:graphicFrameLocks noGrp="1"/>
          </p:cNvGraphicFramePr>
          <p:nvPr>
            <p:extLst>
              <p:ext uri="{D42A27DB-BD31-4B8C-83A1-F6EECF244321}">
                <p14:modId xmlns:p14="http://schemas.microsoft.com/office/powerpoint/2010/main" val="4058537686"/>
              </p:ext>
            </p:extLst>
          </p:nvPr>
        </p:nvGraphicFramePr>
        <p:xfrm>
          <a:off x="94444" y="777240"/>
          <a:ext cx="12003112" cy="5933874"/>
        </p:xfrm>
        <a:graphic>
          <a:graphicData uri="http://schemas.openxmlformats.org/drawingml/2006/table">
            <a:tbl>
              <a:tblPr>
                <a:tableStyleId>{BC89EF96-8CEA-46FF-86C4-4CE0E7609802}</a:tableStyleId>
              </a:tblPr>
              <a:tblGrid>
                <a:gridCol w="1573517">
                  <a:extLst>
                    <a:ext uri="{9D8B030D-6E8A-4147-A177-3AD203B41FA5}">
                      <a16:colId xmlns:a16="http://schemas.microsoft.com/office/drawing/2014/main" val="20000"/>
                    </a:ext>
                  </a:extLst>
                </a:gridCol>
                <a:gridCol w="1665484">
                  <a:extLst>
                    <a:ext uri="{9D8B030D-6E8A-4147-A177-3AD203B41FA5}">
                      <a16:colId xmlns:a16="http://schemas.microsoft.com/office/drawing/2014/main" val="20001"/>
                    </a:ext>
                  </a:extLst>
                </a:gridCol>
                <a:gridCol w="1750746">
                  <a:extLst>
                    <a:ext uri="{9D8B030D-6E8A-4147-A177-3AD203B41FA5}">
                      <a16:colId xmlns:a16="http://schemas.microsoft.com/office/drawing/2014/main" val="20002"/>
                    </a:ext>
                  </a:extLst>
                </a:gridCol>
                <a:gridCol w="1835552">
                  <a:extLst>
                    <a:ext uri="{9D8B030D-6E8A-4147-A177-3AD203B41FA5}">
                      <a16:colId xmlns:a16="http://schemas.microsoft.com/office/drawing/2014/main" val="20003"/>
                    </a:ext>
                  </a:extLst>
                </a:gridCol>
                <a:gridCol w="1815597">
                  <a:extLst>
                    <a:ext uri="{9D8B030D-6E8A-4147-A177-3AD203B41FA5}">
                      <a16:colId xmlns:a16="http://schemas.microsoft.com/office/drawing/2014/main" val="20004"/>
                    </a:ext>
                  </a:extLst>
                </a:gridCol>
                <a:gridCol w="1613864">
                  <a:extLst>
                    <a:ext uri="{9D8B030D-6E8A-4147-A177-3AD203B41FA5}">
                      <a16:colId xmlns:a16="http://schemas.microsoft.com/office/drawing/2014/main" val="20005"/>
                    </a:ext>
                  </a:extLst>
                </a:gridCol>
                <a:gridCol w="1748352">
                  <a:extLst>
                    <a:ext uri="{9D8B030D-6E8A-4147-A177-3AD203B41FA5}">
                      <a16:colId xmlns:a16="http://schemas.microsoft.com/office/drawing/2014/main" val="20006"/>
                    </a:ext>
                  </a:extLst>
                </a:gridCol>
              </a:tblGrid>
              <a:tr h="46372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500" b="1" i="0" u="none" strike="noStrike" cap="none" normalizeH="0" baseline="0" dirty="0">
                        <a:ln>
                          <a:noFill/>
                        </a:ln>
                        <a:solidFill>
                          <a:schemeClr val="bg1">
                            <a:lumMod val="95000"/>
                          </a:schemeClr>
                        </a:solidFill>
                        <a:effectLst/>
                        <a:latin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GB" sz="1500" b="1" dirty="0"/>
                        <a:t>Anglo-American model</a:t>
                      </a: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GB" sz="1500" b="1" dirty="0"/>
                        <a:t>France, Italy &amp; Germany </a:t>
                      </a:r>
                    </a:p>
                    <a:p>
                      <a:pPr marL="0" marR="0" lvl="0" indent="0" algn="l" defTabSz="914400" rtl="0" eaLnBrk="1" fontAlgn="base" latinLnBrk="0" hangingPunct="1">
                        <a:lnSpc>
                          <a:spcPct val="100000"/>
                        </a:lnSpc>
                        <a:spcBef>
                          <a:spcPct val="0"/>
                        </a:spcBef>
                        <a:spcAft>
                          <a:spcPct val="0"/>
                        </a:spcAft>
                        <a:buClrTx/>
                        <a:buSzTx/>
                        <a:buFontTx/>
                        <a:buNone/>
                        <a:tabLst/>
                        <a:defRPr/>
                      </a:pPr>
                      <a:r>
                        <a:rPr lang="en-US" sz="1500" b="1" dirty="0"/>
                        <a:t>(Cont. Europe model)</a:t>
                      </a:r>
                      <a:endParaRPr lang="en-GB" sz="1500" b="1" dirty="0"/>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GB" sz="1500" b="1" dirty="0"/>
                        <a:t>Russia</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s-MX" sz="1500" b="1"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GB" sz="1500" b="1" dirty="0"/>
                        <a:t>India</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s-MX" sz="1500" b="1"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GB" sz="1500" b="1" dirty="0"/>
                        <a:t>China</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s-MX" sz="1500" b="1"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GB" sz="1500" b="1" dirty="0"/>
                        <a:t>Brazil</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s-MX" sz="1500" b="1"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0"/>
                  </a:ext>
                </a:extLst>
              </a:tr>
              <a:tr h="78425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b="1" u="none" strike="noStrike" cap="none" normalizeH="0" baseline="0" dirty="0">
                          <a:ln>
                            <a:noFill/>
                          </a:ln>
                          <a:effectLst/>
                        </a:rPr>
                        <a:t>Ownership structure</a:t>
                      </a:r>
                      <a:endParaRPr kumimoji="0" lang="en-GB" sz="1500" b="1"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u="none" strike="noStrike" cap="none" normalizeH="0" baseline="0" dirty="0">
                          <a:ln>
                            <a:noFill/>
                          </a:ln>
                          <a:effectLst/>
                        </a:rPr>
                        <a:t>Dispersed</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u="none" strike="noStrike" cap="none" normalizeH="0" baseline="0" dirty="0">
                          <a:ln>
                            <a:noFill/>
                          </a:ln>
                          <a:effectLst/>
                        </a:rPr>
                        <a:t>Concentrated</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u="none" strike="noStrike" cap="none" normalizeH="0" baseline="0" dirty="0">
                          <a:ln>
                            <a:noFill/>
                          </a:ln>
                          <a:effectLst/>
                        </a:rPr>
                        <a:t>Concentrated</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u="none" strike="noStrike" cap="none" normalizeH="0" baseline="0" dirty="0">
                          <a:ln>
                            <a:noFill/>
                          </a:ln>
                          <a:effectLst/>
                        </a:rPr>
                        <a:t>Highly concentrated</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u="none" strike="noStrike" cap="none" normalizeH="0" baseline="0" dirty="0">
                          <a:ln>
                            <a:noFill/>
                          </a:ln>
                          <a:effectLst/>
                        </a:rPr>
                        <a:t>Highly concentrated</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u="none" strike="noStrike" cap="none" normalizeH="0" baseline="0" dirty="0">
                          <a:ln>
                            <a:noFill/>
                          </a:ln>
                          <a:effectLst/>
                        </a:rPr>
                        <a:t>Highly concentrated</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1"/>
                  </a:ext>
                </a:extLst>
              </a:tr>
              <a:tr h="5780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b="1" u="none" strike="noStrike" cap="none" normalizeH="0" baseline="0">
                          <a:ln>
                            <a:noFill/>
                          </a:ln>
                          <a:effectLst/>
                        </a:rPr>
                        <a:t>Ownership identity</a:t>
                      </a:r>
                      <a:endParaRPr kumimoji="0" lang="en-GB" sz="1500" b="1"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Individuals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Pension and mutual funds</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Banks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Corporations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State</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Owner-managers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Employees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State</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Families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Foreign investors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Banks</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State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Families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Corporations</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Family owned business groups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State</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2"/>
                  </a:ext>
                </a:extLst>
              </a:tr>
              <a:tr h="7385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b="1" u="none" strike="noStrike" cap="none" normalizeH="0" baseline="0" dirty="0">
                          <a:ln>
                            <a:noFill/>
                          </a:ln>
                          <a:effectLst/>
                        </a:rPr>
                        <a:t>Changes in ownership</a:t>
                      </a:r>
                      <a:endParaRPr kumimoji="0" lang="en-GB" sz="1500" b="1"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u="none" strike="noStrike" cap="none" normalizeH="0" baseline="0">
                          <a:ln>
                            <a:noFill/>
                          </a:ln>
                          <a:effectLst/>
                        </a:rPr>
                        <a:t>Frequent</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u="none" strike="noStrike" cap="none" normalizeH="0" baseline="0">
                          <a:ln>
                            <a:noFill/>
                          </a:ln>
                          <a:effectLst/>
                        </a:rPr>
                        <a:t>Rare</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u="none" strike="noStrike" cap="none" normalizeH="0" baseline="0">
                          <a:ln>
                            <a:noFill/>
                          </a:ln>
                          <a:effectLst/>
                        </a:rPr>
                        <a:t>Frequent, but decreasing tendency</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u="none" strike="noStrike" cap="none" normalizeH="0" baseline="0" dirty="0">
                          <a:ln>
                            <a:noFill/>
                          </a:ln>
                          <a:effectLst/>
                        </a:rPr>
                        <a:t>Traditionally extremely rare, but recently changing</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228600" algn="l"/>
                        </a:tabLst>
                      </a:pPr>
                      <a:r>
                        <a:rPr kumimoji="0" lang="en-GB" sz="1500" u="none" strike="noStrike" cap="none" normalizeH="0" baseline="0">
                          <a:ln>
                            <a:noFill/>
                          </a:ln>
                          <a:effectLst/>
                        </a:rPr>
                        <a:t> Rare, but increasingly dynamic</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228600" algn="l"/>
                        </a:tabLst>
                      </a:pPr>
                      <a:r>
                        <a:rPr kumimoji="0" lang="en-GB" sz="1500" u="none" strike="noStrike" cap="none" normalizeH="0" baseline="0">
                          <a:ln>
                            <a:noFill/>
                          </a:ln>
                          <a:effectLst/>
                        </a:rPr>
                        <a:t> Rare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228600" algn="l"/>
                        </a:tabLst>
                      </a:pPr>
                      <a:r>
                        <a:rPr kumimoji="0" lang="en-GB" sz="1500" u="none" strike="noStrike" cap="none" normalizeH="0" baseline="0">
                          <a:ln>
                            <a:noFill/>
                          </a:ln>
                          <a:effectLst/>
                        </a:rPr>
                        <a:t> Increasing influence of foreign investors</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3"/>
                  </a:ext>
                </a:extLst>
              </a:tr>
              <a:tr h="7385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b="1" u="none" strike="noStrike" cap="none" normalizeH="0" baseline="0">
                          <a:ln>
                            <a:noFill/>
                          </a:ln>
                          <a:effectLst/>
                        </a:rPr>
                        <a:t>Goals of ownership</a:t>
                      </a:r>
                      <a:endParaRPr kumimoji="0" lang="en-GB" sz="1500" b="1"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Shareholder value</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Short term profits</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Sales, market share, headcount</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Long term ownership</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Profit for owners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Long term ownership</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Long term ownership</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Growth of market shares</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Long term ownership</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Sales, market share</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Long term ownership</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Profit for owners</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4"/>
                  </a:ext>
                </a:extLst>
              </a:tr>
              <a:tr h="48168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b="1" u="none" strike="noStrike" cap="none" normalizeH="0" baseline="0" dirty="0">
                          <a:ln>
                            <a:noFill/>
                          </a:ln>
                          <a:effectLst/>
                        </a:rPr>
                        <a:t>Board controlled by</a:t>
                      </a:r>
                      <a:endParaRPr kumimoji="0" lang="en-GB" sz="1500" b="1"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Executives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Shareholders </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Shareholders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Employees</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Owner-managers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Other insiders</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Owners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Other insiders</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Owners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Party/the state</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a:ln>
                            <a:noFill/>
                          </a:ln>
                          <a:effectLst/>
                        </a:rPr>
                        <a:t> Owners/</a:t>
                      </a:r>
                      <a:br>
                        <a:rPr kumimoji="0" lang="en-GB" sz="1500" u="none" strike="noStrike" cap="none" normalizeH="0" baseline="0">
                          <a:ln>
                            <a:noFill/>
                          </a:ln>
                          <a:effectLst/>
                        </a:rPr>
                      </a:br>
                      <a:r>
                        <a:rPr kumimoji="0" lang="en-GB" sz="1500" u="none" strike="noStrike" cap="none" normalizeH="0" baseline="0">
                          <a:ln>
                            <a:noFill/>
                          </a:ln>
                          <a:effectLst/>
                        </a:rPr>
                        <a:t>shareholders</a:t>
                      </a:r>
                      <a:endParaRPr kumimoji="0" lang="en-GB" sz="1500" b="0" i="0" u="none" strike="noStrike" cap="none" normalizeH="0" baseline="0">
                        <a:ln>
                          <a:noFill/>
                        </a:ln>
                        <a:solidFill>
                          <a:schemeClr val="bg1">
                            <a:lumMod val="95000"/>
                          </a:schemeClr>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5"/>
                  </a:ext>
                </a:extLst>
              </a:tr>
              <a:tr h="80621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500" b="1" u="none" strike="noStrike" cap="none" normalizeH="0" baseline="0" dirty="0">
                          <a:ln>
                            <a:noFill/>
                          </a:ln>
                          <a:effectLst/>
                        </a:rPr>
                        <a:t>Key stakeholders</a:t>
                      </a:r>
                      <a:endParaRPr kumimoji="0" lang="en-GB" sz="1500" b="1"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Shareholder</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Owners </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Employees</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Owners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State</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Owners </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Customers in overseas markets</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Owners</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Guanxi-network</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Owners </a:t>
                      </a:r>
                    </a:p>
                    <a:p>
                      <a:pPr marL="0" marR="0" lvl="0" indent="0" algn="l" defTabSz="914400" rtl="0" eaLnBrk="0" fontAlgn="base" latinLnBrk="0" hangingPunct="0">
                        <a:lnSpc>
                          <a:spcPct val="100000"/>
                        </a:lnSpc>
                        <a:spcBef>
                          <a:spcPct val="0"/>
                        </a:spcBef>
                        <a:spcAft>
                          <a:spcPct val="0"/>
                        </a:spcAft>
                        <a:buClrTx/>
                        <a:buSzTx/>
                        <a:buFont typeface="Symbol" pitchFamily="18" charset="2"/>
                        <a:buChar char=""/>
                        <a:tabLst>
                          <a:tab pos="134938" algn="l"/>
                        </a:tabLst>
                      </a:pPr>
                      <a:r>
                        <a:rPr kumimoji="0" lang="en-GB" sz="1500" u="none" strike="noStrike" cap="none" normalizeH="0" baseline="0" dirty="0">
                          <a:ln>
                            <a:noFill/>
                          </a:ln>
                          <a:effectLst/>
                        </a:rPr>
                        <a:t> Customers in overseas markets</a:t>
                      </a:r>
                      <a:endParaRPr kumimoji="0" lang="en-GB" sz="1500" b="0" i="0" u="none" strike="noStrike" cap="none" normalizeH="0" baseline="0" dirty="0">
                        <a:ln>
                          <a:noFill/>
                        </a:ln>
                        <a:solidFill>
                          <a:schemeClr val="bg1">
                            <a:lumMod val="95000"/>
                          </a:schemeClr>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05581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DB716-3333-46E9-3701-49646AAA7987}"/>
              </a:ext>
            </a:extLst>
          </p:cNvPr>
          <p:cNvSpPr>
            <a:spLocks noGrp="1"/>
          </p:cNvSpPr>
          <p:nvPr>
            <p:ph type="title"/>
          </p:nvPr>
        </p:nvSpPr>
        <p:spPr/>
        <p:txBody>
          <a:bodyPr/>
          <a:lstStyle/>
          <a:p>
            <a:r>
              <a:rPr lang="en-GB" dirty="0"/>
              <a:t>What about?</a:t>
            </a:r>
          </a:p>
        </p:txBody>
      </p:sp>
      <p:sp>
        <p:nvSpPr>
          <p:cNvPr id="3" name="Content Placeholder 2">
            <a:extLst>
              <a:ext uri="{FF2B5EF4-FFF2-40B4-BE49-F238E27FC236}">
                <a16:creationId xmlns:a16="http://schemas.microsoft.com/office/drawing/2014/main" id="{83F76BC7-D758-F672-B76F-18800D51D10A}"/>
              </a:ext>
            </a:extLst>
          </p:cNvPr>
          <p:cNvSpPr>
            <a:spLocks noGrp="1"/>
          </p:cNvSpPr>
          <p:nvPr>
            <p:ph idx="1"/>
          </p:nvPr>
        </p:nvSpPr>
        <p:spPr/>
        <p:txBody>
          <a:bodyPr/>
          <a:lstStyle/>
          <a:p>
            <a:endParaRPr lang="en-GB" dirty="0"/>
          </a:p>
          <a:p>
            <a:r>
              <a:rPr lang="en-GB" dirty="0"/>
              <a:t>Chile</a:t>
            </a:r>
          </a:p>
          <a:p>
            <a:endParaRPr lang="en-GB" dirty="0"/>
          </a:p>
          <a:p>
            <a:r>
              <a:rPr lang="en-GB" dirty="0"/>
              <a:t>Peru</a:t>
            </a:r>
          </a:p>
        </p:txBody>
      </p:sp>
    </p:spTree>
    <p:extLst>
      <p:ext uri="{BB962C8B-B14F-4D97-AF65-F5344CB8AC3E}">
        <p14:creationId xmlns:p14="http://schemas.microsoft.com/office/powerpoint/2010/main" val="1315116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324CD-5A19-5AFE-71F7-F707CC9CEE63}"/>
              </a:ext>
            </a:extLst>
          </p:cNvPr>
          <p:cNvSpPr>
            <a:spLocks noGrp="1"/>
          </p:cNvSpPr>
          <p:nvPr>
            <p:ph type="title"/>
          </p:nvPr>
        </p:nvSpPr>
        <p:spPr/>
        <p:txBody>
          <a:bodyPr/>
          <a:lstStyle/>
          <a:p>
            <a:r>
              <a:rPr lang="en-GB" dirty="0"/>
              <a:t>(main) Theories of corporate governance </a:t>
            </a:r>
          </a:p>
        </p:txBody>
      </p:sp>
      <p:sp>
        <p:nvSpPr>
          <p:cNvPr id="3" name="Content Placeholder 2">
            <a:extLst>
              <a:ext uri="{FF2B5EF4-FFF2-40B4-BE49-F238E27FC236}">
                <a16:creationId xmlns:a16="http://schemas.microsoft.com/office/drawing/2014/main" id="{7378F008-0901-7B0E-A1EA-6BBEF7FDE0B9}"/>
              </a:ext>
            </a:extLst>
          </p:cNvPr>
          <p:cNvSpPr>
            <a:spLocks noGrp="1"/>
          </p:cNvSpPr>
          <p:nvPr>
            <p:ph idx="1"/>
          </p:nvPr>
        </p:nvSpPr>
        <p:spPr/>
        <p:txBody>
          <a:bodyPr>
            <a:normAutofit lnSpcReduction="10000"/>
          </a:bodyPr>
          <a:lstStyle/>
          <a:p>
            <a:r>
              <a:rPr lang="en-GB" dirty="0"/>
              <a:t>Agency theory</a:t>
            </a:r>
          </a:p>
          <a:p>
            <a:r>
              <a:rPr lang="en-GB" dirty="0"/>
              <a:t>Transaction costs economics</a:t>
            </a:r>
          </a:p>
          <a:p>
            <a:r>
              <a:rPr lang="en-GB" dirty="0"/>
              <a:t>Resource dependence theory</a:t>
            </a:r>
          </a:p>
          <a:p>
            <a:pPr marL="0" indent="0">
              <a:buNone/>
            </a:pPr>
            <a:endParaRPr lang="en-GB" dirty="0"/>
          </a:p>
          <a:p>
            <a:pPr marL="0" indent="0">
              <a:buNone/>
            </a:pPr>
            <a:r>
              <a:rPr lang="en-GB" dirty="0"/>
              <a:t>But there are many more…</a:t>
            </a:r>
          </a:p>
          <a:p>
            <a:r>
              <a:rPr lang="en-GB" dirty="0"/>
              <a:t>Stakeholder theory</a:t>
            </a:r>
          </a:p>
          <a:p>
            <a:r>
              <a:rPr lang="en-GB" dirty="0"/>
              <a:t>Stewardship theory</a:t>
            </a:r>
          </a:p>
          <a:p>
            <a:r>
              <a:rPr lang="en-GB" dirty="0"/>
              <a:t>Information asymmetry theory</a:t>
            </a:r>
          </a:p>
          <a:p>
            <a:r>
              <a:rPr lang="en-GB" dirty="0"/>
              <a:t>…</a:t>
            </a:r>
          </a:p>
        </p:txBody>
      </p:sp>
    </p:spTree>
    <p:extLst>
      <p:ext uri="{BB962C8B-B14F-4D97-AF65-F5344CB8AC3E}">
        <p14:creationId xmlns:p14="http://schemas.microsoft.com/office/powerpoint/2010/main" val="2794350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0C44D-EAA5-EAF6-0D06-0AD975EEBB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E5C543-FC9E-D6A5-520B-30965A29BC08}"/>
              </a:ext>
            </a:extLst>
          </p:cNvPr>
          <p:cNvSpPr>
            <a:spLocks noGrp="1"/>
          </p:cNvSpPr>
          <p:nvPr>
            <p:ph type="title"/>
          </p:nvPr>
        </p:nvSpPr>
        <p:spPr/>
        <p:txBody>
          <a:bodyPr/>
          <a:lstStyle/>
          <a:p>
            <a:r>
              <a:rPr lang="en-GB" dirty="0"/>
              <a:t>Agency theory and the nexus of contracts</a:t>
            </a:r>
          </a:p>
        </p:txBody>
      </p:sp>
      <p:sp>
        <p:nvSpPr>
          <p:cNvPr id="3" name="Content Placeholder 2">
            <a:extLst>
              <a:ext uri="{FF2B5EF4-FFF2-40B4-BE49-F238E27FC236}">
                <a16:creationId xmlns:a16="http://schemas.microsoft.com/office/drawing/2014/main" id="{3520949B-437D-198A-BC55-38999B77B5D1}"/>
              </a:ext>
            </a:extLst>
          </p:cNvPr>
          <p:cNvSpPr>
            <a:spLocks noGrp="1"/>
          </p:cNvSpPr>
          <p:nvPr>
            <p:ph idx="1"/>
          </p:nvPr>
        </p:nvSpPr>
        <p:spPr>
          <a:xfrm>
            <a:off x="838200" y="1825625"/>
            <a:ext cx="10515600" cy="4667250"/>
          </a:xfrm>
        </p:spPr>
        <p:txBody>
          <a:bodyPr>
            <a:normAutofit/>
          </a:bodyPr>
          <a:lstStyle/>
          <a:p>
            <a:pPr marL="0" indent="0">
              <a:lnSpc>
                <a:spcPct val="100000"/>
              </a:lnSpc>
              <a:buNone/>
            </a:pPr>
            <a:r>
              <a:rPr lang="en-GB" sz="2000" dirty="0"/>
              <a:t>Explains the relationship between the owners (principals) of a company and the managers (agents) who run it. It aims at minimize conflicts of interest and ensure managers act in the best interests of the “owners”. </a:t>
            </a:r>
          </a:p>
          <a:p>
            <a:pPr marL="0" indent="0">
              <a:lnSpc>
                <a:spcPct val="100000"/>
              </a:lnSpc>
              <a:buNone/>
            </a:pPr>
            <a:r>
              <a:rPr lang="en-GB" sz="2000" dirty="0"/>
              <a:t>The definition of the firm</a:t>
            </a:r>
          </a:p>
          <a:p>
            <a:pPr lvl="1">
              <a:lnSpc>
                <a:spcPct val="100000"/>
              </a:lnSpc>
            </a:pPr>
            <a:r>
              <a:rPr lang="en-GB" sz="1800" dirty="0"/>
              <a:t>Traditional economics viewed the firm as a production function</a:t>
            </a:r>
          </a:p>
          <a:p>
            <a:pPr lvl="1">
              <a:lnSpc>
                <a:spcPct val="100000"/>
              </a:lnSpc>
            </a:pPr>
            <a:r>
              <a:rPr lang="en-GB" sz="1800" dirty="0"/>
              <a:t>The firm is a "legal fiction" serving as a nexus for contracting relationships among individuals. </a:t>
            </a:r>
          </a:p>
          <a:p>
            <a:pPr lvl="1">
              <a:lnSpc>
                <a:spcPct val="100000"/>
              </a:lnSpc>
            </a:pPr>
            <a:r>
              <a:rPr lang="en-GB" sz="1800" dirty="0"/>
              <a:t>Behaviour is the outcome of a complex equilibrium process similar to a market.</a:t>
            </a:r>
          </a:p>
          <a:p>
            <a:pPr marL="0" indent="0">
              <a:lnSpc>
                <a:spcPct val="100000"/>
              </a:lnSpc>
              <a:buNone/>
            </a:pPr>
            <a:r>
              <a:rPr lang="en-GB" sz="2000" dirty="0"/>
              <a:t>Agency costs and ownership structure</a:t>
            </a:r>
          </a:p>
          <a:p>
            <a:pPr lvl="1">
              <a:lnSpc>
                <a:spcPct val="100000"/>
              </a:lnSpc>
            </a:pPr>
            <a:r>
              <a:rPr lang="en-GB" sz="1600" dirty="0"/>
              <a:t>The sum of monitoring expenditures by the principal, bonding expenditures by the agent, and residual loss.</a:t>
            </a:r>
          </a:p>
          <a:p>
            <a:pPr lvl="1">
              <a:lnSpc>
                <a:spcPct val="100000"/>
              </a:lnSpc>
            </a:pPr>
            <a:r>
              <a:rPr lang="en-GB" sz="1600" dirty="0"/>
              <a:t>Managers who do not own 100% of the firm will appropriate perks because they do not bear the full cost of their consumption.</a:t>
            </a:r>
          </a:p>
          <a:p>
            <a:pPr lvl="1">
              <a:lnSpc>
                <a:spcPct val="100000"/>
              </a:lnSpc>
            </a:pPr>
            <a:r>
              <a:rPr lang="en-GB" sz="1600" dirty="0"/>
              <a:t>Principal-agent problem: managers acting in their own self-interest rather than the shareholders' interests, leading to conflicts of interest. </a:t>
            </a:r>
          </a:p>
          <a:p>
            <a:pPr lvl="1">
              <a:lnSpc>
                <a:spcPct val="100000"/>
              </a:lnSpc>
            </a:pPr>
            <a:endParaRPr lang="en-GB" sz="1600" dirty="0"/>
          </a:p>
          <a:p>
            <a:pPr marL="0" indent="0">
              <a:lnSpc>
                <a:spcPct val="100000"/>
              </a:lnSpc>
              <a:buNone/>
            </a:pPr>
            <a:endParaRPr lang="en-GB" sz="2000" dirty="0"/>
          </a:p>
        </p:txBody>
      </p:sp>
      <p:sp>
        <p:nvSpPr>
          <p:cNvPr id="5" name="TextBox 4">
            <a:extLst>
              <a:ext uri="{FF2B5EF4-FFF2-40B4-BE49-F238E27FC236}">
                <a16:creationId xmlns:a16="http://schemas.microsoft.com/office/drawing/2014/main" id="{14FD222D-7D3B-6025-9B51-7E9CF1F42803}"/>
              </a:ext>
            </a:extLst>
          </p:cNvPr>
          <p:cNvSpPr txBox="1"/>
          <p:nvPr/>
        </p:nvSpPr>
        <p:spPr>
          <a:xfrm>
            <a:off x="6587837" y="6308209"/>
            <a:ext cx="5098472" cy="369332"/>
          </a:xfrm>
          <a:prstGeom prst="rect">
            <a:avLst/>
          </a:prstGeom>
          <a:noFill/>
        </p:spPr>
        <p:txBody>
          <a:bodyPr wrap="square">
            <a:spAutoFit/>
          </a:bodyPr>
          <a:lstStyle/>
          <a:p>
            <a:r>
              <a:rPr lang="en-GB" dirty="0"/>
              <a:t>Jensen &amp; Meckling (1976); Fama &amp; Jensen (1983)</a:t>
            </a:r>
          </a:p>
        </p:txBody>
      </p:sp>
    </p:spTree>
    <p:extLst>
      <p:ext uri="{BB962C8B-B14F-4D97-AF65-F5344CB8AC3E}">
        <p14:creationId xmlns:p14="http://schemas.microsoft.com/office/powerpoint/2010/main" val="1709241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E2C18-129F-A65A-365F-8D6EFFCC87E2}"/>
              </a:ext>
            </a:extLst>
          </p:cNvPr>
          <p:cNvSpPr>
            <a:spLocks noGrp="1"/>
          </p:cNvSpPr>
          <p:nvPr>
            <p:ph type="title"/>
          </p:nvPr>
        </p:nvSpPr>
        <p:spPr/>
        <p:txBody>
          <a:bodyPr/>
          <a:lstStyle/>
          <a:p>
            <a:r>
              <a:rPr lang="en-GB" dirty="0"/>
              <a:t>Agency theory and the nexus of contracts</a:t>
            </a:r>
          </a:p>
        </p:txBody>
      </p:sp>
      <p:sp>
        <p:nvSpPr>
          <p:cNvPr id="3" name="Content Placeholder 2">
            <a:extLst>
              <a:ext uri="{FF2B5EF4-FFF2-40B4-BE49-F238E27FC236}">
                <a16:creationId xmlns:a16="http://schemas.microsoft.com/office/drawing/2014/main" id="{3068DFFC-3C09-CA7F-4912-2283EB9BFFBF}"/>
              </a:ext>
            </a:extLst>
          </p:cNvPr>
          <p:cNvSpPr>
            <a:spLocks noGrp="1"/>
          </p:cNvSpPr>
          <p:nvPr>
            <p:ph idx="1"/>
          </p:nvPr>
        </p:nvSpPr>
        <p:spPr/>
        <p:txBody>
          <a:bodyPr>
            <a:normAutofit/>
          </a:bodyPr>
          <a:lstStyle/>
          <a:p>
            <a:pPr marL="0" indent="0">
              <a:lnSpc>
                <a:spcPct val="110000"/>
              </a:lnSpc>
              <a:buNone/>
            </a:pPr>
            <a:r>
              <a:rPr lang="en-GB" dirty="0"/>
              <a:t>Separation of decision management and decision control</a:t>
            </a:r>
          </a:p>
          <a:p>
            <a:pPr lvl="1">
              <a:lnSpc>
                <a:spcPct val="110000"/>
              </a:lnSpc>
            </a:pPr>
            <a:r>
              <a:rPr lang="en-GB" dirty="0"/>
              <a:t>Governance survives by separating </a:t>
            </a:r>
            <a:r>
              <a:rPr lang="en-GB" i="1" dirty="0"/>
              <a:t>Decision Management </a:t>
            </a:r>
            <a:r>
              <a:rPr lang="en-GB" dirty="0"/>
              <a:t>(initiation and implementation) from </a:t>
            </a:r>
            <a:r>
              <a:rPr lang="en-GB" i="1" dirty="0"/>
              <a:t>Decision Control </a:t>
            </a:r>
            <a:r>
              <a:rPr lang="en-GB" dirty="0"/>
              <a:t>(ratification and monitoring).</a:t>
            </a:r>
          </a:p>
          <a:p>
            <a:pPr lvl="1">
              <a:lnSpc>
                <a:spcPct val="110000"/>
              </a:lnSpc>
            </a:pPr>
            <a:r>
              <a:rPr lang="en-GB" dirty="0"/>
              <a:t>The Board of Directors functions as the centre of the decision control system with the power to hire, fire, and compensate top management.</a:t>
            </a:r>
          </a:p>
          <a:p>
            <a:pPr marL="0" indent="0">
              <a:lnSpc>
                <a:spcPct val="110000"/>
              </a:lnSpc>
              <a:buNone/>
            </a:pPr>
            <a:r>
              <a:rPr lang="en-GB" dirty="0"/>
              <a:t>Typical areas of research:</a:t>
            </a:r>
          </a:p>
          <a:p>
            <a:pPr lvl="1">
              <a:lnSpc>
                <a:spcPct val="110000"/>
              </a:lnSpc>
            </a:pPr>
            <a:r>
              <a:rPr lang="en-GB" dirty="0"/>
              <a:t>It proposes governance mechanisms like executive compensation, board oversight, and shareholder rights to align the interests of managers and shareholders. </a:t>
            </a:r>
          </a:p>
          <a:p>
            <a:pPr>
              <a:lnSpc>
                <a:spcPct val="110000"/>
              </a:lnSpc>
            </a:pPr>
            <a:endParaRPr lang="en-GB" dirty="0"/>
          </a:p>
        </p:txBody>
      </p:sp>
    </p:spTree>
    <p:extLst>
      <p:ext uri="{BB962C8B-B14F-4D97-AF65-F5344CB8AC3E}">
        <p14:creationId xmlns:p14="http://schemas.microsoft.com/office/powerpoint/2010/main" val="2004214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is an excerpt from the Academy of Management Review journal, featuring an abstract about the costs associated with corporate principals and their implications for governance.&#10;&#10;AI-generated content may be incorrect.">
            <a:extLst>
              <a:ext uri="{FF2B5EF4-FFF2-40B4-BE49-F238E27FC236}">
                <a16:creationId xmlns:a16="http://schemas.microsoft.com/office/drawing/2014/main" id="{2EFA6122-1D6B-B5E9-3C91-50EEC612C7AB}"/>
              </a:ext>
            </a:extLst>
          </p:cNvPr>
          <p:cNvPicPr>
            <a:picLocks noChangeAspect="1"/>
          </p:cNvPicPr>
          <p:nvPr/>
        </p:nvPicPr>
        <p:blipFill>
          <a:blip r:embed="rId2"/>
          <a:stretch>
            <a:fillRect/>
          </a:stretch>
        </p:blipFill>
        <p:spPr>
          <a:xfrm>
            <a:off x="1318815" y="817419"/>
            <a:ext cx="8652156" cy="4440828"/>
          </a:xfrm>
          <a:prstGeom prst="rect">
            <a:avLst/>
          </a:prstGeom>
        </p:spPr>
      </p:pic>
    </p:spTree>
    <p:extLst>
      <p:ext uri="{BB962C8B-B14F-4D97-AF65-F5344CB8AC3E}">
        <p14:creationId xmlns:p14="http://schemas.microsoft.com/office/powerpoint/2010/main" val="2988313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FAA95-D4F4-0B90-ABA0-00FFC8516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58FA7F-EAAD-91E7-42EA-3D62D6F73516}"/>
              </a:ext>
            </a:extLst>
          </p:cNvPr>
          <p:cNvSpPr>
            <a:spLocks noGrp="1"/>
          </p:cNvSpPr>
          <p:nvPr>
            <p:ph type="title"/>
          </p:nvPr>
        </p:nvSpPr>
        <p:spPr/>
        <p:txBody>
          <a:bodyPr/>
          <a:lstStyle/>
          <a:p>
            <a:r>
              <a:rPr lang="en-GB" dirty="0"/>
              <a:t>Transaction Cost Economics Theory</a:t>
            </a:r>
          </a:p>
        </p:txBody>
      </p:sp>
      <p:sp>
        <p:nvSpPr>
          <p:cNvPr id="3" name="Content Placeholder 2">
            <a:extLst>
              <a:ext uri="{FF2B5EF4-FFF2-40B4-BE49-F238E27FC236}">
                <a16:creationId xmlns:a16="http://schemas.microsoft.com/office/drawing/2014/main" id="{0F79224B-822A-82C2-953E-04F95056A717}"/>
              </a:ext>
            </a:extLst>
          </p:cNvPr>
          <p:cNvSpPr>
            <a:spLocks noGrp="1"/>
          </p:cNvSpPr>
          <p:nvPr>
            <p:ph idx="1"/>
          </p:nvPr>
        </p:nvSpPr>
        <p:spPr/>
        <p:txBody>
          <a:bodyPr>
            <a:normAutofit fontScale="77500" lnSpcReduction="20000"/>
          </a:bodyPr>
          <a:lstStyle/>
          <a:p>
            <a:pPr marL="0" indent="0" algn="just">
              <a:lnSpc>
                <a:spcPct val="110000"/>
              </a:lnSpc>
              <a:buNone/>
            </a:pPr>
            <a:r>
              <a:rPr lang="en-GB" dirty="0"/>
              <a:t>The transaction as the unit of analysis</a:t>
            </a:r>
          </a:p>
          <a:p>
            <a:pPr algn="just">
              <a:lnSpc>
                <a:spcPct val="110000"/>
              </a:lnSpc>
            </a:pPr>
            <a:r>
              <a:rPr lang="en-GB" dirty="0"/>
              <a:t>It focuses on the transaction as the unit of analysis and seeks to identify the most efficient way to organize economic activity by minimising costs.</a:t>
            </a:r>
          </a:p>
          <a:p>
            <a:pPr algn="just">
              <a:lnSpc>
                <a:spcPct val="110000"/>
              </a:lnSpc>
            </a:pPr>
            <a:r>
              <a:rPr lang="en-GB" dirty="0"/>
              <a:t>The central claim is that firms will align transaction characteristics with governance structures in a way that minimizes the sum of production and transaction costs.</a:t>
            </a:r>
          </a:p>
          <a:p>
            <a:pPr algn="just">
              <a:lnSpc>
                <a:spcPct val="110000"/>
              </a:lnSpc>
            </a:pPr>
            <a:r>
              <a:rPr lang="en-GB" dirty="0"/>
              <a:t>It relies on two core assumptions about human behaviour that make transaction-specific governance necessary:</a:t>
            </a:r>
          </a:p>
          <a:p>
            <a:pPr lvl="1" algn="just">
              <a:lnSpc>
                <a:spcPct val="110000"/>
              </a:lnSpc>
            </a:pPr>
            <a:r>
              <a:rPr lang="en-GB" dirty="0"/>
              <a:t>Bounded rationality: Human agents have a limited ability to receive, store, and process information, which makes it impossible to write complete contracts that cover every possible future contingency.</a:t>
            </a:r>
          </a:p>
          <a:p>
            <a:pPr lvl="1" algn="just">
              <a:lnSpc>
                <a:spcPct val="110000"/>
              </a:lnSpc>
            </a:pPr>
            <a:r>
              <a:rPr lang="en-GB" dirty="0"/>
              <a:t>Opportunism: This is defined as self-interest seeking with guile. It assumes that some individuals may provide false or misleading information to gain a strategic advantage.</a:t>
            </a:r>
          </a:p>
          <a:p>
            <a:pPr algn="just">
              <a:lnSpc>
                <a:spcPct val="110000"/>
              </a:lnSpc>
            </a:pPr>
            <a:endParaRPr lang="en-GB" dirty="0"/>
          </a:p>
          <a:p>
            <a:pPr algn="just">
              <a:lnSpc>
                <a:spcPct val="110000"/>
              </a:lnSpc>
            </a:pPr>
            <a:endParaRPr lang="en-GB" dirty="0"/>
          </a:p>
          <a:p>
            <a:pPr marL="0" indent="0" algn="just">
              <a:lnSpc>
                <a:spcPct val="110000"/>
              </a:lnSpc>
              <a:buNone/>
            </a:pPr>
            <a:endParaRPr lang="en-GB" dirty="0"/>
          </a:p>
        </p:txBody>
      </p:sp>
      <p:sp>
        <p:nvSpPr>
          <p:cNvPr id="5" name="TextBox 4">
            <a:extLst>
              <a:ext uri="{FF2B5EF4-FFF2-40B4-BE49-F238E27FC236}">
                <a16:creationId xmlns:a16="http://schemas.microsoft.com/office/drawing/2014/main" id="{2E52ABD3-DB8A-A2A2-FAA0-4D390561B3E7}"/>
              </a:ext>
            </a:extLst>
          </p:cNvPr>
          <p:cNvSpPr txBox="1"/>
          <p:nvPr/>
        </p:nvSpPr>
        <p:spPr>
          <a:xfrm>
            <a:off x="7820890" y="6405563"/>
            <a:ext cx="4073237" cy="369332"/>
          </a:xfrm>
          <a:prstGeom prst="rect">
            <a:avLst/>
          </a:prstGeom>
          <a:noFill/>
        </p:spPr>
        <p:txBody>
          <a:bodyPr wrap="square">
            <a:spAutoFit/>
          </a:bodyPr>
          <a:lstStyle/>
          <a:p>
            <a:r>
              <a:rPr lang="en-GB" dirty="0"/>
              <a:t>Williamson (1979); David &amp; Han (2004)</a:t>
            </a:r>
          </a:p>
        </p:txBody>
      </p:sp>
    </p:spTree>
    <p:extLst>
      <p:ext uri="{BB962C8B-B14F-4D97-AF65-F5344CB8AC3E}">
        <p14:creationId xmlns:p14="http://schemas.microsoft.com/office/powerpoint/2010/main" val="3384139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9D0EE-DB53-5C07-D7DD-3D558C57F982}"/>
              </a:ext>
            </a:extLst>
          </p:cNvPr>
          <p:cNvSpPr>
            <a:spLocks noGrp="1"/>
          </p:cNvSpPr>
          <p:nvPr>
            <p:ph type="title"/>
          </p:nvPr>
        </p:nvSpPr>
        <p:spPr/>
        <p:txBody>
          <a:bodyPr/>
          <a:lstStyle/>
          <a:p>
            <a:r>
              <a:rPr lang="en-GB" dirty="0"/>
              <a:t>Transaction Cost Economics Theory</a:t>
            </a:r>
          </a:p>
        </p:txBody>
      </p:sp>
      <p:sp>
        <p:nvSpPr>
          <p:cNvPr id="3" name="Content Placeholder 2">
            <a:extLst>
              <a:ext uri="{FF2B5EF4-FFF2-40B4-BE49-F238E27FC236}">
                <a16:creationId xmlns:a16="http://schemas.microsoft.com/office/drawing/2014/main" id="{107479FB-5861-0F5F-0D40-5FBCC05F2B8D}"/>
              </a:ext>
            </a:extLst>
          </p:cNvPr>
          <p:cNvSpPr>
            <a:spLocks noGrp="1"/>
          </p:cNvSpPr>
          <p:nvPr>
            <p:ph idx="1"/>
          </p:nvPr>
        </p:nvSpPr>
        <p:spPr/>
        <p:txBody>
          <a:bodyPr>
            <a:normAutofit lnSpcReduction="10000"/>
          </a:bodyPr>
          <a:lstStyle/>
          <a:p>
            <a:pPr>
              <a:lnSpc>
                <a:spcPct val="100000"/>
              </a:lnSpc>
            </a:pPr>
            <a:r>
              <a:rPr lang="en-GB" dirty="0"/>
              <a:t>The three dimensions of transactions:</a:t>
            </a:r>
          </a:p>
          <a:p>
            <a:pPr lvl="1">
              <a:lnSpc>
                <a:spcPct val="100000"/>
              </a:lnSpc>
            </a:pPr>
            <a:r>
              <a:rPr lang="en-GB" b="1" dirty="0"/>
              <a:t>Asset specificity</a:t>
            </a:r>
            <a:r>
              <a:rPr lang="en-GB" dirty="0"/>
              <a:t>: The degree to which assets (physical or human) used for a transaction can be redeployed to alternative uses without a loss of productive value. High asset specificity creates bilateral dependency, where parties are effectively locked into the relationship.</a:t>
            </a:r>
          </a:p>
          <a:p>
            <a:pPr lvl="1">
              <a:lnSpc>
                <a:spcPct val="100000"/>
              </a:lnSpc>
            </a:pPr>
            <a:r>
              <a:rPr lang="en-GB" b="1" dirty="0"/>
              <a:t>Uncertainty</a:t>
            </a:r>
            <a:r>
              <a:rPr lang="en-GB" dirty="0"/>
              <a:t>: This refers to the unpredictability of future events. According to TCE, uncertainty's impact is conditional. It only affects the choice of governance when asset specificity is present.</a:t>
            </a:r>
          </a:p>
          <a:p>
            <a:pPr lvl="1">
              <a:lnSpc>
                <a:spcPct val="100000"/>
              </a:lnSpc>
            </a:pPr>
            <a:r>
              <a:rPr lang="en-GB" b="1" dirty="0"/>
              <a:t>Frequency</a:t>
            </a:r>
            <a:r>
              <a:rPr lang="en-GB" dirty="0"/>
              <a:t>: The regularity with which a transaction occurs. High-frequency transactions can more easily justify the bureaucratic costs of setting up a specialised governance structure</a:t>
            </a:r>
          </a:p>
          <a:p>
            <a:pPr lvl="1">
              <a:lnSpc>
                <a:spcPct val="100000"/>
              </a:lnSpc>
            </a:pPr>
            <a:endParaRPr lang="en-GB" dirty="0"/>
          </a:p>
        </p:txBody>
      </p:sp>
    </p:spTree>
    <p:extLst>
      <p:ext uri="{BB962C8B-B14F-4D97-AF65-F5344CB8AC3E}">
        <p14:creationId xmlns:p14="http://schemas.microsoft.com/office/powerpoint/2010/main" val="765951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73066-C63B-02E5-ED4C-19B069B64DD3}"/>
              </a:ext>
            </a:extLst>
          </p:cNvPr>
          <p:cNvSpPr>
            <a:spLocks noGrp="1"/>
          </p:cNvSpPr>
          <p:nvPr>
            <p:ph type="title"/>
          </p:nvPr>
        </p:nvSpPr>
        <p:spPr/>
        <p:txBody>
          <a:bodyPr/>
          <a:lstStyle/>
          <a:p>
            <a:r>
              <a:rPr lang="en-GB" dirty="0"/>
              <a:t>Transaction Cost Economics Theory</a:t>
            </a:r>
          </a:p>
        </p:txBody>
      </p:sp>
      <p:sp>
        <p:nvSpPr>
          <p:cNvPr id="3" name="Content Placeholder 2">
            <a:extLst>
              <a:ext uri="{FF2B5EF4-FFF2-40B4-BE49-F238E27FC236}">
                <a16:creationId xmlns:a16="http://schemas.microsoft.com/office/drawing/2014/main" id="{D4F0EC7D-648F-4038-B18E-FDF869032449}"/>
              </a:ext>
            </a:extLst>
          </p:cNvPr>
          <p:cNvSpPr>
            <a:spLocks noGrp="1"/>
          </p:cNvSpPr>
          <p:nvPr>
            <p:ph idx="1"/>
          </p:nvPr>
        </p:nvSpPr>
        <p:spPr>
          <a:xfrm>
            <a:off x="838199" y="1825625"/>
            <a:ext cx="10196945" cy="4351338"/>
          </a:xfrm>
        </p:spPr>
        <p:txBody>
          <a:bodyPr>
            <a:normAutofit/>
          </a:bodyPr>
          <a:lstStyle/>
          <a:p>
            <a:pPr marL="0" indent="0" algn="just">
              <a:lnSpc>
                <a:spcPct val="110000"/>
              </a:lnSpc>
              <a:buNone/>
            </a:pPr>
            <a:r>
              <a:rPr lang="en-GB" sz="2400" dirty="0"/>
              <a:t>Typical areas of research:</a:t>
            </a:r>
          </a:p>
          <a:p>
            <a:pPr lvl="1" algn="just">
              <a:lnSpc>
                <a:spcPct val="110000"/>
              </a:lnSpc>
            </a:pPr>
            <a:r>
              <a:rPr lang="en-GB" sz="2000" dirty="0"/>
              <a:t>Agency problem, board of directors' role, corporate governance structure, vertical integration, contract designs, merge and acquisitions. </a:t>
            </a:r>
          </a:p>
        </p:txBody>
      </p:sp>
      <p:pic>
        <p:nvPicPr>
          <p:cNvPr id="7" name="Picture 6" descr="The image is an abstract representation of a scholarly article abstract from the Entrepreneurship Journal, detailing a study on the impact of proximity and inter-firm corruption on transaction costs.&#10;&#10;AI-generated content may be incorrect.">
            <a:extLst>
              <a:ext uri="{FF2B5EF4-FFF2-40B4-BE49-F238E27FC236}">
                <a16:creationId xmlns:a16="http://schemas.microsoft.com/office/drawing/2014/main" id="{F160F858-53F3-7588-4685-76AE13711B70}"/>
              </a:ext>
            </a:extLst>
          </p:cNvPr>
          <p:cNvPicPr>
            <a:picLocks noChangeAspect="1"/>
          </p:cNvPicPr>
          <p:nvPr/>
        </p:nvPicPr>
        <p:blipFill>
          <a:blip r:embed="rId2"/>
          <a:stretch>
            <a:fillRect/>
          </a:stretch>
        </p:blipFill>
        <p:spPr>
          <a:xfrm>
            <a:off x="1156856" y="3567094"/>
            <a:ext cx="9925123" cy="2609869"/>
          </a:xfrm>
          <a:prstGeom prst="rect">
            <a:avLst/>
          </a:prstGeom>
        </p:spPr>
      </p:pic>
    </p:spTree>
    <p:extLst>
      <p:ext uri="{BB962C8B-B14F-4D97-AF65-F5344CB8AC3E}">
        <p14:creationId xmlns:p14="http://schemas.microsoft.com/office/powerpoint/2010/main" val="3789833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00118-55BC-54CD-BAED-FEB17E3209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E6AB8-1F0D-0BD8-17AC-A7E1EE618C87}"/>
              </a:ext>
            </a:extLst>
          </p:cNvPr>
          <p:cNvSpPr>
            <a:spLocks noGrp="1"/>
          </p:cNvSpPr>
          <p:nvPr>
            <p:ph type="title"/>
          </p:nvPr>
        </p:nvSpPr>
        <p:spPr/>
        <p:txBody>
          <a:bodyPr/>
          <a:lstStyle/>
          <a:p>
            <a:r>
              <a:rPr lang="en-GB" dirty="0"/>
              <a:t>Resource Dependence Theory</a:t>
            </a:r>
          </a:p>
        </p:txBody>
      </p:sp>
      <p:sp>
        <p:nvSpPr>
          <p:cNvPr id="3" name="Content Placeholder 2">
            <a:extLst>
              <a:ext uri="{FF2B5EF4-FFF2-40B4-BE49-F238E27FC236}">
                <a16:creationId xmlns:a16="http://schemas.microsoft.com/office/drawing/2014/main" id="{F62B8648-AE90-7576-DB46-4ECD03F3D5D8}"/>
              </a:ext>
            </a:extLst>
          </p:cNvPr>
          <p:cNvSpPr>
            <a:spLocks noGrp="1"/>
          </p:cNvSpPr>
          <p:nvPr>
            <p:ph idx="1"/>
          </p:nvPr>
        </p:nvSpPr>
        <p:spPr/>
        <p:txBody>
          <a:bodyPr>
            <a:normAutofit lnSpcReduction="10000"/>
          </a:bodyPr>
          <a:lstStyle/>
          <a:p>
            <a:pPr marL="0" indent="0" algn="just">
              <a:lnSpc>
                <a:spcPct val="110000"/>
              </a:lnSpc>
              <a:buNone/>
            </a:pPr>
            <a:r>
              <a:rPr lang="en-GB" sz="2000" dirty="0"/>
              <a:t>It characterises the corporation as an open system that is fundamentally dependent on contingencies in its external environment.</a:t>
            </a:r>
          </a:p>
          <a:p>
            <a:pPr marL="0" indent="0" algn="just">
              <a:lnSpc>
                <a:spcPct val="110000"/>
              </a:lnSpc>
              <a:buNone/>
            </a:pPr>
            <a:r>
              <a:rPr lang="en-GB" sz="2000" dirty="0"/>
              <a:t>The theory is built on several foundational arguments regarding how organisations interact with their surroundings:</a:t>
            </a:r>
          </a:p>
          <a:p>
            <a:pPr lvl="1" algn="just">
              <a:lnSpc>
                <a:spcPct val="110000"/>
              </a:lnSpc>
            </a:pPr>
            <a:r>
              <a:rPr lang="en-GB" sz="1800" dirty="0"/>
              <a:t>Interdependence and constraint: Organisations are not autonomous; they are constrained by a network of interdependencies with other organisations.</a:t>
            </a:r>
          </a:p>
          <a:p>
            <a:pPr lvl="1" algn="just">
              <a:lnSpc>
                <a:spcPct val="110000"/>
              </a:lnSpc>
            </a:pPr>
            <a:r>
              <a:rPr lang="en-GB" sz="1800" dirty="0"/>
              <a:t>Uncertainty and survival: When interdependence is coupled with uncertainty about the actions of others, an organisation's survival and continued success become uncertain.</a:t>
            </a:r>
          </a:p>
          <a:p>
            <a:pPr lvl="1" algn="just">
              <a:lnSpc>
                <a:spcPct val="110000"/>
              </a:lnSpc>
            </a:pPr>
            <a:r>
              <a:rPr lang="en-GB" sz="1800" dirty="0"/>
              <a:t>Strategic action: Managers act to reduce this environmental uncertainty and dependence by taking specific actions to manage external interdependencies.</a:t>
            </a:r>
          </a:p>
          <a:p>
            <a:pPr lvl="1" algn="just">
              <a:lnSpc>
                <a:spcPct val="110000"/>
              </a:lnSpc>
            </a:pPr>
            <a:r>
              <a:rPr lang="en-GB" sz="1800" dirty="0"/>
              <a:t>Power dynamics: Central to RDT is the concept of power, defined as the control over vital resources. Organisations strive to reduce the power others have over them while often attempting to increase their own power over others.</a:t>
            </a:r>
          </a:p>
          <a:p>
            <a:pPr marL="0" indent="0" algn="just">
              <a:lnSpc>
                <a:spcPct val="110000"/>
              </a:lnSpc>
              <a:buNone/>
            </a:pPr>
            <a:endParaRPr lang="en-GB" sz="2000" dirty="0"/>
          </a:p>
          <a:p>
            <a:pPr marL="0" indent="0" algn="just">
              <a:lnSpc>
                <a:spcPct val="110000"/>
              </a:lnSpc>
              <a:buNone/>
            </a:pPr>
            <a:endParaRPr lang="en-GB" sz="2000" dirty="0"/>
          </a:p>
          <a:p>
            <a:pPr marL="0" indent="0" algn="just">
              <a:lnSpc>
                <a:spcPct val="110000"/>
              </a:lnSpc>
              <a:buNone/>
            </a:pPr>
            <a:endParaRPr lang="en-GB" sz="2000" dirty="0"/>
          </a:p>
        </p:txBody>
      </p:sp>
      <p:sp>
        <p:nvSpPr>
          <p:cNvPr id="5" name="TextBox 4">
            <a:extLst>
              <a:ext uri="{FF2B5EF4-FFF2-40B4-BE49-F238E27FC236}">
                <a16:creationId xmlns:a16="http://schemas.microsoft.com/office/drawing/2014/main" id="{AD46076C-327B-049E-BE0E-787B87203CDC}"/>
              </a:ext>
            </a:extLst>
          </p:cNvPr>
          <p:cNvSpPr txBox="1"/>
          <p:nvPr/>
        </p:nvSpPr>
        <p:spPr>
          <a:xfrm>
            <a:off x="8208818" y="6311900"/>
            <a:ext cx="3782290" cy="369332"/>
          </a:xfrm>
          <a:prstGeom prst="rect">
            <a:avLst/>
          </a:prstGeom>
          <a:noFill/>
        </p:spPr>
        <p:txBody>
          <a:bodyPr wrap="square">
            <a:spAutoFit/>
          </a:bodyPr>
          <a:lstStyle/>
          <a:p>
            <a:r>
              <a:rPr lang="en-GB" dirty="0"/>
              <a:t>Hillman, Withers &amp; Collins (2009)</a:t>
            </a:r>
          </a:p>
        </p:txBody>
      </p:sp>
    </p:spTree>
    <p:extLst>
      <p:ext uri="{BB962C8B-B14F-4D97-AF65-F5344CB8AC3E}">
        <p14:creationId xmlns:p14="http://schemas.microsoft.com/office/powerpoint/2010/main" val="2929608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4449B-9DF8-8BD6-3342-99C04A25D0FD}"/>
              </a:ext>
            </a:extLst>
          </p:cNvPr>
          <p:cNvSpPr>
            <a:spLocks noGrp="1"/>
          </p:cNvSpPr>
          <p:nvPr>
            <p:ph type="title"/>
          </p:nvPr>
        </p:nvSpPr>
        <p:spPr/>
        <p:txBody>
          <a:bodyPr/>
          <a:lstStyle/>
          <a:p>
            <a:r>
              <a:rPr lang="en-GB" dirty="0"/>
              <a:t>Resource Dependence Theory</a:t>
            </a:r>
          </a:p>
        </p:txBody>
      </p:sp>
      <p:sp>
        <p:nvSpPr>
          <p:cNvPr id="3" name="Content Placeholder 2">
            <a:extLst>
              <a:ext uri="{FF2B5EF4-FFF2-40B4-BE49-F238E27FC236}">
                <a16:creationId xmlns:a16="http://schemas.microsoft.com/office/drawing/2014/main" id="{DF402955-F034-52C3-D7E1-363818C375C1}"/>
              </a:ext>
            </a:extLst>
          </p:cNvPr>
          <p:cNvSpPr>
            <a:spLocks noGrp="1"/>
          </p:cNvSpPr>
          <p:nvPr>
            <p:ph idx="1"/>
          </p:nvPr>
        </p:nvSpPr>
        <p:spPr>
          <a:xfrm>
            <a:off x="838200" y="1825625"/>
            <a:ext cx="10515600" cy="4667250"/>
          </a:xfrm>
        </p:spPr>
        <p:txBody>
          <a:bodyPr>
            <a:normAutofit fontScale="92500"/>
          </a:bodyPr>
          <a:lstStyle/>
          <a:p>
            <a:pPr marL="0" indent="0" algn="just">
              <a:lnSpc>
                <a:spcPct val="120000"/>
              </a:lnSpc>
              <a:spcBef>
                <a:spcPts val="0"/>
              </a:spcBef>
              <a:buNone/>
            </a:pPr>
            <a:r>
              <a:rPr lang="en-GB" sz="1600" dirty="0"/>
              <a:t>Five primary options that firms can enact to minimise environmental dependencies:</a:t>
            </a:r>
          </a:p>
          <a:p>
            <a:pPr algn="just">
              <a:lnSpc>
                <a:spcPct val="120000"/>
              </a:lnSpc>
              <a:spcBef>
                <a:spcPts val="0"/>
              </a:spcBef>
            </a:pPr>
            <a:r>
              <a:rPr lang="en-GB" sz="1600" dirty="0"/>
              <a:t>Mergers and Acquisitions (M&amp;As): Firms use M&amp;As to reduce competition by absorbing competitors, manage interdependence with buyers or suppliers, and diversify operations to lessen dependence on specific exchange partners. </a:t>
            </a:r>
          </a:p>
          <a:p>
            <a:pPr algn="just">
              <a:lnSpc>
                <a:spcPct val="120000"/>
              </a:lnSpc>
              <a:spcBef>
                <a:spcPts val="0"/>
              </a:spcBef>
            </a:pPr>
            <a:r>
              <a:rPr lang="en-GB" sz="1600" dirty="0"/>
              <a:t>Joint Ventures (JVs) and interorganisational relationships: These include strategic alliances and R&amp;D agreements that provide a partial absorption of interdependencies. They are used to acquire resources and reduce environmental complexity, particularly when organizations are mutually dependent.</a:t>
            </a:r>
          </a:p>
          <a:p>
            <a:pPr algn="just">
              <a:lnSpc>
                <a:spcPct val="120000"/>
              </a:lnSpc>
              <a:spcBef>
                <a:spcPts val="0"/>
              </a:spcBef>
            </a:pPr>
            <a:r>
              <a:rPr lang="en-GB" sz="1600" dirty="0"/>
              <a:t>Boards of Directors: This is an area of significant RDT influence. Boards provide four key benefits:</a:t>
            </a:r>
          </a:p>
          <a:p>
            <a:pPr lvl="1" algn="just">
              <a:lnSpc>
                <a:spcPct val="120000"/>
              </a:lnSpc>
              <a:spcBef>
                <a:spcPts val="0"/>
              </a:spcBef>
              <a:buFont typeface="Wingdings" panose="05000000000000000000" pitchFamily="2" charset="2"/>
              <a:buChar char="ü"/>
            </a:pPr>
            <a:r>
              <a:rPr lang="en-GB" sz="1400" dirty="0"/>
              <a:t>Advice and counsel (information). </a:t>
            </a:r>
          </a:p>
          <a:p>
            <a:pPr lvl="1" algn="just">
              <a:lnSpc>
                <a:spcPct val="120000"/>
              </a:lnSpc>
              <a:spcBef>
                <a:spcPts val="0"/>
              </a:spcBef>
              <a:buFont typeface="Wingdings" panose="05000000000000000000" pitchFamily="2" charset="2"/>
              <a:buChar char="ü"/>
            </a:pPr>
            <a:r>
              <a:rPr lang="en-GB" sz="1400" dirty="0"/>
              <a:t>Channels of information between the firm and environmental contingencies.</a:t>
            </a:r>
          </a:p>
          <a:p>
            <a:pPr lvl="1" algn="just">
              <a:lnSpc>
                <a:spcPct val="120000"/>
              </a:lnSpc>
              <a:spcBef>
                <a:spcPts val="0"/>
              </a:spcBef>
              <a:buFont typeface="Wingdings" panose="05000000000000000000" pitchFamily="2" charset="2"/>
              <a:buChar char="ü"/>
            </a:pPr>
            <a:r>
              <a:rPr lang="en-GB" sz="1400" dirty="0"/>
              <a:t>Preferential access to resources.</a:t>
            </a:r>
          </a:p>
          <a:p>
            <a:pPr lvl="1" algn="just">
              <a:lnSpc>
                <a:spcPct val="120000"/>
              </a:lnSpc>
              <a:spcBef>
                <a:spcPts val="0"/>
              </a:spcBef>
              <a:buFont typeface="Wingdings" panose="05000000000000000000" pitchFamily="2" charset="2"/>
              <a:buChar char="ü"/>
            </a:pPr>
            <a:r>
              <a:rPr lang="en-GB" sz="1400" dirty="0"/>
              <a:t>Legitimacy for the organization.</a:t>
            </a:r>
          </a:p>
          <a:p>
            <a:pPr algn="just">
              <a:lnSpc>
                <a:spcPct val="120000"/>
              </a:lnSpc>
              <a:spcBef>
                <a:spcPts val="0"/>
              </a:spcBef>
            </a:pPr>
            <a:r>
              <a:rPr lang="en-GB" sz="1600" dirty="0"/>
              <a:t>Political action: Firms engage in corporate political activity to create a more favourable environment. This includes shaping government regulations to reduce uncertainty and creating co-</a:t>
            </a:r>
            <a:r>
              <a:rPr lang="en-GB" sz="1600" dirty="0" err="1"/>
              <a:t>optive</a:t>
            </a:r>
            <a:r>
              <a:rPr lang="en-GB" sz="1600" dirty="0"/>
              <a:t> linkages with political decision-makers, which has been shown to yield financial benefits.</a:t>
            </a:r>
          </a:p>
          <a:p>
            <a:pPr algn="just">
              <a:lnSpc>
                <a:spcPct val="120000"/>
              </a:lnSpc>
              <a:spcBef>
                <a:spcPts val="0"/>
              </a:spcBef>
            </a:pPr>
            <a:r>
              <a:rPr lang="en-GB" sz="1600" dirty="0"/>
              <a:t>Executive succession: Succession is viewed as an internal strategic response to environmental contingencies. Replacing a CEO with someone capable of coping with specific critical problems can remedy a misalignment between the organization and its environment.</a:t>
            </a:r>
          </a:p>
        </p:txBody>
      </p:sp>
    </p:spTree>
    <p:extLst>
      <p:ext uri="{BB962C8B-B14F-4D97-AF65-F5344CB8AC3E}">
        <p14:creationId xmlns:p14="http://schemas.microsoft.com/office/powerpoint/2010/main" val="3091273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Resource-Based View, Stakeholder Capitalism, ESG, and Sustainable Competitive Advantage: The Firm's Embeddedness into Ecology, Society, and Governance&#10;&#10;AI-generated content may be incorrect.">
            <a:extLst>
              <a:ext uri="{FF2B5EF4-FFF2-40B4-BE49-F238E27FC236}">
                <a16:creationId xmlns:a16="http://schemas.microsoft.com/office/drawing/2014/main" id="{564B37FF-C46A-58C6-D1E8-CEB123444221}"/>
              </a:ext>
            </a:extLst>
          </p:cNvPr>
          <p:cNvPicPr>
            <a:picLocks noChangeAspect="1"/>
          </p:cNvPicPr>
          <p:nvPr/>
        </p:nvPicPr>
        <p:blipFill>
          <a:blip r:embed="rId2"/>
          <a:stretch>
            <a:fillRect/>
          </a:stretch>
        </p:blipFill>
        <p:spPr>
          <a:xfrm>
            <a:off x="1711037" y="991169"/>
            <a:ext cx="8868233" cy="4875662"/>
          </a:xfrm>
          <a:prstGeom prst="rect">
            <a:avLst/>
          </a:prstGeom>
        </p:spPr>
      </p:pic>
    </p:spTree>
    <p:extLst>
      <p:ext uri="{BB962C8B-B14F-4D97-AF65-F5344CB8AC3E}">
        <p14:creationId xmlns:p14="http://schemas.microsoft.com/office/powerpoint/2010/main" val="1624517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B2045-5226-4FC4-525A-77DE44A844EA}"/>
              </a:ext>
            </a:extLst>
          </p:cNvPr>
          <p:cNvSpPr>
            <a:spLocks noGrp="1"/>
          </p:cNvSpPr>
          <p:nvPr>
            <p:ph type="title"/>
          </p:nvPr>
        </p:nvSpPr>
        <p:spPr/>
        <p:txBody>
          <a:bodyPr/>
          <a:lstStyle/>
          <a:p>
            <a:r>
              <a:rPr lang="en-GB" dirty="0"/>
              <a:t>Theory integration</a:t>
            </a:r>
          </a:p>
        </p:txBody>
      </p:sp>
      <p:sp>
        <p:nvSpPr>
          <p:cNvPr id="3" name="Content Placeholder 2">
            <a:extLst>
              <a:ext uri="{FF2B5EF4-FFF2-40B4-BE49-F238E27FC236}">
                <a16:creationId xmlns:a16="http://schemas.microsoft.com/office/drawing/2014/main" id="{235AA8CF-0CA3-EC65-8931-BE1C3A690179}"/>
              </a:ext>
            </a:extLst>
          </p:cNvPr>
          <p:cNvSpPr>
            <a:spLocks noGrp="1"/>
          </p:cNvSpPr>
          <p:nvPr>
            <p:ph idx="1"/>
          </p:nvPr>
        </p:nvSpPr>
        <p:spPr/>
        <p:txBody>
          <a:bodyPr/>
          <a:lstStyle/>
          <a:p>
            <a:r>
              <a:rPr lang="en-GB" dirty="0"/>
              <a:t>Read: </a:t>
            </a:r>
            <a:r>
              <a:rPr lang="en-GB" dirty="0">
                <a:hlinkClick r:id="rId2"/>
              </a:rPr>
              <a:t>https://www.ecgi.global/publications/blog/corporate-governance-reframed-a-2026-outlook</a:t>
            </a:r>
            <a:endParaRPr lang="en-GB" dirty="0"/>
          </a:p>
          <a:p>
            <a:endParaRPr lang="en-GB" dirty="0"/>
          </a:p>
          <a:p>
            <a:r>
              <a:rPr lang="en-GB" dirty="0"/>
              <a:t>How does the return of State-led governance (golden shares, national security) invalidate the efficiency assumptions of both Agency and TCE?</a:t>
            </a:r>
          </a:p>
          <a:p>
            <a:endParaRPr lang="en-GB" dirty="0"/>
          </a:p>
        </p:txBody>
      </p:sp>
    </p:spTree>
    <p:extLst>
      <p:ext uri="{BB962C8B-B14F-4D97-AF65-F5344CB8AC3E}">
        <p14:creationId xmlns:p14="http://schemas.microsoft.com/office/powerpoint/2010/main" val="37431572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2F2B2-F428-5246-6A26-3A48AB0DE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4A3AEB-1E3B-31F9-0EA5-77080D0DA90B}"/>
              </a:ext>
            </a:extLst>
          </p:cNvPr>
          <p:cNvSpPr>
            <a:spLocks noGrp="1"/>
          </p:cNvSpPr>
          <p:nvPr>
            <p:ph type="ctrTitle"/>
          </p:nvPr>
        </p:nvSpPr>
        <p:spPr/>
        <p:txBody>
          <a:bodyPr/>
          <a:lstStyle/>
          <a:p>
            <a:r>
              <a:rPr lang="en-GB" dirty="0"/>
              <a:t>Management</a:t>
            </a:r>
          </a:p>
        </p:txBody>
      </p:sp>
      <p:sp>
        <p:nvSpPr>
          <p:cNvPr id="3" name="Subtitle 2">
            <a:extLst>
              <a:ext uri="{FF2B5EF4-FFF2-40B4-BE49-F238E27FC236}">
                <a16:creationId xmlns:a16="http://schemas.microsoft.com/office/drawing/2014/main" id="{4922367F-C5F7-ED5A-E58A-ECA6C1A4FA50}"/>
              </a:ext>
            </a:extLst>
          </p:cNvPr>
          <p:cNvSpPr>
            <a:spLocks noGrp="1"/>
          </p:cNvSpPr>
          <p:nvPr>
            <p:ph type="subTitle" idx="1"/>
          </p:nvPr>
        </p:nvSpPr>
        <p:spPr/>
        <p:txBody>
          <a:bodyPr/>
          <a:lstStyle/>
          <a:p>
            <a:r>
              <a:rPr lang="en-GB" dirty="0"/>
              <a:t>PhD in Business Economics </a:t>
            </a:r>
          </a:p>
          <a:p>
            <a:endParaRPr lang="en-GB" dirty="0"/>
          </a:p>
          <a:p>
            <a:r>
              <a:rPr lang="en-GB" dirty="0"/>
              <a:t>Luis D. Torres, PhD.</a:t>
            </a:r>
          </a:p>
        </p:txBody>
      </p:sp>
    </p:spTree>
    <p:extLst>
      <p:ext uri="{BB962C8B-B14F-4D97-AF65-F5344CB8AC3E}">
        <p14:creationId xmlns:p14="http://schemas.microsoft.com/office/powerpoint/2010/main" val="12463242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Notts">
      <a:dk1>
        <a:sysClr val="windowText" lastClr="000000"/>
      </a:dk1>
      <a:lt1>
        <a:sysClr val="window" lastClr="FFFFFF"/>
      </a:lt1>
      <a:dk2>
        <a:srgbClr val="007DA8"/>
      </a:dk2>
      <a:lt2>
        <a:srgbClr val="009BBD"/>
      </a:lt2>
      <a:accent1>
        <a:srgbClr val="005697"/>
      </a:accent1>
      <a:accent2>
        <a:srgbClr val="1B2A6B"/>
      </a:accent2>
      <a:accent3>
        <a:srgbClr val="191A4F"/>
      </a:accent3>
      <a:accent4>
        <a:srgbClr val="B32C76"/>
      </a:accent4>
      <a:accent5>
        <a:srgbClr val="D27826"/>
      </a:accent5>
      <a:accent6>
        <a:srgbClr val="38A159"/>
      </a:accent6>
      <a:hlink>
        <a:srgbClr val="0563C1"/>
      </a:hlink>
      <a:folHlink>
        <a:srgbClr val="954F72"/>
      </a:folHlink>
    </a:clrScheme>
    <a:fontScheme name="Notts">
      <a:majorFont>
        <a:latin typeface="Arial"/>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70000">
              <a:srgbClr val="00487E">
                <a:lumMod val="85000"/>
                <a:lumOff val="15000"/>
              </a:srgbClr>
            </a:gs>
            <a:gs pos="17000">
              <a:schemeClr val="accent1"/>
            </a:gs>
            <a:gs pos="100000">
              <a:schemeClr val="accent1">
                <a:lumMod val="75000"/>
              </a:schemeClr>
            </a:gs>
          </a:gsLst>
          <a:lin ang="0" scaled="1"/>
          <a:tileRect/>
        </a:gradFill>
        <a:ln>
          <a:noFill/>
        </a:ln>
      </a:spPr>
      <a:bodyPr rtlCol="0" anchor="ctr"/>
      <a:lstStyle>
        <a:defPPr algn="ctr">
          <a:defRPr sz="2400" b="1" dirty="0">
            <a:latin typeface="+mj-lt"/>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400" dirty="0" err="1" smtClean="0">
            <a:latin typeface="+mj-lt"/>
          </a:defRPr>
        </a:defPPr>
      </a:lstStyle>
    </a:txDef>
  </a:objectDefaults>
  <a:extraClrSchemeLst/>
  <a:extLst>
    <a:ext uri="{05A4C25C-085E-4340-85A3-A5531E510DB2}">
      <thm15:themeFamily xmlns:thm15="http://schemas.microsoft.com/office/thememl/2012/main" name="NOTT_6103 (PowerPoint Guidelines) POT_Widescreen_001" id="{81F3E3EA-E64F-4445-9547-4C0E98DD302B}" vid="{B96464EC-35CD-433F-A30D-F35B5417D54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1739</Words>
  <Application>Microsoft Office PowerPoint</Application>
  <PresentationFormat>Widescreen</PresentationFormat>
  <Paragraphs>207</Paragraphs>
  <Slides>21</Slides>
  <Notes>6</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21</vt:i4>
      </vt:variant>
    </vt:vector>
  </HeadingPairs>
  <TitlesOfParts>
    <vt:vector size="32" baseType="lpstr">
      <vt:lpstr>Aptos</vt:lpstr>
      <vt:lpstr>Aptos Display</vt:lpstr>
      <vt:lpstr>Arial</vt:lpstr>
      <vt:lpstr>Calibri</vt:lpstr>
      <vt:lpstr>ElsevierSans</vt:lpstr>
      <vt:lpstr>Georgia</vt:lpstr>
      <vt:lpstr>Google Sans</vt:lpstr>
      <vt:lpstr>Symbol</vt:lpstr>
      <vt:lpstr>Wingdings</vt:lpstr>
      <vt:lpstr>Office Theme</vt:lpstr>
      <vt:lpstr>1_Office Theme</vt:lpstr>
      <vt:lpstr>Management</vt:lpstr>
      <vt:lpstr>Agenda</vt:lpstr>
      <vt:lpstr>PowerPoint Presentation</vt:lpstr>
      <vt:lpstr>PowerPoint Presentation</vt:lpstr>
      <vt:lpstr>G20/OECD Principles of Corporate Governance 2023</vt:lpstr>
      <vt:lpstr>G20/OECD Principles of Corporate Governance 2023</vt:lpstr>
      <vt:lpstr>PowerPoint Presentation</vt:lpstr>
      <vt:lpstr>Corporate Governance – Different Models</vt:lpstr>
      <vt:lpstr>What about?</vt:lpstr>
      <vt:lpstr>(main) Theories of corporate governance </vt:lpstr>
      <vt:lpstr>Agency theory and the nexus of contracts</vt:lpstr>
      <vt:lpstr>Agency theory and the nexus of contracts</vt:lpstr>
      <vt:lpstr>PowerPoint Presentation</vt:lpstr>
      <vt:lpstr>Transaction Cost Economics Theory</vt:lpstr>
      <vt:lpstr>Transaction Cost Economics Theory</vt:lpstr>
      <vt:lpstr>Transaction Cost Economics Theory</vt:lpstr>
      <vt:lpstr>Resource Dependence Theory</vt:lpstr>
      <vt:lpstr>Resource Dependence Theory</vt:lpstr>
      <vt:lpstr>PowerPoint Presentation</vt:lpstr>
      <vt:lpstr>Theory integration</vt:lpstr>
      <vt:lpstr>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Dario Torres</dc:creator>
  <cp:lastModifiedBy>Luis Torres-Retamal (staff)</cp:lastModifiedBy>
  <cp:revision>1</cp:revision>
  <dcterms:created xsi:type="dcterms:W3CDTF">2025-03-31T12:25:35Z</dcterms:created>
  <dcterms:modified xsi:type="dcterms:W3CDTF">2026-03-15T23:35:02Z</dcterms:modified>
</cp:coreProperties>
</file>